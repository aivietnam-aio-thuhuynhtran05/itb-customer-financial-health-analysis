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nton" panose="020F0502020204030204" pitchFamily="2" charset="0"/>
      <p:regular r:id="rId25"/>
    </p:embeddedFont>
    <p:embeddedFont>
      <p:font typeface="Cy Grotesk V3 Key" panose="020B0604020202020204" charset="0"/>
      <p:regular r:id="rId26"/>
    </p:embeddedFont>
    <p:embeddedFont>
      <p:font typeface="Cy Grotesk V3 Key Bold" panose="020B0604020202020204" charset="0"/>
      <p:regular r:id="rId27"/>
    </p:embeddedFont>
    <p:embeddedFont>
      <p:font typeface="Cy Grotesk V3 Key Semi-Bold" panose="020B0604020202020204" charset="0"/>
      <p:regular r:id="rId28"/>
    </p:embeddedFont>
    <p:embeddedFont>
      <p:font typeface="Montserrat" panose="00000500000000000000" pitchFamily="2" charset="0"/>
      <p:regular r:id="rId29"/>
    </p:embeddedFont>
    <p:embeddedFont>
      <p:font typeface="Montserrat Bold" panose="020B0604020202020204" charset="0"/>
      <p:regular r:id="rId30"/>
    </p:embeddedFont>
    <p:embeddedFont>
      <p:font typeface="Montserrat Ultra-Bold" panose="020B0604020202020204" charset="0"/>
      <p:regular r:id="rId31"/>
    </p:embeddedFont>
    <p:embeddedFont>
      <p:font typeface="Paytone One"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3" autoAdjust="0"/>
    <p:restoredTop sz="94622" autoAdjust="0"/>
  </p:normalViewPr>
  <p:slideViewPr>
    <p:cSldViewPr>
      <p:cViewPr>
        <p:scale>
          <a:sx n="66" d="100"/>
          <a:sy n="66" d="100"/>
        </p:scale>
        <p:origin x="-138"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26D7CB-DC89-468D-B202-D2E7F622D765}" type="datetimeFigureOut">
              <a:rPr lang="en-US" smtClean="0"/>
              <a:t>01/10/2026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89EF1-E221-47A7-9215-2748A9979B62}" type="slidenum">
              <a:rPr lang="en-US" smtClean="0"/>
              <a:t>‹#›</a:t>
            </a:fld>
            <a:endParaRPr lang="en-US"/>
          </a:p>
        </p:txBody>
      </p:sp>
    </p:spTree>
    <p:extLst>
      <p:ext uri="{BB962C8B-B14F-4D97-AF65-F5344CB8AC3E}">
        <p14:creationId xmlns:p14="http://schemas.microsoft.com/office/powerpoint/2010/main" val="21224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B89EF1-E221-47A7-9215-2748A9979B62}" type="slidenum">
              <a:rPr lang="en-US" smtClean="0"/>
              <a:t>4</a:t>
            </a:fld>
            <a:endParaRPr lang="en-US"/>
          </a:p>
        </p:txBody>
      </p:sp>
    </p:spTree>
    <p:extLst>
      <p:ext uri="{BB962C8B-B14F-4D97-AF65-F5344CB8AC3E}">
        <p14:creationId xmlns:p14="http://schemas.microsoft.com/office/powerpoint/2010/main" val="3589470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01/10/2026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svg"/><Relationship Id="rId1" Type="http://schemas.openxmlformats.org/officeDocument/2006/relationships/slideLayout" Target="../slideLayouts/slideLayout7.xml"/><Relationship Id="rId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b="-18518"/>
            </a:stretch>
          </a:blipFill>
        </p:spPr>
        <p:txBody>
          <a:bodyPr/>
          <a:lstStyle/>
          <a:p>
            <a:endParaRPr lang="en-US"/>
          </a:p>
        </p:txBody>
      </p:sp>
      <p:sp>
        <p:nvSpPr>
          <p:cNvPr id="3" name="Freeform 3"/>
          <p:cNvSpPr/>
          <p:nvPr/>
        </p:nvSpPr>
        <p:spPr>
          <a:xfrm>
            <a:off x="10829505" y="2437144"/>
            <a:ext cx="9054277" cy="8375206"/>
          </a:xfrm>
          <a:custGeom>
            <a:avLst/>
            <a:gdLst/>
            <a:ahLst/>
            <a:cxnLst/>
            <a:rect l="l" t="t" r="r" b="b"/>
            <a:pathLst>
              <a:path w="9054277" h="8375206">
                <a:moveTo>
                  <a:pt x="0" y="0"/>
                </a:moveTo>
                <a:lnTo>
                  <a:pt x="9054277" y="0"/>
                </a:lnTo>
                <a:lnTo>
                  <a:pt x="9054277" y="8375207"/>
                </a:lnTo>
                <a:lnTo>
                  <a:pt x="0" y="8375207"/>
                </a:lnTo>
                <a:lnTo>
                  <a:pt x="0" y="0"/>
                </a:lnTo>
                <a:close/>
              </a:path>
            </a:pathLst>
          </a:custGeom>
          <a:blipFill>
            <a:blip>
              <a:alphaModFix amt="3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028700" y="1059200"/>
            <a:ext cx="16230600" cy="8168601"/>
            <a:chOff x="0" y="0"/>
            <a:chExt cx="21640800" cy="10891468"/>
          </a:xfrm>
        </p:grpSpPr>
        <p:sp>
          <p:nvSpPr>
            <p:cNvPr id="5" name="Freeform 5"/>
            <p:cNvSpPr/>
            <p:nvPr/>
          </p:nvSpPr>
          <p:spPr>
            <a:xfrm>
              <a:off x="0" y="0"/>
              <a:ext cx="10877853" cy="10891468"/>
            </a:xfrm>
            <a:custGeom>
              <a:avLst/>
              <a:gdLst/>
              <a:ahLst/>
              <a:cxnLst/>
              <a:rect l="l" t="t" r="r" b="b"/>
              <a:pathLst>
                <a:path w="10877853" h="10891468">
                  <a:moveTo>
                    <a:pt x="0" y="0"/>
                  </a:moveTo>
                  <a:lnTo>
                    <a:pt x="10877853" y="0"/>
                  </a:lnTo>
                  <a:lnTo>
                    <a:pt x="10877853" y="10891468"/>
                  </a:lnTo>
                  <a:lnTo>
                    <a:pt x="0" y="10891468"/>
                  </a:lnTo>
                  <a:lnTo>
                    <a:pt x="0" y="0"/>
                  </a:lnTo>
                  <a:close/>
                </a:path>
              </a:pathLst>
            </a:custGeom>
            <a:blipFill>
              <a:blip>
                <a:alphaModFix amt="50000"/>
                <a:extLst>
                  <a:ext uri="{96DAC541-7B7A-43D3-8B79-37D633B846F1}">
                    <asvg:svgBlip xmlns:asvg="http://schemas.microsoft.com/office/drawing/2016/SVG/main" r:embed="rId4"/>
                  </a:ext>
                </a:extLst>
              </a:blip>
              <a:stretch>
                <a:fillRect t="-35955" r="-35955"/>
              </a:stretch>
            </a:blipFill>
          </p:spPr>
          <p:txBody>
            <a:bodyPr/>
            <a:lstStyle/>
            <a:p>
              <a:endParaRPr lang="en-US"/>
            </a:p>
          </p:txBody>
        </p:sp>
        <p:sp>
          <p:nvSpPr>
            <p:cNvPr id="6" name="Freeform 6"/>
            <p:cNvSpPr/>
            <p:nvPr/>
          </p:nvSpPr>
          <p:spPr>
            <a:xfrm>
              <a:off x="10762947" y="0"/>
              <a:ext cx="10877853" cy="10891468"/>
            </a:xfrm>
            <a:custGeom>
              <a:avLst/>
              <a:gdLst/>
              <a:ahLst/>
              <a:cxnLst/>
              <a:rect l="l" t="t" r="r" b="b"/>
              <a:pathLst>
                <a:path w="10877853" h="10891468">
                  <a:moveTo>
                    <a:pt x="0" y="0"/>
                  </a:moveTo>
                  <a:lnTo>
                    <a:pt x="10877853" y="0"/>
                  </a:lnTo>
                  <a:lnTo>
                    <a:pt x="10877853" y="10891468"/>
                  </a:lnTo>
                  <a:lnTo>
                    <a:pt x="0" y="10891468"/>
                  </a:lnTo>
                  <a:lnTo>
                    <a:pt x="0" y="0"/>
                  </a:lnTo>
                  <a:close/>
                </a:path>
              </a:pathLst>
            </a:custGeom>
            <a:blipFill>
              <a:blip>
                <a:alphaModFix amt="50000"/>
                <a:extLst>
                  <a:ext uri="{96DAC541-7B7A-43D3-8B79-37D633B846F1}">
                    <asvg:svgBlip xmlns:asvg="http://schemas.microsoft.com/office/drawing/2016/SVG/main" r:embed="rId4"/>
                  </a:ext>
                </a:extLst>
              </a:blip>
              <a:stretch>
                <a:fillRect t="-35955" r="-35955"/>
              </a:stretch>
            </a:blipFill>
          </p:spPr>
          <p:txBody>
            <a:bodyPr/>
            <a:lstStyle/>
            <a:p>
              <a:endParaRPr lang="en-US"/>
            </a:p>
          </p:txBody>
        </p:sp>
      </p:grpSp>
      <p:sp>
        <p:nvSpPr>
          <p:cNvPr id="7" name="TextBox 7"/>
          <p:cNvSpPr txBox="1"/>
          <p:nvPr/>
        </p:nvSpPr>
        <p:spPr>
          <a:xfrm>
            <a:off x="10706587" y="2078797"/>
            <a:ext cx="6140790" cy="7570087"/>
          </a:xfrm>
          <a:prstGeom prst="rect">
            <a:avLst/>
          </a:prstGeom>
        </p:spPr>
        <p:txBody>
          <a:bodyPr lIns="0" tIns="0" rIns="0" bIns="0" rtlCol="0" anchor="t">
            <a:spAutoFit/>
          </a:bodyPr>
          <a:lstStyle/>
          <a:p>
            <a:pPr algn="ctr">
              <a:lnSpc>
                <a:spcPts val="27478"/>
              </a:lnSpc>
            </a:pPr>
            <a:r>
              <a:rPr lang="en-US" sz="38701" spc="-4953">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20</a:t>
            </a:r>
          </a:p>
          <a:p>
            <a:pPr algn="ctr">
              <a:lnSpc>
                <a:spcPts val="27478"/>
              </a:lnSpc>
            </a:pPr>
            <a:r>
              <a:rPr lang="en-US" sz="38701" spc="-4953">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26</a:t>
            </a:r>
          </a:p>
        </p:txBody>
      </p:sp>
      <p:sp>
        <p:nvSpPr>
          <p:cNvPr id="8" name="Freeform 8"/>
          <p:cNvSpPr/>
          <p:nvPr/>
        </p:nvSpPr>
        <p:spPr>
          <a:xfrm>
            <a:off x="14557129" y="2790856"/>
            <a:ext cx="1137359" cy="1137359"/>
          </a:xfrm>
          <a:custGeom>
            <a:avLst/>
            <a:gdLst/>
            <a:ahLst/>
            <a:cxnLst/>
            <a:rect l="l" t="t" r="r" b="b"/>
            <a:pathLst>
              <a:path w="1137359" h="1137359">
                <a:moveTo>
                  <a:pt x="0" y="0"/>
                </a:moveTo>
                <a:lnTo>
                  <a:pt x="1137359" y="0"/>
                </a:lnTo>
                <a:lnTo>
                  <a:pt x="1137359" y="1137359"/>
                </a:lnTo>
                <a:lnTo>
                  <a:pt x="0" y="113735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9" name="Group 9"/>
          <p:cNvGrpSpPr/>
          <p:nvPr/>
        </p:nvGrpSpPr>
        <p:grpSpPr>
          <a:xfrm>
            <a:off x="1704715" y="7792677"/>
            <a:ext cx="3559806" cy="733922"/>
            <a:chOff x="0" y="0"/>
            <a:chExt cx="937562" cy="193296"/>
          </a:xfrm>
        </p:grpSpPr>
        <p:sp>
          <p:nvSpPr>
            <p:cNvPr id="10" name="Freeform 10"/>
            <p:cNvSpPr/>
            <p:nvPr/>
          </p:nvSpPr>
          <p:spPr>
            <a:xfrm>
              <a:off x="0" y="0"/>
              <a:ext cx="937562" cy="193296"/>
            </a:xfrm>
            <a:custGeom>
              <a:avLst/>
              <a:gdLst/>
              <a:ahLst/>
              <a:cxnLst/>
              <a:rect l="l" t="t" r="r" b="b"/>
              <a:pathLst>
                <a:path w="937562" h="193296">
                  <a:moveTo>
                    <a:pt x="96648" y="0"/>
                  </a:moveTo>
                  <a:lnTo>
                    <a:pt x="840914" y="0"/>
                  </a:lnTo>
                  <a:cubicBezTo>
                    <a:pt x="866547" y="0"/>
                    <a:pt x="891129" y="10183"/>
                    <a:pt x="909254" y="28308"/>
                  </a:cubicBezTo>
                  <a:cubicBezTo>
                    <a:pt x="927379" y="46433"/>
                    <a:pt x="937562" y="71015"/>
                    <a:pt x="937562" y="96648"/>
                  </a:cubicBezTo>
                  <a:lnTo>
                    <a:pt x="937562" y="96648"/>
                  </a:lnTo>
                  <a:cubicBezTo>
                    <a:pt x="937562" y="150025"/>
                    <a:pt x="894291" y="193296"/>
                    <a:pt x="840914" y="193296"/>
                  </a:cubicBezTo>
                  <a:lnTo>
                    <a:pt x="96648" y="193296"/>
                  </a:lnTo>
                  <a:cubicBezTo>
                    <a:pt x="43271" y="193296"/>
                    <a:pt x="0" y="150025"/>
                    <a:pt x="0" y="96648"/>
                  </a:cubicBezTo>
                  <a:lnTo>
                    <a:pt x="0" y="96648"/>
                  </a:lnTo>
                  <a:cubicBezTo>
                    <a:pt x="0" y="43271"/>
                    <a:pt x="43271" y="0"/>
                    <a:pt x="96648" y="0"/>
                  </a:cubicBezTo>
                  <a:close/>
                </a:path>
              </a:pathLst>
            </a:custGeom>
            <a:ln w="9525" cap="rnd">
              <a:solidFill>
                <a:srgbClr val="FFEAB1"/>
              </a:solidFill>
              <a:prstDash val="solid"/>
              <a:round/>
            </a:ln>
          </p:spPr>
          <p:txBody>
            <a:bodyPr/>
            <a:lstStyle/>
            <a:p>
              <a:endParaRPr lang="en-US"/>
            </a:p>
          </p:txBody>
        </p:sp>
        <p:sp>
          <p:nvSpPr>
            <p:cNvPr id="11" name="TextBox 11"/>
            <p:cNvSpPr txBox="1"/>
            <p:nvPr/>
          </p:nvSpPr>
          <p:spPr>
            <a:xfrm>
              <a:off x="0" y="19050"/>
              <a:ext cx="937562" cy="174246"/>
            </a:xfrm>
            <a:prstGeom prst="rect">
              <a:avLst/>
            </a:prstGeom>
          </p:spPr>
          <p:txBody>
            <a:bodyPr lIns="50800" tIns="50800" rIns="50800" bIns="50800" rtlCol="0" anchor="ctr"/>
            <a:lstStyle/>
            <a:p>
              <a:pPr algn="ctr">
                <a:lnSpc>
                  <a:spcPts val="2000"/>
                </a:lnSpc>
              </a:pPr>
              <a:endParaRPr/>
            </a:p>
          </p:txBody>
        </p:sp>
      </p:grpSp>
      <p:sp>
        <p:nvSpPr>
          <p:cNvPr id="12" name="Freeform 12"/>
          <p:cNvSpPr/>
          <p:nvPr/>
        </p:nvSpPr>
        <p:spPr>
          <a:xfrm flipH="1">
            <a:off x="4635505" y="7913978"/>
            <a:ext cx="491320" cy="491320"/>
          </a:xfrm>
          <a:custGeom>
            <a:avLst/>
            <a:gdLst/>
            <a:ahLst/>
            <a:cxnLst/>
            <a:rect l="l" t="t" r="r" b="b"/>
            <a:pathLst>
              <a:path w="491320" h="491320">
                <a:moveTo>
                  <a:pt x="491321" y="0"/>
                </a:moveTo>
                <a:lnTo>
                  <a:pt x="0" y="0"/>
                </a:lnTo>
                <a:lnTo>
                  <a:pt x="0" y="491320"/>
                </a:lnTo>
                <a:lnTo>
                  <a:pt x="491321" y="491320"/>
                </a:lnTo>
                <a:lnTo>
                  <a:pt x="491321"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TextBox 13"/>
          <p:cNvSpPr txBox="1"/>
          <p:nvPr/>
        </p:nvSpPr>
        <p:spPr>
          <a:xfrm>
            <a:off x="1704715" y="2764823"/>
            <a:ext cx="9270657" cy="2870201"/>
          </a:xfrm>
          <a:prstGeom prst="rect">
            <a:avLst/>
          </a:prstGeom>
        </p:spPr>
        <p:txBody>
          <a:bodyPr lIns="0" tIns="0" rIns="0" bIns="0" rtlCol="0" anchor="t">
            <a:spAutoFit/>
          </a:bodyPr>
          <a:lstStyle/>
          <a:p>
            <a:pPr algn="l">
              <a:lnSpc>
                <a:spcPts val="11000"/>
              </a:lnSpc>
            </a:pPr>
            <a:r>
              <a:rPr lang="en-US" sz="11000" spc="-660">
                <a:solidFill>
                  <a:srgbClr val="FFEAB1"/>
                </a:solidFill>
                <a:latin typeface="Cy Grotesk V3 Key"/>
                <a:ea typeface="Cy Grotesk V3 Key"/>
                <a:cs typeface="Cy Grotesk V3 Key"/>
                <a:sym typeface="Cy Grotesk V3 Key"/>
              </a:rPr>
              <a:t>ANALYTICS REPORT</a:t>
            </a:r>
          </a:p>
        </p:txBody>
      </p:sp>
      <p:sp>
        <p:nvSpPr>
          <p:cNvPr id="14" name="TextBox 14"/>
          <p:cNvSpPr txBox="1"/>
          <p:nvPr/>
        </p:nvSpPr>
        <p:spPr>
          <a:xfrm>
            <a:off x="1704715" y="5711935"/>
            <a:ext cx="8347744" cy="1768475"/>
          </a:xfrm>
          <a:prstGeom prst="rect">
            <a:avLst/>
          </a:prstGeom>
        </p:spPr>
        <p:txBody>
          <a:bodyPr lIns="0" tIns="0" rIns="0" bIns="0" rtlCol="0" anchor="t">
            <a:spAutoFit/>
          </a:bodyPr>
          <a:lstStyle/>
          <a:p>
            <a:pPr algn="just">
              <a:lnSpc>
                <a:spcPts val="2800"/>
              </a:lnSpc>
            </a:pPr>
            <a:r>
              <a:rPr lang="en-US" sz="2000">
                <a:solidFill>
                  <a:srgbClr val="FFFFFF"/>
                </a:solidFill>
                <a:latin typeface="Cy Grotesk V3 Key"/>
                <a:ea typeface="Cy Grotesk V3 Key"/>
                <a:cs typeface="Cy Grotesk V3 Key"/>
                <a:sym typeface="Cy Grotesk V3 Key"/>
              </a:rPr>
              <a:t>ITB's customers are loyal and active, but their financial health rises and falls with their own spending pace. Using a year of card data, </a:t>
            </a:r>
            <a:r>
              <a:rPr lang="en-US" sz="2000" b="1">
                <a:solidFill>
                  <a:srgbClr val="FFFFFF"/>
                </a:solidFill>
                <a:latin typeface="Cy Grotesk V3 Key Bold"/>
                <a:ea typeface="Cy Grotesk V3 Key Bold"/>
                <a:cs typeface="Cy Grotesk V3 Key Bold"/>
                <a:sym typeface="Cy Grotesk V3 Key Bold"/>
              </a:rPr>
              <a:t>we map who is thriving, who is stretched and who is drifting away, and propose non-punitive ways to help each group spend within their means.</a:t>
            </a:r>
          </a:p>
        </p:txBody>
      </p:sp>
      <p:sp>
        <p:nvSpPr>
          <p:cNvPr id="15" name="TextBox 15"/>
          <p:cNvSpPr txBox="1"/>
          <p:nvPr/>
        </p:nvSpPr>
        <p:spPr>
          <a:xfrm>
            <a:off x="1844407" y="8029463"/>
            <a:ext cx="2740267" cy="279400"/>
          </a:xfrm>
          <a:prstGeom prst="rect">
            <a:avLst/>
          </a:prstGeom>
        </p:spPr>
        <p:txBody>
          <a:bodyPr lIns="0" tIns="0" rIns="0" bIns="0" rtlCol="0" anchor="t">
            <a:spAutoFit/>
          </a:bodyPr>
          <a:lstStyle/>
          <a:p>
            <a:pPr algn="l">
              <a:lnSpc>
                <a:spcPts val="2000"/>
              </a:lnSpc>
              <a:spcBef>
                <a:spcPct val="0"/>
              </a:spcBef>
            </a:pPr>
            <a:r>
              <a:rPr lang="en-US" sz="2000">
                <a:solidFill>
                  <a:srgbClr val="FFEAB1"/>
                </a:solidFill>
                <a:latin typeface="Cy Grotesk V3 Key"/>
                <a:ea typeface="Cy Grotesk V3 Key"/>
                <a:cs typeface="Cy Grotesk V3 Key"/>
                <a:sym typeface="Cy Grotesk V3 Key"/>
              </a:rPr>
              <a:t>Business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46780" y="1046780"/>
            <a:ext cx="10287000" cy="8193440"/>
            <a:chOff x="0" y="0"/>
            <a:chExt cx="2709333" cy="2157943"/>
          </a:xfrm>
        </p:grpSpPr>
        <p:sp>
          <p:nvSpPr>
            <p:cNvPr id="3" name="Freeform 3"/>
            <p:cNvSpPr/>
            <p:nvPr/>
          </p:nvSpPr>
          <p:spPr>
            <a:xfrm>
              <a:off x="0" y="0"/>
              <a:ext cx="2709333" cy="2157943"/>
            </a:xfrm>
            <a:custGeom>
              <a:avLst/>
              <a:gdLst/>
              <a:ahLst/>
              <a:cxnLst/>
              <a:rect l="l" t="t" r="r" b="b"/>
              <a:pathLst>
                <a:path w="2709333" h="2157943">
                  <a:moveTo>
                    <a:pt x="0" y="0"/>
                  </a:moveTo>
                  <a:lnTo>
                    <a:pt x="2709333" y="0"/>
                  </a:lnTo>
                  <a:lnTo>
                    <a:pt x="2709333" y="2157943"/>
                  </a:lnTo>
                  <a:lnTo>
                    <a:pt x="0" y="2157943"/>
                  </a:ln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4" name="TextBox 4"/>
            <p:cNvSpPr txBox="1"/>
            <p:nvPr/>
          </p:nvSpPr>
          <p:spPr>
            <a:xfrm>
              <a:off x="0" y="-38100"/>
              <a:ext cx="2709333" cy="219604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10800000">
            <a:off x="-5948673" y="5407645"/>
            <a:ext cx="11761066" cy="8438565"/>
          </a:xfrm>
          <a:custGeom>
            <a:avLst/>
            <a:gdLst/>
            <a:ahLst/>
            <a:cxnLst/>
            <a:rect l="l" t="t" r="r" b="b"/>
            <a:pathLst>
              <a:path w="11761066" h="8438565">
                <a:moveTo>
                  <a:pt x="0" y="0"/>
                </a:moveTo>
                <a:lnTo>
                  <a:pt x="11761066" y="0"/>
                </a:lnTo>
                <a:lnTo>
                  <a:pt x="11761066" y="8438564"/>
                </a:lnTo>
                <a:lnTo>
                  <a:pt x="0" y="8438564"/>
                </a:lnTo>
                <a:lnTo>
                  <a:pt x="0" y="0"/>
                </a:lnTo>
                <a:close/>
              </a:path>
            </a:pathLst>
          </a:custGeom>
          <a:blipFill>
            <a:blip>
              <a:alphaModFix amt="19999"/>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1149056" y="-2950141"/>
            <a:ext cx="9485500" cy="12612546"/>
          </a:xfrm>
          <a:prstGeom prst="rect">
            <a:avLst/>
          </a:prstGeom>
        </p:spPr>
        <p:txBody>
          <a:bodyPr lIns="0" tIns="0" rIns="0" bIns="0" rtlCol="0" anchor="t">
            <a:spAutoFit/>
          </a:bodyPr>
          <a:lstStyle/>
          <a:p>
            <a:pPr algn="ctr">
              <a:lnSpc>
                <a:spcPts val="45737"/>
              </a:lnSpc>
            </a:pPr>
            <a:r>
              <a:rPr lang="en-US" sz="64419" spc="-8245">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20</a:t>
            </a:r>
          </a:p>
          <a:p>
            <a:pPr algn="ctr">
              <a:lnSpc>
                <a:spcPts val="45737"/>
              </a:lnSpc>
            </a:pPr>
            <a:r>
              <a:rPr lang="en-US" sz="64419" spc="-8245">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26</a:t>
            </a:r>
          </a:p>
        </p:txBody>
      </p:sp>
      <p:sp>
        <p:nvSpPr>
          <p:cNvPr id="7" name="Freeform 7"/>
          <p:cNvSpPr/>
          <p:nvPr/>
        </p:nvSpPr>
        <p:spPr>
          <a:xfrm>
            <a:off x="7524610" y="4776171"/>
            <a:ext cx="1337660" cy="1337660"/>
          </a:xfrm>
          <a:custGeom>
            <a:avLst/>
            <a:gdLst/>
            <a:ahLst/>
            <a:cxnLst/>
            <a:rect l="l" t="t" r="r" b="b"/>
            <a:pathLst>
              <a:path w="1337660" h="1337660">
                <a:moveTo>
                  <a:pt x="0" y="0"/>
                </a:moveTo>
                <a:lnTo>
                  <a:pt x="1337660" y="0"/>
                </a:lnTo>
                <a:lnTo>
                  <a:pt x="1337660" y="1337660"/>
                </a:lnTo>
                <a:lnTo>
                  <a:pt x="0" y="133766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rot="5400000">
            <a:off x="7582870" y="610570"/>
            <a:ext cx="10287000" cy="9065860"/>
            <a:chOff x="0" y="0"/>
            <a:chExt cx="2709333" cy="2387716"/>
          </a:xfrm>
        </p:grpSpPr>
        <p:sp>
          <p:nvSpPr>
            <p:cNvPr id="9" name="Freeform 9"/>
            <p:cNvSpPr/>
            <p:nvPr/>
          </p:nvSpPr>
          <p:spPr>
            <a:xfrm>
              <a:off x="0" y="0"/>
              <a:ext cx="2709333" cy="2387716"/>
            </a:xfrm>
            <a:custGeom>
              <a:avLst/>
              <a:gdLst/>
              <a:ahLst/>
              <a:cxnLst/>
              <a:rect l="l" t="t" r="r" b="b"/>
              <a:pathLst>
                <a:path w="2709333" h="2387716">
                  <a:moveTo>
                    <a:pt x="0" y="0"/>
                  </a:moveTo>
                  <a:lnTo>
                    <a:pt x="2709333" y="0"/>
                  </a:lnTo>
                  <a:lnTo>
                    <a:pt x="2709333" y="2387716"/>
                  </a:lnTo>
                  <a:lnTo>
                    <a:pt x="0" y="2387716"/>
                  </a:lnTo>
                  <a:close/>
                </a:path>
              </a:pathLst>
            </a:custGeom>
            <a:solidFill>
              <a:srgbClr val="FFFFFF"/>
            </a:solidFill>
          </p:spPr>
          <p:txBody>
            <a:bodyPr/>
            <a:lstStyle/>
            <a:p>
              <a:endParaRPr lang="en-US"/>
            </a:p>
          </p:txBody>
        </p:sp>
        <p:sp>
          <p:nvSpPr>
            <p:cNvPr id="10" name="TextBox 10"/>
            <p:cNvSpPr txBox="1"/>
            <p:nvPr/>
          </p:nvSpPr>
          <p:spPr>
            <a:xfrm>
              <a:off x="0" y="-38100"/>
              <a:ext cx="2709333" cy="2425816"/>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466201" y="4504199"/>
            <a:ext cx="566173" cy="5661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13" name="TextBox 13"/>
            <p:cNvSpPr txBox="1"/>
            <p:nvPr/>
          </p:nvSpPr>
          <p:spPr>
            <a:xfrm>
              <a:off x="76200" y="95250"/>
              <a:ext cx="660400" cy="641350"/>
            </a:xfrm>
            <a:prstGeom prst="rect">
              <a:avLst/>
            </a:prstGeom>
          </p:spPr>
          <p:txBody>
            <a:bodyPr lIns="50800" tIns="50800" rIns="50800" bIns="50800" rtlCol="0" anchor="ctr"/>
            <a:lstStyle/>
            <a:p>
              <a:pPr algn="ctr">
                <a:lnSpc>
                  <a:spcPts val="2000"/>
                </a:lnSpc>
              </a:pPr>
              <a:endParaRPr/>
            </a:p>
          </p:txBody>
        </p:sp>
      </p:grpSp>
      <p:grpSp>
        <p:nvGrpSpPr>
          <p:cNvPr id="14" name="Group 14"/>
          <p:cNvGrpSpPr/>
          <p:nvPr/>
        </p:nvGrpSpPr>
        <p:grpSpPr>
          <a:xfrm>
            <a:off x="9466201" y="5391329"/>
            <a:ext cx="566173" cy="56617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16" name="TextBox 16"/>
            <p:cNvSpPr txBox="1"/>
            <p:nvPr/>
          </p:nvSpPr>
          <p:spPr>
            <a:xfrm>
              <a:off x="76200" y="95250"/>
              <a:ext cx="660400" cy="641350"/>
            </a:xfrm>
            <a:prstGeom prst="rect">
              <a:avLst/>
            </a:prstGeom>
          </p:spPr>
          <p:txBody>
            <a:bodyPr lIns="50800" tIns="50800" rIns="50800" bIns="50800" rtlCol="0" anchor="ctr"/>
            <a:lstStyle/>
            <a:p>
              <a:pPr algn="ctr">
                <a:lnSpc>
                  <a:spcPts val="2000"/>
                </a:lnSpc>
              </a:pPr>
              <a:endParaRPr/>
            </a:p>
          </p:txBody>
        </p:sp>
      </p:grpSp>
      <p:sp>
        <p:nvSpPr>
          <p:cNvPr id="17" name="AutoShape 17"/>
          <p:cNvSpPr/>
          <p:nvPr/>
        </p:nvSpPr>
        <p:spPr>
          <a:xfrm>
            <a:off x="17278350" y="0"/>
            <a:ext cx="0" cy="10287000"/>
          </a:xfrm>
          <a:prstGeom prst="line">
            <a:avLst/>
          </a:prstGeom>
          <a:ln w="38100" cap="flat">
            <a:gradFill>
              <a:gsLst>
                <a:gs pos="0">
                  <a:srgbClr val="FFD862">
                    <a:alpha val="100000"/>
                  </a:srgbClr>
                </a:gs>
                <a:gs pos="50000">
                  <a:srgbClr val="E15F4B">
                    <a:alpha val="100000"/>
                  </a:srgbClr>
                </a:gs>
                <a:gs pos="100000">
                  <a:srgbClr val="733045">
                    <a:alpha val="100000"/>
                  </a:srgbClr>
                </a:gs>
              </a:gsLst>
              <a:lin ang="2700000"/>
            </a:gradFill>
            <a:prstDash val="solid"/>
            <a:headEnd type="none" w="sm" len="sm"/>
            <a:tailEnd type="none" w="sm" len="sm"/>
          </a:ln>
        </p:spPr>
        <p:txBody>
          <a:bodyPr/>
          <a:lstStyle/>
          <a:p>
            <a:endParaRPr lang="en-US"/>
          </a:p>
        </p:txBody>
      </p:sp>
      <p:sp>
        <p:nvSpPr>
          <p:cNvPr id="18" name="TextBox 18"/>
          <p:cNvSpPr txBox="1"/>
          <p:nvPr/>
        </p:nvSpPr>
        <p:spPr>
          <a:xfrm>
            <a:off x="9144000" y="1123950"/>
            <a:ext cx="6821887" cy="2870201"/>
          </a:xfrm>
          <a:prstGeom prst="rect">
            <a:avLst/>
          </a:prstGeom>
        </p:spPr>
        <p:txBody>
          <a:bodyPr lIns="0" tIns="0" rIns="0" bIns="0" rtlCol="0" anchor="t">
            <a:spAutoFit/>
          </a:bodyPr>
          <a:lstStyle/>
          <a:p>
            <a:pPr algn="l">
              <a:lnSpc>
                <a:spcPts val="11000"/>
              </a:lnSpc>
            </a:pPr>
            <a:r>
              <a:rPr lang="en-US" sz="11000" spc="-660">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TABLE OF CONTENT</a:t>
            </a:r>
          </a:p>
        </p:txBody>
      </p:sp>
      <p:sp>
        <p:nvSpPr>
          <p:cNvPr id="19" name="TextBox 19"/>
          <p:cNvSpPr txBox="1"/>
          <p:nvPr/>
        </p:nvSpPr>
        <p:spPr>
          <a:xfrm>
            <a:off x="10176898" y="4568211"/>
            <a:ext cx="5417313" cy="428625"/>
          </a:xfrm>
          <a:prstGeom prst="rect">
            <a:avLst/>
          </a:prstGeom>
        </p:spPr>
        <p:txBody>
          <a:bodyPr lIns="0" tIns="0" rIns="0" bIns="0" rtlCol="0" anchor="t">
            <a:spAutoFit/>
          </a:bodyPr>
          <a:lstStyle/>
          <a:p>
            <a:pPr algn="l">
              <a:lnSpc>
                <a:spcPts val="3359"/>
              </a:lnSpc>
            </a:pPr>
            <a:r>
              <a:rPr lang="en-US" sz="2799" b="1">
                <a:solidFill>
                  <a:srgbClr val="202020"/>
                </a:solidFill>
                <a:latin typeface="Cy Grotesk V3 Key Semi-Bold"/>
                <a:ea typeface="Cy Grotesk V3 Key Semi-Bold"/>
                <a:cs typeface="Cy Grotesk V3 Key Semi-Bold"/>
                <a:sym typeface="Cy Grotesk V3 Key Semi-Bold"/>
              </a:rPr>
              <a:t>Project Overview</a:t>
            </a:r>
          </a:p>
        </p:txBody>
      </p:sp>
      <p:sp>
        <p:nvSpPr>
          <p:cNvPr id="20" name="TextBox 20"/>
          <p:cNvSpPr txBox="1"/>
          <p:nvPr/>
        </p:nvSpPr>
        <p:spPr>
          <a:xfrm>
            <a:off x="10176898" y="5455341"/>
            <a:ext cx="5417313" cy="428625"/>
          </a:xfrm>
          <a:prstGeom prst="rect">
            <a:avLst/>
          </a:prstGeom>
        </p:spPr>
        <p:txBody>
          <a:bodyPr lIns="0" tIns="0" rIns="0" bIns="0" rtlCol="0" anchor="t">
            <a:spAutoFit/>
          </a:bodyPr>
          <a:lstStyle/>
          <a:p>
            <a:pPr algn="l">
              <a:lnSpc>
                <a:spcPts val="3359"/>
              </a:lnSpc>
            </a:pPr>
            <a:r>
              <a:rPr lang="en-US" sz="2799" b="1">
                <a:solidFill>
                  <a:srgbClr val="202020"/>
                </a:solidFill>
                <a:latin typeface="Cy Grotesk V3 Key Semi-Bold"/>
                <a:ea typeface="Cy Grotesk V3 Key Semi-Bold"/>
                <a:cs typeface="Cy Grotesk V3 Key Semi-Bold"/>
                <a:sym typeface="Cy Grotesk V3 Key Semi-Bold"/>
              </a:rPr>
              <a:t>Exploratory Analysis</a:t>
            </a:r>
          </a:p>
        </p:txBody>
      </p:sp>
      <p:sp>
        <p:nvSpPr>
          <p:cNvPr id="21" name="TextBox 21"/>
          <p:cNvSpPr txBox="1"/>
          <p:nvPr/>
        </p:nvSpPr>
        <p:spPr>
          <a:xfrm>
            <a:off x="10176898" y="6342471"/>
            <a:ext cx="5417313" cy="428625"/>
          </a:xfrm>
          <a:prstGeom prst="rect">
            <a:avLst/>
          </a:prstGeom>
        </p:spPr>
        <p:txBody>
          <a:bodyPr lIns="0" tIns="0" rIns="0" bIns="0" rtlCol="0" anchor="t">
            <a:spAutoFit/>
          </a:bodyPr>
          <a:lstStyle/>
          <a:p>
            <a:pPr algn="l">
              <a:lnSpc>
                <a:spcPts val="3359"/>
              </a:lnSpc>
            </a:pPr>
            <a:r>
              <a:rPr lang="en-US" sz="2799" b="1">
                <a:solidFill>
                  <a:srgbClr val="202020"/>
                </a:solidFill>
                <a:latin typeface="Cy Grotesk V3 Key Semi-Bold"/>
                <a:ea typeface="Cy Grotesk V3 Key Semi-Bold"/>
                <a:cs typeface="Cy Grotesk V3 Key Semi-Bold"/>
                <a:sym typeface="Cy Grotesk V3 Key Semi-Bold"/>
              </a:rPr>
              <a:t>Detailed Analysis</a:t>
            </a:r>
          </a:p>
        </p:txBody>
      </p:sp>
      <p:sp>
        <p:nvSpPr>
          <p:cNvPr id="22" name="TextBox 22"/>
          <p:cNvSpPr txBox="1"/>
          <p:nvPr/>
        </p:nvSpPr>
        <p:spPr>
          <a:xfrm>
            <a:off x="10126067" y="7229600"/>
            <a:ext cx="5417313" cy="428625"/>
          </a:xfrm>
          <a:prstGeom prst="rect">
            <a:avLst/>
          </a:prstGeom>
        </p:spPr>
        <p:txBody>
          <a:bodyPr lIns="0" tIns="0" rIns="0" bIns="0" rtlCol="0" anchor="t">
            <a:spAutoFit/>
          </a:bodyPr>
          <a:lstStyle/>
          <a:p>
            <a:pPr algn="l">
              <a:lnSpc>
                <a:spcPts val="3359"/>
              </a:lnSpc>
            </a:pPr>
            <a:r>
              <a:rPr lang="en-US" sz="2799" b="1">
                <a:solidFill>
                  <a:srgbClr val="202020"/>
                </a:solidFill>
                <a:latin typeface="Cy Grotesk V3 Key Semi-Bold"/>
                <a:ea typeface="Cy Grotesk V3 Key Semi-Bold"/>
                <a:cs typeface="Cy Grotesk V3 Key Semi-Bold"/>
                <a:sym typeface="Cy Grotesk V3 Key Semi-Bold"/>
              </a:rPr>
              <a:t>Modelling</a:t>
            </a:r>
          </a:p>
        </p:txBody>
      </p:sp>
      <p:sp>
        <p:nvSpPr>
          <p:cNvPr id="23" name="TextBox 23"/>
          <p:cNvSpPr txBox="1"/>
          <p:nvPr/>
        </p:nvSpPr>
        <p:spPr>
          <a:xfrm>
            <a:off x="10176898" y="8116730"/>
            <a:ext cx="5417313" cy="428625"/>
          </a:xfrm>
          <a:prstGeom prst="rect">
            <a:avLst/>
          </a:prstGeom>
        </p:spPr>
        <p:txBody>
          <a:bodyPr lIns="0" tIns="0" rIns="0" bIns="0" rtlCol="0" anchor="t">
            <a:spAutoFit/>
          </a:bodyPr>
          <a:lstStyle/>
          <a:p>
            <a:pPr algn="l">
              <a:lnSpc>
                <a:spcPts val="3359"/>
              </a:lnSpc>
            </a:pPr>
            <a:r>
              <a:rPr lang="en-US" sz="2799" b="1">
                <a:solidFill>
                  <a:srgbClr val="202020"/>
                </a:solidFill>
                <a:latin typeface="Cy Grotesk V3 Key Semi-Bold"/>
                <a:ea typeface="Cy Grotesk V3 Key Semi-Bold"/>
                <a:cs typeface="Cy Grotesk V3 Key Semi-Bold"/>
                <a:sym typeface="Cy Grotesk V3 Key Semi-Bold"/>
              </a:rPr>
              <a:t>Recommendation</a:t>
            </a:r>
          </a:p>
        </p:txBody>
      </p:sp>
      <p:grpSp>
        <p:nvGrpSpPr>
          <p:cNvPr id="24" name="Group 24"/>
          <p:cNvGrpSpPr/>
          <p:nvPr/>
        </p:nvGrpSpPr>
        <p:grpSpPr>
          <a:xfrm>
            <a:off x="9466201" y="6278459"/>
            <a:ext cx="566173" cy="56617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26" name="TextBox 26"/>
            <p:cNvSpPr txBox="1"/>
            <p:nvPr/>
          </p:nvSpPr>
          <p:spPr>
            <a:xfrm>
              <a:off x="76200" y="95250"/>
              <a:ext cx="660400" cy="641350"/>
            </a:xfrm>
            <a:prstGeom prst="rect">
              <a:avLst/>
            </a:prstGeom>
          </p:spPr>
          <p:txBody>
            <a:bodyPr lIns="50800" tIns="50800" rIns="50800" bIns="50800" rtlCol="0" anchor="ctr"/>
            <a:lstStyle/>
            <a:p>
              <a:pPr algn="ctr">
                <a:lnSpc>
                  <a:spcPts val="2000"/>
                </a:lnSpc>
              </a:pPr>
              <a:endParaRPr/>
            </a:p>
          </p:txBody>
        </p:sp>
      </p:grpSp>
      <p:grpSp>
        <p:nvGrpSpPr>
          <p:cNvPr id="27" name="Group 27"/>
          <p:cNvGrpSpPr/>
          <p:nvPr/>
        </p:nvGrpSpPr>
        <p:grpSpPr>
          <a:xfrm>
            <a:off x="9466201" y="7165589"/>
            <a:ext cx="566173" cy="56617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29" name="TextBox 29"/>
            <p:cNvSpPr txBox="1"/>
            <p:nvPr/>
          </p:nvSpPr>
          <p:spPr>
            <a:xfrm>
              <a:off x="76200" y="95250"/>
              <a:ext cx="660400" cy="641350"/>
            </a:xfrm>
            <a:prstGeom prst="rect">
              <a:avLst/>
            </a:prstGeom>
          </p:spPr>
          <p:txBody>
            <a:bodyPr lIns="50800" tIns="50800" rIns="50800" bIns="50800" rtlCol="0" anchor="ctr"/>
            <a:lstStyle/>
            <a:p>
              <a:pPr algn="ctr">
                <a:lnSpc>
                  <a:spcPts val="2000"/>
                </a:lnSpc>
              </a:pPr>
              <a:endParaRPr/>
            </a:p>
          </p:txBody>
        </p:sp>
      </p:grpSp>
      <p:grpSp>
        <p:nvGrpSpPr>
          <p:cNvPr id="30" name="Group 30"/>
          <p:cNvGrpSpPr/>
          <p:nvPr/>
        </p:nvGrpSpPr>
        <p:grpSpPr>
          <a:xfrm>
            <a:off x="9466201" y="8052718"/>
            <a:ext cx="566173" cy="56617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32" name="TextBox 32"/>
            <p:cNvSpPr txBox="1"/>
            <p:nvPr/>
          </p:nvSpPr>
          <p:spPr>
            <a:xfrm>
              <a:off x="76200" y="95250"/>
              <a:ext cx="660400" cy="641350"/>
            </a:xfrm>
            <a:prstGeom prst="rect">
              <a:avLst/>
            </a:prstGeom>
          </p:spPr>
          <p:txBody>
            <a:bodyPr lIns="50800" tIns="50800" rIns="50800" bIns="50800" rtlCol="0" anchor="ctr"/>
            <a:lstStyle/>
            <a:p>
              <a:pPr algn="ctr">
                <a:lnSpc>
                  <a:spcPts val="200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804073"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TextBox 6"/>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Project Overview</a:t>
            </a:r>
          </a:p>
        </p:txBody>
      </p:sp>
      <p:sp>
        <p:nvSpPr>
          <p:cNvPr id="7" name="TextBox 7"/>
          <p:cNvSpPr txBox="1"/>
          <p:nvPr/>
        </p:nvSpPr>
        <p:spPr>
          <a:xfrm>
            <a:off x="4533580" y="9847498"/>
            <a:ext cx="2656469"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ntserrat"/>
                <a:ea typeface="Montserrat"/>
                <a:cs typeface="Montserrat"/>
                <a:sym typeface="Montserrat"/>
              </a:rPr>
              <a:t>Exploratory </a:t>
            </a:r>
            <a:r>
              <a:rPr lang="en-US" sz="2000" u="none" strike="noStrike">
                <a:solidFill>
                  <a:srgbClr val="000000"/>
                </a:solidFill>
                <a:latin typeface="Montserrat"/>
                <a:ea typeface="Montserrat"/>
                <a:cs typeface="Montserrat"/>
                <a:sym typeface="Montserrat"/>
              </a:rPr>
              <a:t> Analysis</a:t>
            </a:r>
          </a:p>
        </p:txBody>
      </p:sp>
      <p:sp>
        <p:nvSpPr>
          <p:cNvPr id="8" name="TextBox 8"/>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ntserrat"/>
                <a:ea typeface="Montserrat"/>
                <a:cs typeface="Montserrat"/>
                <a:sym typeface="Montserrat"/>
              </a:rPr>
              <a:t>Detailed Analysis</a:t>
            </a:r>
          </a:p>
        </p:txBody>
      </p:sp>
      <p:sp>
        <p:nvSpPr>
          <p:cNvPr id="9" name="TextBox 9"/>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10" name="TextBox 10"/>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grpSp>
        <p:nvGrpSpPr>
          <p:cNvPr id="11" name="Group 11"/>
          <p:cNvGrpSpPr/>
          <p:nvPr/>
        </p:nvGrpSpPr>
        <p:grpSpPr>
          <a:xfrm>
            <a:off x="634849" y="652371"/>
            <a:ext cx="2680021" cy="1064805"/>
            <a:chOff x="0" y="0"/>
            <a:chExt cx="736649" cy="292679"/>
          </a:xfrm>
        </p:grpSpPr>
        <p:sp>
          <p:nvSpPr>
            <p:cNvPr id="12" name="Freeform 12"/>
            <p:cNvSpPr/>
            <p:nvPr/>
          </p:nvSpPr>
          <p:spPr>
            <a:xfrm>
              <a:off x="0" y="0"/>
              <a:ext cx="736649" cy="292679"/>
            </a:xfrm>
            <a:custGeom>
              <a:avLst/>
              <a:gdLst/>
              <a:ahLst/>
              <a:cxnLst/>
              <a:rect l="l" t="t" r="r" b="b"/>
              <a:pathLst>
                <a:path w="736649" h="292679">
                  <a:moveTo>
                    <a:pt x="0" y="0"/>
                  </a:moveTo>
                  <a:lnTo>
                    <a:pt x="736649" y="0"/>
                  </a:lnTo>
                  <a:lnTo>
                    <a:pt x="736649" y="292679"/>
                  </a:lnTo>
                  <a:lnTo>
                    <a:pt x="0" y="292679"/>
                  </a:lnTo>
                  <a:close/>
                </a:path>
              </a:pathLst>
            </a:custGeom>
            <a:solidFill>
              <a:srgbClr val="EE806B"/>
            </a:solidFill>
          </p:spPr>
          <p:txBody>
            <a:bodyPr/>
            <a:lstStyle/>
            <a:p>
              <a:endParaRPr lang="en-US"/>
            </a:p>
          </p:txBody>
        </p:sp>
        <p:sp>
          <p:nvSpPr>
            <p:cNvPr id="13" name="TextBox 13"/>
            <p:cNvSpPr txBox="1"/>
            <p:nvPr/>
          </p:nvSpPr>
          <p:spPr>
            <a:xfrm>
              <a:off x="0" y="-19050"/>
              <a:ext cx="736649" cy="311729"/>
            </a:xfrm>
            <a:prstGeom prst="rect">
              <a:avLst/>
            </a:prstGeom>
          </p:spPr>
          <p:txBody>
            <a:bodyPr lIns="73014" tIns="73014" rIns="73014" bIns="73014" rtlCol="0" anchor="ctr"/>
            <a:lstStyle/>
            <a:p>
              <a:pPr algn="ctr">
                <a:lnSpc>
                  <a:spcPts val="1679"/>
                </a:lnSpc>
              </a:pPr>
              <a:endParaRPr/>
            </a:p>
          </p:txBody>
        </p:sp>
      </p:grpSp>
      <p:grpSp>
        <p:nvGrpSpPr>
          <p:cNvPr id="14" name="Group 14"/>
          <p:cNvGrpSpPr/>
          <p:nvPr/>
        </p:nvGrpSpPr>
        <p:grpSpPr>
          <a:xfrm>
            <a:off x="3477102" y="652371"/>
            <a:ext cx="14182640" cy="1064805"/>
            <a:chOff x="0" y="0"/>
            <a:chExt cx="3898337" cy="292679"/>
          </a:xfrm>
        </p:grpSpPr>
        <p:sp>
          <p:nvSpPr>
            <p:cNvPr id="15" name="Freeform 15"/>
            <p:cNvSpPr/>
            <p:nvPr/>
          </p:nvSpPr>
          <p:spPr>
            <a:xfrm>
              <a:off x="0" y="0"/>
              <a:ext cx="3898337" cy="292679"/>
            </a:xfrm>
            <a:custGeom>
              <a:avLst/>
              <a:gdLst/>
              <a:ahLst/>
              <a:cxnLst/>
              <a:rect l="l" t="t" r="r" b="b"/>
              <a:pathLst>
                <a:path w="3898337" h="292679">
                  <a:moveTo>
                    <a:pt x="0" y="0"/>
                  </a:moveTo>
                  <a:lnTo>
                    <a:pt x="3898337" y="0"/>
                  </a:lnTo>
                  <a:lnTo>
                    <a:pt x="3898337" y="292679"/>
                  </a:lnTo>
                  <a:lnTo>
                    <a:pt x="0" y="292679"/>
                  </a:lnTo>
                  <a:close/>
                </a:path>
              </a:pathLst>
            </a:custGeom>
            <a:ln w="28575" cap="sq">
              <a:solidFill>
                <a:srgbClr val="D77583"/>
              </a:solidFill>
              <a:prstDash val="sysDot"/>
              <a:miter/>
            </a:ln>
          </p:spPr>
          <p:txBody>
            <a:bodyPr/>
            <a:lstStyle/>
            <a:p>
              <a:endParaRPr lang="en-US"/>
            </a:p>
          </p:txBody>
        </p:sp>
        <p:sp>
          <p:nvSpPr>
            <p:cNvPr id="16" name="TextBox 16"/>
            <p:cNvSpPr txBox="1"/>
            <p:nvPr/>
          </p:nvSpPr>
          <p:spPr>
            <a:xfrm>
              <a:off x="0" y="-19050"/>
              <a:ext cx="3898337" cy="311729"/>
            </a:xfrm>
            <a:prstGeom prst="rect">
              <a:avLst/>
            </a:prstGeom>
          </p:spPr>
          <p:txBody>
            <a:bodyPr lIns="73014" tIns="73014" rIns="73014" bIns="73014" rtlCol="0" anchor="ctr"/>
            <a:lstStyle/>
            <a:p>
              <a:pPr algn="ctr">
                <a:lnSpc>
                  <a:spcPts val="1679"/>
                </a:lnSpc>
              </a:pPr>
              <a:endParaRPr/>
            </a:p>
          </p:txBody>
        </p:sp>
      </p:grpSp>
      <p:sp>
        <p:nvSpPr>
          <p:cNvPr id="17" name="TextBox 17"/>
          <p:cNvSpPr txBox="1"/>
          <p:nvPr/>
        </p:nvSpPr>
        <p:spPr>
          <a:xfrm>
            <a:off x="1138957" y="959348"/>
            <a:ext cx="1656869"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Situation</a:t>
            </a:r>
          </a:p>
        </p:txBody>
      </p:sp>
      <p:grpSp>
        <p:nvGrpSpPr>
          <p:cNvPr id="18" name="Group 18"/>
          <p:cNvGrpSpPr/>
          <p:nvPr/>
        </p:nvGrpSpPr>
        <p:grpSpPr>
          <a:xfrm>
            <a:off x="634849" y="1969852"/>
            <a:ext cx="2680021" cy="1139575"/>
            <a:chOff x="0" y="0"/>
            <a:chExt cx="736649" cy="313231"/>
          </a:xfrm>
        </p:grpSpPr>
        <p:sp>
          <p:nvSpPr>
            <p:cNvPr id="19" name="Freeform 19"/>
            <p:cNvSpPr/>
            <p:nvPr/>
          </p:nvSpPr>
          <p:spPr>
            <a:xfrm>
              <a:off x="0" y="0"/>
              <a:ext cx="736649" cy="313231"/>
            </a:xfrm>
            <a:custGeom>
              <a:avLst/>
              <a:gdLst/>
              <a:ahLst/>
              <a:cxnLst/>
              <a:rect l="l" t="t" r="r" b="b"/>
              <a:pathLst>
                <a:path w="736649" h="313231">
                  <a:moveTo>
                    <a:pt x="0" y="0"/>
                  </a:moveTo>
                  <a:lnTo>
                    <a:pt x="736649" y="0"/>
                  </a:lnTo>
                  <a:lnTo>
                    <a:pt x="736649" y="313231"/>
                  </a:lnTo>
                  <a:lnTo>
                    <a:pt x="0" y="313231"/>
                  </a:lnTo>
                  <a:close/>
                </a:path>
              </a:pathLst>
            </a:custGeom>
            <a:solidFill>
              <a:srgbClr val="EE806B"/>
            </a:solidFill>
          </p:spPr>
          <p:txBody>
            <a:bodyPr/>
            <a:lstStyle/>
            <a:p>
              <a:endParaRPr lang="en-US"/>
            </a:p>
          </p:txBody>
        </p:sp>
        <p:sp>
          <p:nvSpPr>
            <p:cNvPr id="20" name="TextBox 20"/>
            <p:cNvSpPr txBox="1"/>
            <p:nvPr/>
          </p:nvSpPr>
          <p:spPr>
            <a:xfrm>
              <a:off x="0" y="-19050"/>
              <a:ext cx="736649" cy="332281"/>
            </a:xfrm>
            <a:prstGeom prst="rect">
              <a:avLst/>
            </a:prstGeom>
          </p:spPr>
          <p:txBody>
            <a:bodyPr lIns="73014" tIns="73014" rIns="73014" bIns="73014" rtlCol="0" anchor="ctr"/>
            <a:lstStyle/>
            <a:p>
              <a:pPr algn="ctr">
                <a:lnSpc>
                  <a:spcPts val="1679"/>
                </a:lnSpc>
              </a:pPr>
              <a:endParaRPr/>
            </a:p>
          </p:txBody>
        </p:sp>
      </p:grpSp>
      <p:sp>
        <p:nvSpPr>
          <p:cNvPr id="21" name="TextBox 21"/>
          <p:cNvSpPr txBox="1"/>
          <p:nvPr/>
        </p:nvSpPr>
        <p:spPr>
          <a:xfrm>
            <a:off x="748232" y="2314215"/>
            <a:ext cx="2453255"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Complication</a:t>
            </a:r>
          </a:p>
        </p:txBody>
      </p:sp>
      <p:grpSp>
        <p:nvGrpSpPr>
          <p:cNvPr id="22" name="Group 22"/>
          <p:cNvGrpSpPr/>
          <p:nvPr/>
        </p:nvGrpSpPr>
        <p:grpSpPr>
          <a:xfrm>
            <a:off x="634849" y="3290402"/>
            <a:ext cx="2680021" cy="2137917"/>
            <a:chOff x="0" y="0"/>
            <a:chExt cx="736649" cy="587643"/>
          </a:xfrm>
        </p:grpSpPr>
        <p:sp>
          <p:nvSpPr>
            <p:cNvPr id="23" name="Freeform 23"/>
            <p:cNvSpPr/>
            <p:nvPr/>
          </p:nvSpPr>
          <p:spPr>
            <a:xfrm>
              <a:off x="0" y="0"/>
              <a:ext cx="736649" cy="587643"/>
            </a:xfrm>
            <a:custGeom>
              <a:avLst/>
              <a:gdLst/>
              <a:ahLst/>
              <a:cxnLst/>
              <a:rect l="l" t="t" r="r" b="b"/>
              <a:pathLst>
                <a:path w="736649" h="587643">
                  <a:moveTo>
                    <a:pt x="0" y="0"/>
                  </a:moveTo>
                  <a:lnTo>
                    <a:pt x="736649" y="0"/>
                  </a:lnTo>
                  <a:lnTo>
                    <a:pt x="736649" y="587643"/>
                  </a:lnTo>
                  <a:lnTo>
                    <a:pt x="0" y="587643"/>
                  </a:lnTo>
                  <a:close/>
                </a:path>
              </a:pathLst>
            </a:custGeom>
            <a:solidFill>
              <a:srgbClr val="EE806B"/>
            </a:solidFill>
          </p:spPr>
          <p:txBody>
            <a:bodyPr/>
            <a:lstStyle/>
            <a:p>
              <a:endParaRPr lang="en-US"/>
            </a:p>
          </p:txBody>
        </p:sp>
        <p:sp>
          <p:nvSpPr>
            <p:cNvPr id="24" name="TextBox 24"/>
            <p:cNvSpPr txBox="1"/>
            <p:nvPr/>
          </p:nvSpPr>
          <p:spPr>
            <a:xfrm>
              <a:off x="0" y="-19050"/>
              <a:ext cx="736649" cy="606693"/>
            </a:xfrm>
            <a:prstGeom prst="rect">
              <a:avLst/>
            </a:prstGeom>
          </p:spPr>
          <p:txBody>
            <a:bodyPr lIns="73014" tIns="73014" rIns="73014" bIns="73014" rtlCol="0" anchor="ctr"/>
            <a:lstStyle/>
            <a:p>
              <a:pPr algn="ctr">
                <a:lnSpc>
                  <a:spcPts val="1679"/>
                </a:lnSpc>
              </a:pPr>
              <a:endParaRPr/>
            </a:p>
          </p:txBody>
        </p:sp>
      </p:grpSp>
      <p:sp>
        <p:nvSpPr>
          <p:cNvPr id="25" name="TextBox 25"/>
          <p:cNvSpPr txBox="1"/>
          <p:nvPr/>
        </p:nvSpPr>
        <p:spPr>
          <a:xfrm>
            <a:off x="727987" y="4133936"/>
            <a:ext cx="2493744"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Key Findings</a:t>
            </a:r>
          </a:p>
        </p:txBody>
      </p:sp>
      <p:grpSp>
        <p:nvGrpSpPr>
          <p:cNvPr id="26" name="Group 26"/>
          <p:cNvGrpSpPr/>
          <p:nvPr/>
        </p:nvGrpSpPr>
        <p:grpSpPr>
          <a:xfrm>
            <a:off x="634849" y="5609295"/>
            <a:ext cx="2680021" cy="1039093"/>
            <a:chOff x="0" y="0"/>
            <a:chExt cx="736649" cy="285612"/>
          </a:xfrm>
        </p:grpSpPr>
        <p:sp>
          <p:nvSpPr>
            <p:cNvPr id="27" name="Freeform 27"/>
            <p:cNvSpPr/>
            <p:nvPr/>
          </p:nvSpPr>
          <p:spPr>
            <a:xfrm>
              <a:off x="0" y="0"/>
              <a:ext cx="736649" cy="285612"/>
            </a:xfrm>
            <a:custGeom>
              <a:avLst/>
              <a:gdLst/>
              <a:ahLst/>
              <a:cxnLst/>
              <a:rect l="l" t="t" r="r" b="b"/>
              <a:pathLst>
                <a:path w="736649" h="285612">
                  <a:moveTo>
                    <a:pt x="0" y="0"/>
                  </a:moveTo>
                  <a:lnTo>
                    <a:pt x="736649" y="0"/>
                  </a:lnTo>
                  <a:lnTo>
                    <a:pt x="736649" y="285612"/>
                  </a:lnTo>
                  <a:lnTo>
                    <a:pt x="0" y="285612"/>
                  </a:lnTo>
                  <a:close/>
                </a:path>
              </a:pathLst>
            </a:custGeom>
            <a:solidFill>
              <a:srgbClr val="EE806B"/>
            </a:solidFill>
          </p:spPr>
          <p:txBody>
            <a:bodyPr/>
            <a:lstStyle/>
            <a:p>
              <a:endParaRPr lang="en-US"/>
            </a:p>
          </p:txBody>
        </p:sp>
        <p:sp>
          <p:nvSpPr>
            <p:cNvPr id="28" name="TextBox 28"/>
            <p:cNvSpPr txBox="1"/>
            <p:nvPr/>
          </p:nvSpPr>
          <p:spPr>
            <a:xfrm>
              <a:off x="0" y="-19050"/>
              <a:ext cx="736649" cy="304662"/>
            </a:xfrm>
            <a:prstGeom prst="rect">
              <a:avLst/>
            </a:prstGeom>
          </p:spPr>
          <p:txBody>
            <a:bodyPr lIns="73014" tIns="73014" rIns="73014" bIns="73014" rtlCol="0" anchor="ctr"/>
            <a:lstStyle/>
            <a:p>
              <a:pPr algn="ctr">
                <a:lnSpc>
                  <a:spcPts val="1679"/>
                </a:lnSpc>
              </a:pPr>
              <a:endParaRPr/>
            </a:p>
          </p:txBody>
        </p:sp>
      </p:grpSp>
      <p:sp>
        <p:nvSpPr>
          <p:cNvPr id="29" name="TextBox 29"/>
          <p:cNvSpPr txBox="1"/>
          <p:nvPr/>
        </p:nvSpPr>
        <p:spPr>
          <a:xfrm>
            <a:off x="1126399" y="5903416"/>
            <a:ext cx="1678476"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Question</a:t>
            </a:r>
          </a:p>
        </p:txBody>
      </p:sp>
      <p:grpSp>
        <p:nvGrpSpPr>
          <p:cNvPr id="30" name="Group 30"/>
          <p:cNvGrpSpPr/>
          <p:nvPr/>
        </p:nvGrpSpPr>
        <p:grpSpPr>
          <a:xfrm>
            <a:off x="626504" y="6905562"/>
            <a:ext cx="2696711" cy="2352738"/>
            <a:chOff x="0" y="0"/>
            <a:chExt cx="741236" cy="646690"/>
          </a:xfrm>
        </p:grpSpPr>
        <p:sp>
          <p:nvSpPr>
            <p:cNvPr id="31" name="Freeform 31"/>
            <p:cNvSpPr/>
            <p:nvPr/>
          </p:nvSpPr>
          <p:spPr>
            <a:xfrm>
              <a:off x="0" y="0"/>
              <a:ext cx="741236" cy="646689"/>
            </a:xfrm>
            <a:custGeom>
              <a:avLst/>
              <a:gdLst/>
              <a:ahLst/>
              <a:cxnLst/>
              <a:rect l="l" t="t" r="r" b="b"/>
              <a:pathLst>
                <a:path w="741236" h="646689">
                  <a:moveTo>
                    <a:pt x="0" y="0"/>
                  </a:moveTo>
                  <a:lnTo>
                    <a:pt x="741236" y="0"/>
                  </a:lnTo>
                  <a:lnTo>
                    <a:pt x="741236" y="646689"/>
                  </a:lnTo>
                  <a:lnTo>
                    <a:pt x="0" y="646689"/>
                  </a:lnTo>
                  <a:close/>
                </a:path>
              </a:pathLst>
            </a:custGeom>
            <a:solidFill>
              <a:srgbClr val="EE806B"/>
            </a:solidFill>
          </p:spPr>
          <p:txBody>
            <a:bodyPr/>
            <a:lstStyle/>
            <a:p>
              <a:endParaRPr lang="en-US"/>
            </a:p>
          </p:txBody>
        </p:sp>
        <p:sp>
          <p:nvSpPr>
            <p:cNvPr id="32" name="TextBox 32"/>
            <p:cNvSpPr txBox="1"/>
            <p:nvPr/>
          </p:nvSpPr>
          <p:spPr>
            <a:xfrm>
              <a:off x="0" y="-19050"/>
              <a:ext cx="741236" cy="665740"/>
            </a:xfrm>
            <a:prstGeom prst="rect">
              <a:avLst/>
            </a:prstGeom>
          </p:spPr>
          <p:txBody>
            <a:bodyPr lIns="73014" tIns="73014" rIns="73014" bIns="73014" rtlCol="0" anchor="ctr"/>
            <a:lstStyle/>
            <a:p>
              <a:pPr algn="ctr">
                <a:lnSpc>
                  <a:spcPts val="1679"/>
                </a:lnSpc>
              </a:pPr>
              <a:endParaRPr/>
            </a:p>
          </p:txBody>
        </p:sp>
      </p:grpSp>
      <p:sp>
        <p:nvSpPr>
          <p:cNvPr id="33" name="TextBox 33"/>
          <p:cNvSpPr txBox="1"/>
          <p:nvPr/>
        </p:nvSpPr>
        <p:spPr>
          <a:xfrm>
            <a:off x="1276129" y="7856506"/>
            <a:ext cx="1399214" cy="412750"/>
          </a:xfrm>
          <a:prstGeom prst="rect">
            <a:avLst/>
          </a:prstGeom>
        </p:spPr>
        <p:txBody>
          <a:bodyPr lIns="0" tIns="0" rIns="0" bIns="0" rtlCol="0" anchor="t">
            <a:spAutoFit/>
          </a:bodyPr>
          <a:lstStyle/>
          <a:p>
            <a:pPr algn="l">
              <a:lnSpc>
                <a:spcPts val="3499"/>
              </a:lnSpc>
            </a:pPr>
            <a:r>
              <a:rPr lang="en-US" sz="2499" b="1">
                <a:solidFill>
                  <a:srgbClr val="FFFFFF"/>
                </a:solidFill>
                <a:latin typeface="Montserrat Bold"/>
                <a:ea typeface="Montserrat Bold"/>
                <a:cs typeface="Montserrat Bold"/>
                <a:sym typeface="Montserrat Bold"/>
              </a:rPr>
              <a:t>Answer</a:t>
            </a:r>
          </a:p>
        </p:txBody>
      </p:sp>
      <p:grpSp>
        <p:nvGrpSpPr>
          <p:cNvPr id="34" name="Group 34"/>
          <p:cNvGrpSpPr/>
          <p:nvPr/>
        </p:nvGrpSpPr>
        <p:grpSpPr>
          <a:xfrm>
            <a:off x="3475348" y="3290402"/>
            <a:ext cx="14182640" cy="2137917"/>
            <a:chOff x="0" y="0"/>
            <a:chExt cx="3898337" cy="587643"/>
          </a:xfrm>
        </p:grpSpPr>
        <p:sp>
          <p:nvSpPr>
            <p:cNvPr id="35" name="Freeform 35"/>
            <p:cNvSpPr/>
            <p:nvPr/>
          </p:nvSpPr>
          <p:spPr>
            <a:xfrm>
              <a:off x="0" y="0"/>
              <a:ext cx="3898337" cy="587643"/>
            </a:xfrm>
            <a:custGeom>
              <a:avLst/>
              <a:gdLst/>
              <a:ahLst/>
              <a:cxnLst/>
              <a:rect l="l" t="t" r="r" b="b"/>
              <a:pathLst>
                <a:path w="3898337" h="587643">
                  <a:moveTo>
                    <a:pt x="0" y="0"/>
                  </a:moveTo>
                  <a:lnTo>
                    <a:pt x="3898337" y="0"/>
                  </a:lnTo>
                  <a:lnTo>
                    <a:pt x="3898337" y="587643"/>
                  </a:lnTo>
                  <a:lnTo>
                    <a:pt x="0" y="587643"/>
                  </a:lnTo>
                  <a:close/>
                </a:path>
              </a:pathLst>
            </a:custGeom>
            <a:ln w="28575" cap="sq">
              <a:solidFill>
                <a:srgbClr val="D77583"/>
              </a:solidFill>
              <a:prstDash val="sysDot"/>
              <a:miter/>
            </a:ln>
          </p:spPr>
          <p:txBody>
            <a:bodyPr/>
            <a:lstStyle/>
            <a:p>
              <a:endParaRPr lang="en-US"/>
            </a:p>
          </p:txBody>
        </p:sp>
        <p:sp>
          <p:nvSpPr>
            <p:cNvPr id="36" name="TextBox 36"/>
            <p:cNvSpPr txBox="1"/>
            <p:nvPr/>
          </p:nvSpPr>
          <p:spPr>
            <a:xfrm>
              <a:off x="0" y="-19050"/>
              <a:ext cx="3898337" cy="606693"/>
            </a:xfrm>
            <a:prstGeom prst="rect">
              <a:avLst/>
            </a:prstGeom>
          </p:spPr>
          <p:txBody>
            <a:bodyPr lIns="73014" tIns="73014" rIns="73014" bIns="73014" rtlCol="0" anchor="ctr"/>
            <a:lstStyle/>
            <a:p>
              <a:pPr algn="ctr">
                <a:lnSpc>
                  <a:spcPts val="1679"/>
                </a:lnSpc>
              </a:pPr>
              <a:endParaRPr/>
            </a:p>
          </p:txBody>
        </p:sp>
      </p:grpSp>
      <p:grpSp>
        <p:nvGrpSpPr>
          <p:cNvPr id="37" name="Group 37"/>
          <p:cNvGrpSpPr/>
          <p:nvPr/>
        </p:nvGrpSpPr>
        <p:grpSpPr>
          <a:xfrm>
            <a:off x="3477102" y="1964826"/>
            <a:ext cx="14182640" cy="1144602"/>
            <a:chOff x="0" y="0"/>
            <a:chExt cx="3898337" cy="314613"/>
          </a:xfrm>
        </p:grpSpPr>
        <p:sp>
          <p:nvSpPr>
            <p:cNvPr id="38" name="Freeform 38"/>
            <p:cNvSpPr/>
            <p:nvPr/>
          </p:nvSpPr>
          <p:spPr>
            <a:xfrm>
              <a:off x="0" y="0"/>
              <a:ext cx="3898337" cy="314613"/>
            </a:xfrm>
            <a:custGeom>
              <a:avLst/>
              <a:gdLst/>
              <a:ahLst/>
              <a:cxnLst/>
              <a:rect l="l" t="t" r="r" b="b"/>
              <a:pathLst>
                <a:path w="3898337" h="314613">
                  <a:moveTo>
                    <a:pt x="0" y="0"/>
                  </a:moveTo>
                  <a:lnTo>
                    <a:pt x="3898337" y="0"/>
                  </a:lnTo>
                  <a:lnTo>
                    <a:pt x="3898337" y="314613"/>
                  </a:lnTo>
                  <a:lnTo>
                    <a:pt x="0" y="314613"/>
                  </a:lnTo>
                  <a:close/>
                </a:path>
              </a:pathLst>
            </a:custGeom>
            <a:ln w="28575" cap="sq">
              <a:solidFill>
                <a:srgbClr val="D77583"/>
              </a:solidFill>
              <a:prstDash val="sysDot"/>
              <a:miter/>
            </a:ln>
          </p:spPr>
          <p:txBody>
            <a:bodyPr/>
            <a:lstStyle/>
            <a:p>
              <a:endParaRPr lang="en-US"/>
            </a:p>
          </p:txBody>
        </p:sp>
        <p:sp>
          <p:nvSpPr>
            <p:cNvPr id="39" name="TextBox 39"/>
            <p:cNvSpPr txBox="1"/>
            <p:nvPr/>
          </p:nvSpPr>
          <p:spPr>
            <a:xfrm>
              <a:off x="0" y="-19050"/>
              <a:ext cx="3898337" cy="333663"/>
            </a:xfrm>
            <a:prstGeom prst="rect">
              <a:avLst/>
            </a:prstGeom>
          </p:spPr>
          <p:txBody>
            <a:bodyPr lIns="73014" tIns="73014" rIns="73014" bIns="73014" rtlCol="0" anchor="ctr"/>
            <a:lstStyle/>
            <a:p>
              <a:pPr algn="ctr">
                <a:lnSpc>
                  <a:spcPts val="1679"/>
                </a:lnSpc>
              </a:pPr>
              <a:r>
                <a:rPr lang="en-US" sz="1199">
                  <a:solidFill>
                    <a:srgbClr val="FFFFFF"/>
                  </a:solidFill>
                  <a:latin typeface="Montserrat"/>
                  <a:ea typeface="Montserrat"/>
                  <a:cs typeface="Montserrat"/>
                  <a:sym typeface="Montserrat"/>
                </a:rPr>
                <a:t>t</a:t>
              </a:r>
            </a:p>
          </p:txBody>
        </p:sp>
      </p:grpSp>
      <p:grpSp>
        <p:nvGrpSpPr>
          <p:cNvPr id="40" name="Group 40"/>
          <p:cNvGrpSpPr/>
          <p:nvPr/>
        </p:nvGrpSpPr>
        <p:grpSpPr>
          <a:xfrm>
            <a:off x="3475348" y="5628345"/>
            <a:ext cx="14182640" cy="1020043"/>
            <a:chOff x="0" y="0"/>
            <a:chExt cx="3898337" cy="280376"/>
          </a:xfrm>
        </p:grpSpPr>
        <p:sp>
          <p:nvSpPr>
            <p:cNvPr id="41" name="Freeform 41"/>
            <p:cNvSpPr/>
            <p:nvPr/>
          </p:nvSpPr>
          <p:spPr>
            <a:xfrm>
              <a:off x="0" y="0"/>
              <a:ext cx="3898337" cy="280376"/>
            </a:xfrm>
            <a:custGeom>
              <a:avLst/>
              <a:gdLst/>
              <a:ahLst/>
              <a:cxnLst/>
              <a:rect l="l" t="t" r="r" b="b"/>
              <a:pathLst>
                <a:path w="3898337" h="280376">
                  <a:moveTo>
                    <a:pt x="0" y="0"/>
                  </a:moveTo>
                  <a:lnTo>
                    <a:pt x="3898337" y="0"/>
                  </a:lnTo>
                  <a:lnTo>
                    <a:pt x="3898337" y="280376"/>
                  </a:lnTo>
                  <a:lnTo>
                    <a:pt x="0" y="280376"/>
                  </a:lnTo>
                  <a:close/>
                </a:path>
              </a:pathLst>
            </a:custGeom>
            <a:ln w="28575" cap="sq">
              <a:solidFill>
                <a:srgbClr val="D77583"/>
              </a:solidFill>
              <a:prstDash val="sysDot"/>
              <a:miter/>
            </a:ln>
          </p:spPr>
          <p:txBody>
            <a:bodyPr/>
            <a:lstStyle/>
            <a:p>
              <a:endParaRPr lang="en-US"/>
            </a:p>
          </p:txBody>
        </p:sp>
        <p:sp>
          <p:nvSpPr>
            <p:cNvPr id="42" name="TextBox 42"/>
            <p:cNvSpPr txBox="1"/>
            <p:nvPr/>
          </p:nvSpPr>
          <p:spPr>
            <a:xfrm>
              <a:off x="0" y="-19050"/>
              <a:ext cx="3898337" cy="299426"/>
            </a:xfrm>
            <a:prstGeom prst="rect">
              <a:avLst/>
            </a:prstGeom>
          </p:spPr>
          <p:txBody>
            <a:bodyPr lIns="73014" tIns="73014" rIns="73014" bIns="73014" rtlCol="0" anchor="ctr"/>
            <a:lstStyle/>
            <a:p>
              <a:pPr algn="ctr">
                <a:lnSpc>
                  <a:spcPts val="1679"/>
                </a:lnSpc>
              </a:pPr>
              <a:r>
                <a:rPr lang="en-US" sz="1199">
                  <a:solidFill>
                    <a:srgbClr val="FFFFFF"/>
                  </a:solidFill>
                  <a:latin typeface="Montserrat"/>
                  <a:ea typeface="Montserrat"/>
                  <a:cs typeface="Montserrat"/>
                  <a:sym typeface="Montserrat"/>
                </a:rPr>
                <a:t>Chiến dịch telesales hiện tại tiếp cận đại trà toàn bộ danh sách, không phân biệt khách hàng nào thực sự bị tác động bởi cuộc gọi — khiến 37.4% ngân sách đổ vào nhóm không Chiến dịch telesales hiện tại tiếp cận đại trà toàn bộ danh sách, không phân biệt khách hàng nào thực sự bị tác động bởi cuộc gọi — khiến 37.4% ngân sách đổ vào nhóm không chuyển đổi hoặc tự chuyển đổi dù không cần tác động.chuyển đổi hoặc tự chuyển đổi dù không cần tác động.</a:t>
              </a:r>
            </a:p>
          </p:txBody>
        </p:sp>
      </p:grpSp>
      <p:grpSp>
        <p:nvGrpSpPr>
          <p:cNvPr id="43" name="Group 43"/>
          <p:cNvGrpSpPr/>
          <p:nvPr/>
        </p:nvGrpSpPr>
        <p:grpSpPr>
          <a:xfrm>
            <a:off x="3478856" y="6930417"/>
            <a:ext cx="14182640" cy="2327883"/>
            <a:chOff x="0" y="0"/>
            <a:chExt cx="3898337" cy="639858"/>
          </a:xfrm>
        </p:grpSpPr>
        <p:sp>
          <p:nvSpPr>
            <p:cNvPr id="44" name="Freeform 44"/>
            <p:cNvSpPr/>
            <p:nvPr/>
          </p:nvSpPr>
          <p:spPr>
            <a:xfrm>
              <a:off x="0" y="0"/>
              <a:ext cx="3898337" cy="639858"/>
            </a:xfrm>
            <a:custGeom>
              <a:avLst/>
              <a:gdLst/>
              <a:ahLst/>
              <a:cxnLst/>
              <a:rect l="l" t="t" r="r" b="b"/>
              <a:pathLst>
                <a:path w="3898337" h="639858">
                  <a:moveTo>
                    <a:pt x="0" y="0"/>
                  </a:moveTo>
                  <a:lnTo>
                    <a:pt x="3898337" y="0"/>
                  </a:lnTo>
                  <a:lnTo>
                    <a:pt x="3898337" y="639858"/>
                  </a:lnTo>
                  <a:lnTo>
                    <a:pt x="0" y="639858"/>
                  </a:lnTo>
                  <a:close/>
                </a:path>
              </a:pathLst>
            </a:custGeom>
            <a:ln w="28575" cap="sq">
              <a:solidFill>
                <a:srgbClr val="D77583"/>
              </a:solidFill>
              <a:prstDash val="sysDot"/>
              <a:miter/>
            </a:ln>
          </p:spPr>
          <p:txBody>
            <a:bodyPr/>
            <a:lstStyle/>
            <a:p>
              <a:endParaRPr lang="en-US"/>
            </a:p>
          </p:txBody>
        </p:sp>
        <p:sp>
          <p:nvSpPr>
            <p:cNvPr id="45" name="TextBox 45"/>
            <p:cNvSpPr txBox="1"/>
            <p:nvPr/>
          </p:nvSpPr>
          <p:spPr>
            <a:xfrm>
              <a:off x="0" y="-19050"/>
              <a:ext cx="3898337" cy="658908"/>
            </a:xfrm>
            <a:prstGeom prst="rect">
              <a:avLst/>
            </a:prstGeom>
          </p:spPr>
          <p:txBody>
            <a:bodyPr lIns="73014" tIns="73014" rIns="73014" bIns="73014" rtlCol="0" anchor="ctr"/>
            <a:lstStyle/>
            <a:p>
              <a:pPr algn="ctr">
                <a:lnSpc>
                  <a:spcPts val="1679"/>
                </a:lnSpc>
              </a:pPr>
              <a:endParaRPr/>
            </a:p>
          </p:txBody>
        </p:sp>
      </p:grpSp>
      <p:sp>
        <p:nvSpPr>
          <p:cNvPr id="46" name="TextBox 46"/>
          <p:cNvSpPr txBox="1"/>
          <p:nvPr/>
        </p:nvSpPr>
        <p:spPr>
          <a:xfrm>
            <a:off x="3563917" y="3351298"/>
            <a:ext cx="13714244" cy="1749425"/>
          </a:xfrm>
          <a:prstGeom prst="rect">
            <a:avLst/>
          </a:prstGeom>
        </p:spPr>
        <p:txBody>
          <a:bodyPr lIns="0" tIns="0" rIns="0" bIns="0" rtlCol="0" anchor="t">
            <a:spAutoFit/>
          </a:bodyPr>
          <a:lstStyle/>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One driver decides health: spend-to-income explains 81% of the score, far more than job, location or age.</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Depth, not reach, is the engagement lever: everyone uses every channel, but only 21% of spend is online, and online share drives engagement most.</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Five segments need different support: Healthy Core (299), Emerging Digital (184), Stretched &amp; Engaged (226), Low-Engagement Vulnerable (199) and New / Low-history (91).</a:t>
            </a:r>
          </a:p>
        </p:txBody>
      </p:sp>
      <p:sp>
        <p:nvSpPr>
          <p:cNvPr id="47" name="TextBox 47"/>
          <p:cNvSpPr txBox="1"/>
          <p:nvPr/>
        </p:nvSpPr>
        <p:spPr>
          <a:xfrm>
            <a:off x="3563917" y="796426"/>
            <a:ext cx="13662451" cy="692150"/>
          </a:xfrm>
          <a:prstGeom prst="rect">
            <a:avLst/>
          </a:prstGeom>
        </p:spPr>
        <p:txBody>
          <a:bodyPr lIns="0" tIns="0" rIns="0" bIns="0" rtlCol="0" anchor="t">
            <a:spAutoFit/>
          </a:bodyPr>
          <a:lstStyle/>
          <a:p>
            <a:pPr algn="l">
              <a:lnSpc>
                <a:spcPts val="2800"/>
              </a:lnSpc>
            </a:pPr>
            <a:r>
              <a:rPr lang="en-US" sz="2000" dirty="0">
                <a:solidFill>
                  <a:srgbClr val="000000"/>
                </a:solidFill>
                <a:latin typeface="Montserrat"/>
                <a:ea typeface="Montserrat"/>
                <a:cs typeface="Montserrat"/>
                <a:sym typeface="Montserrat"/>
              </a:rPr>
              <a:t>ITB serves 999 card customers who spent VND 3,244.6 bn across 1.85 M transactions in 2025. Most look healthy on average: 72.5% of customer-months are Stable, and engagement averages 78 out of 100.</a:t>
            </a:r>
          </a:p>
        </p:txBody>
      </p:sp>
      <p:sp>
        <p:nvSpPr>
          <p:cNvPr id="48" name="TextBox 48"/>
          <p:cNvSpPr txBox="1"/>
          <p:nvPr/>
        </p:nvSpPr>
        <p:spPr>
          <a:xfrm>
            <a:off x="3613956" y="2174515"/>
            <a:ext cx="13664205" cy="692234"/>
          </a:xfrm>
          <a:prstGeom prst="rect">
            <a:avLst/>
          </a:prstGeom>
        </p:spPr>
        <p:txBody>
          <a:bodyPr lIns="0" tIns="0" rIns="0" bIns="0" rtlCol="0" anchor="t">
            <a:spAutoFit/>
          </a:bodyPr>
          <a:lstStyle/>
          <a:p>
            <a:pPr algn="just">
              <a:lnSpc>
                <a:spcPts val="2800"/>
              </a:lnSpc>
            </a:pPr>
            <a:r>
              <a:rPr lang="en-US" sz="2000" dirty="0">
                <a:solidFill>
                  <a:srgbClr val="000000"/>
                </a:solidFill>
                <a:latin typeface="Montserrat"/>
                <a:ea typeface="Montserrat"/>
                <a:cs typeface="Montserrat"/>
                <a:sym typeface="Montserrat"/>
              </a:rPr>
              <a:t>Engagement and health pull apart: the most active, digital customers are the most stretched, while many financially healthy customers barely use the card.</a:t>
            </a:r>
          </a:p>
        </p:txBody>
      </p:sp>
      <p:sp>
        <p:nvSpPr>
          <p:cNvPr id="49" name="TextBox 49"/>
          <p:cNvSpPr txBox="1"/>
          <p:nvPr/>
        </p:nvSpPr>
        <p:spPr>
          <a:xfrm>
            <a:off x="3612202" y="5790995"/>
            <a:ext cx="13664205" cy="692150"/>
          </a:xfrm>
          <a:prstGeom prst="rect">
            <a:avLst/>
          </a:prstGeom>
        </p:spPr>
        <p:txBody>
          <a:bodyPr lIns="0" tIns="0" rIns="0" bIns="0" rtlCol="0" anchor="t">
            <a:spAutoFit/>
          </a:bodyPr>
          <a:lstStyle/>
          <a:p>
            <a:pPr algn="just">
              <a:lnSpc>
                <a:spcPts val="2800"/>
              </a:lnSpc>
            </a:pPr>
            <a:r>
              <a:rPr lang="en-US" sz="2000" dirty="0">
                <a:solidFill>
                  <a:srgbClr val="000000"/>
                </a:solidFill>
                <a:latin typeface="Montserrat"/>
                <a:ea typeface="Montserrat"/>
                <a:cs typeface="Montserrat"/>
                <a:sym typeface="Montserrat"/>
              </a:rPr>
              <a:t>How can ITB support customers' financial wellbeing and deepen engagement at the same time, without </a:t>
            </a:r>
            <a:r>
              <a:rPr lang="en-US" sz="2000" dirty="0" err="1">
                <a:solidFill>
                  <a:srgbClr val="000000"/>
                </a:solidFill>
                <a:latin typeface="Montserrat"/>
                <a:ea typeface="Montserrat"/>
                <a:cs typeface="Montserrat"/>
                <a:sym typeface="Montserrat"/>
              </a:rPr>
              <a:t>penalising</a:t>
            </a:r>
            <a:r>
              <a:rPr lang="en-US" sz="2000" dirty="0">
                <a:solidFill>
                  <a:srgbClr val="000000"/>
                </a:solidFill>
                <a:latin typeface="Montserrat"/>
                <a:ea typeface="Montserrat"/>
                <a:cs typeface="Montserrat"/>
                <a:sym typeface="Montserrat"/>
              </a:rPr>
              <a:t> anyone?</a:t>
            </a:r>
          </a:p>
        </p:txBody>
      </p:sp>
      <p:sp>
        <p:nvSpPr>
          <p:cNvPr id="50" name="TextBox 50"/>
          <p:cNvSpPr txBox="1"/>
          <p:nvPr/>
        </p:nvSpPr>
        <p:spPr>
          <a:xfrm>
            <a:off x="3493263" y="7086537"/>
            <a:ext cx="13990664" cy="1749425"/>
          </a:xfrm>
          <a:prstGeom prst="rect">
            <a:avLst/>
          </a:prstGeom>
        </p:spPr>
        <p:txBody>
          <a:bodyPr lIns="0" tIns="0" rIns="0" bIns="0" rtlCol="0" anchor="t">
            <a:spAutoFit/>
          </a:bodyPr>
          <a:lstStyle/>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Budgeting tools, spend alerts and planning reminders before December for customers who overspend </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Cashback and savings goals for healthy but low-use customers .</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Digital nudges and financial education: app/QR onboarding for older and new customers, and short money lessons for all with a tough month .</a:t>
            </a:r>
          </a:p>
          <a:p>
            <a:pPr algn="just">
              <a:lnSpc>
                <a:spcPts val="2800"/>
              </a:lnSpc>
            </a:pPr>
            <a:endParaRPr lang="en-US" sz="2000" dirty="0">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422971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3">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3">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Overview</a:t>
              </a:r>
            </a:p>
            <a:p>
              <a:pPr algn="l">
                <a:lnSpc>
                  <a:spcPts val="3500"/>
                </a:lnSpc>
              </a:pPr>
              <a:r>
                <a:rPr lang="en-US" sz="2500">
                  <a:solidFill>
                    <a:srgbClr val="000000"/>
                  </a:solidFill>
                  <a:latin typeface="Montserrat"/>
                  <a:ea typeface="Montserrat"/>
                  <a:cs typeface="Montserrat"/>
                  <a:sym typeface="Montserrat"/>
                </a:rPr>
                <a:t>Busy months mean more purchases, not a higher AOV (Task 1, Q1)</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AutoShape 15"/>
          <p:cNvSpPr/>
          <p:nvPr/>
        </p:nvSpPr>
        <p:spPr>
          <a:xfrm flipH="1">
            <a:off x="9149272" y="1653478"/>
            <a:ext cx="4253" cy="6409359"/>
          </a:xfrm>
          <a:prstGeom prst="line">
            <a:avLst/>
          </a:prstGeom>
          <a:ln w="19050" cap="flat">
            <a:solidFill>
              <a:srgbClr val="B4B4B4"/>
            </a:solidFill>
            <a:prstDash val="solid"/>
            <a:headEnd type="none" w="sm" len="sm"/>
            <a:tailEnd type="none" w="sm" len="sm"/>
          </a:ln>
        </p:spPr>
        <p:txBody>
          <a:bodyPr/>
          <a:lstStyle/>
          <a:p>
            <a:endParaRPr lang="en-US"/>
          </a:p>
        </p:txBody>
      </p:sp>
      <p:sp>
        <p:nvSpPr>
          <p:cNvPr id="16" name="Freeform 16"/>
          <p:cNvSpPr/>
          <p:nvPr/>
        </p:nvSpPr>
        <p:spPr>
          <a:xfrm>
            <a:off x="961877" y="2527079"/>
            <a:ext cx="7632248" cy="3659483"/>
          </a:xfrm>
          <a:custGeom>
            <a:avLst/>
            <a:gdLst/>
            <a:ahLst/>
            <a:cxnLst/>
            <a:rect l="l" t="t" r="r" b="b"/>
            <a:pathLst>
              <a:path w="7632248" h="3659483">
                <a:moveTo>
                  <a:pt x="0" y="0"/>
                </a:moveTo>
                <a:lnTo>
                  <a:pt x="7632248" y="0"/>
                </a:lnTo>
                <a:lnTo>
                  <a:pt x="7632248" y="3659482"/>
                </a:lnTo>
                <a:lnTo>
                  <a:pt x="0" y="3659482"/>
                </a:lnTo>
                <a:lnTo>
                  <a:pt x="0" y="0"/>
                </a:lnTo>
                <a:close/>
              </a:path>
            </a:pathLst>
          </a:custGeom>
          <a:blipFill>
            <a:blip r:embed="rId4"/>
            <a:stretch>
              <a:fillRect l="-5594" t="-26136" b="-10267"/>
            </a:stretch>
          </a:blipFill>
        </p:spPr>
        <p:txBody>
          <a:bodyPr/>
          <a:lstStyle/>
          <a:p>
            <a:endParaRPr lang="en-US"/>
          </a:p>
        </p:txBody>
      </p:sp>
      <p:sp>
        <p:nvSpPr>
          <p:cNvPr id="17" name="Freeform 17"/>
          <p:cNvSpPr/>
          <p:nvPr/>
        </p:nvSpPr>
        <p:spPr>
          <a:xfrm>
            <a:off x="9704040" y="2527079"/>
            <a:ext cx="7622083" cy="3585210"/>
          </a:xfrm>
          <a:custGeom>
            <a:avLst/>
            <a:gdLst/>
            <a:ahLst/>
            <a:cxnLst/>
            <a:rect l="l" t="t" r="r" b="b"/>
            <a:pathLst>
              <a:path w="7622083" h="3585210">
                <a:moveTo>
                  <a:pt x="0" y="0"/>
                </a:moveTo>
                <a:lnTo>
                  <a:pt x="7622083" y="0"/>
                </a:lnTo>
                <a:lnTo>
                  <a:pt x="7622083" y="3585210"/>
                </a:lnTo>
                <a:lnTo>
                  <a:pt x="0" y="3585210"/>
                </a:lnTo>
                <a:lnTo>
                  <a:pt x="0" y="0"/>
                </a:lnTo>
                <a:close/>
              </a:path>
            </a:pathLst>
          </a:custGeom>
          <a:blipFill>
            <a:blip r:embed="rId5"/>
            <a:stretch>
              <a:fillRect l="-5519" t="-26712" b="-12232"/>
            </a:stretch>
          </a:blipFill>
        </p:spPr>
        <p:txBody>
          <a:bodyPr/>
          <a:lstStyle/>
          <a:p>
            <a:endParaRPr lang="en-US"/>
          </a:p>
        </p:txBody>
      </p:sp>
      <p:sp>
        <p:nvSpPr>
          <p:cNvPr id="18" name="TextBox 18"/>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9" name="TextBox 19"/>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Exploratory Analysis</a:t>
            </a:r>
          </a:p>
        </p:txBody>
      </p:sp>
      <p:sp>
        <p:nvSpPr>
          <p:cNvPr id="20" name="TextBox 20"/>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ntserrat"/>
                <a:ea typeface="Montserrat"/>
                <a:cs typeface="Montserrat"/>
                <a:sym typeface="Montserrat"/>
              </a:rPr>
              <a:t>Detailed Analysis</a:t>
            </a:r>
          </a:p>
        </p:txBody>
      </p:sp>
      <p:sp>
        <p:nvSpPr>
          <p:cNvPr id="21" name="TextBox 21"/>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2" name="TextBox 2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3" name="TextBox 23"/>
          <p:cNvSpPr txBox="1"/>
          <p:nvPr/>
        </p:nvSpPr>
        <p:spPr>
          <a:xfrm>
            <a:off x="1440800" y="1749681"/>
            <a:ext cx="6751138" cy="621030"/>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DECEMBER PEAK:</a:t>
            </a:r>
            <a:r>
              <a:rPr lang="en-US" sz="1800" b="1">
                <a:solidFill>
                  <a:srgbClr val="0033C9"/>
                </a:solidFill>
                <a:latin typeface="Montserrat Bold"/>
                <a:ea typeface="Montserrat Bold"/>
                <a:cs typeface="Montserrat Bold"/>
                <a:sym typeface="Montserrat Bold"/>
              </a:rPr>
              <a:t> </a:t>
            </a:r>
            <a:r>
              <a:rPr lang="en-US" sz="1800">
                <a:solidFill>
                  <a:srgbClr val="000000"/>
                </a:solidFill>
                <a:latin typeface="Montserrat"/>
                <a:ea typeface="Montserrat"/>
                <a:cs typeface="Montserrat"/>
                <a:sym typeface="Montserrat"/>
              </a:rPr>
              <a:t>Spending hits its yearly high, 2.8x the lowest month</a:t>
            </a:r>
          </a:p>
        </p:txBody>
      </p:sp>
      <p:sp>
        <p:nvSpPr>
          <p:cNvPr id="24" name="TextBox 24"/>
          <p:cNvSpPr txBox="1"/>
          <p:nvPr/>
        </p:nvSpPr>
        <p:spPr>
          <a:xfrm>
            <a:off x="10289335" y="1815879"/>
            <a:ext cx="6433423" cy="306705"/>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WHAT DRIVES IT:</a:t>
            </a:r>
            <a:r>
              <a:rPr lang="en-US" sz="1800">
                <a:solidFill>
                  <a:srgbClr val="000000"/>
                </a:solidFill>
                <a:latin typeface="Montserrat"/>
                <a:ea typeface="Montserrat"/>
                <a:cs typeface="Montserrat"/>
                <a:sym typeface="Montserrat"/>
              </a:rPr>
              <a:t> More transactions, not bigger baskets</a:t>
            </a:r>
          </a:p>
        </p:txBody>
      </p:sp>
      <p:sp>
        <p:nvSpPr>
          <p:cNvPr id="25" name="TextBox 25"/>
          <p:cNvSpPr txBox="1"/>
          <p:nvPr/>
        </p:nvSpPr>
        <p:spPr>
          <a:xfrm>
            <a:off x="1269433" y="6655995"/>
            <a:ext cx="7270239" cy="1249680"/>
          </a:xfrm>
          <a:prstGeom prst="rect">
            <a:avLst/>
          </a:prstGeom>
        </p:spPr>
        <p:txBody>
          <a:bodyPr lIns="0" tIns="0" rIns="0" bIns="0" rtlCol="0" anchor="t">
            <a:spAutoFit/>
          </a:bodyPr>
          <a:lstStyle/>
          <a:p>
            <a:pPr marL="388620" lvl="1" indent="-194310" algn="just">
              <a:lnSpc>
                <a:spcPts val="2520"/>
              </a:lnSpc>
              <a:spcBef>
                <a:spcPct val="0"/>
              </a:spcBef>
              <a:buFont typeface="Arial"/>
              <a:buChar char="•"/>
            </a:pPr>
            <a:r>
              <a:rPr lang="en-US" sz="1800">
                <a:solidFill>
                  <a:srgbClr val="000000"/>
                </a:solidFill>
                <a:latin typeface="Montserrat"/>
                <a:ea typeface="Montserrat"/>
                <a:cs typeface="Montserrat"/>
                <a:sym typeface="Montserrat"/>
              </a:rPr>
              <a:t>December reac</a:t>
            </a:r>
            <a:r>
              <a:rPr lang="en-US" sz="1800" u="none" strike="noStrike">
                <a:solidFill>
                  <a:srgbClr val="000000"/>
                </a:solidFill>
                <a:latin typeface="Montserrat"/>
                <a:ea typeface="Montserrat"/>
                <a:cs typeface="Montserrat"/>
                <a:sym typeface="Montserrat"/>
              </a:rPr>
              <a:t>hes VND 488 bn (15% of the year) vs 174 bn in February, a gap of VND 314 bn</a:t>
            </a:r>
          </a:p>
          <a:p>
            <a:pPr marL="388620" lvl="1" indent="-194310" algn="just">
              <a:lnSpc>
                <a:spcPts val="2520"/>
              </a:lnSpc>
              <a:spcBef>
                <a:spcPct val="0"/>
              </a:spcBef>
              <a:buFont typeface="Arial"/>
              <a:buChar char="•"/>
            </a:pPr>
            <a:r>
              <a:rPr lang="en-US" sz="1800" u="none" strike="noStrike">
                <a:solidFill>
                  <a:srgbClr val="000000"/>
                </a:solidFill>
                <a:latin typeface="Montserrat"/>
                <a:ea typeface="Montserrat"/>
                <a:cs typeface="Montserrat"/>
                <a:sym typeface="Montserrat"/>
              </a:rPr>
              <a:t>Spend-to-income jumps to 1.25 in December, vs 0.45–0.79 in other months: customers spend more than they earn</a:t>
            </a:r>
          </a:p>
        </p:txBody>
      </p:sp>
      <p:grpSp>
        <p:nvGrpSpPr>
          <p:cNvPr id="26" name="Group 26"/>
          <p:cNvGrpSpPr/>
          <p:nvPr/>
        </p:nvGrpSpPr>
        <p:grpSpPr>
          <a:xfrm>
            <a:off x="9810622" y="6342929"/>
            <a:ext cx="200528" cy="1805639"/>
            <a:chOff x="0" y="0"/>
            <a:chExt cx="51240" cy="461383"/>
          </a:xfrm>
        </p:grpSpPr>
        <p:sp>
          <p:nvSpPr>
            <p:cNvPr id="27" name="Freeform 27"/>
            <p:cNvSpPr/>
            <p:nvPr/>
          </p:nvSpPr>
          <p:spPr>
            <a:xfrm>
              <a:off x="0" y="0"/>
              <a:ext cx="51240" cy="461383"/>
            </a:xfrm>
            <a:custGeom>
              <a:avLst/>
              <a:gdLst/>
              <a:ahLst/>
              <a:cxnLst/>
              <a:rect l="l" t="t" r="r" b="b"/>
              <a:pathLst>
                <a:path w="51240" h="461383">
                  <a:moveTo>
                    <a:pt x="25620" y="0"/>
                  </a:moveTo>
                  <a:lnTo>
                    <a:pt x="25620" y="0"/>
                  </a:lnTo>
                  <a:cubicBezTo>
                    <a:pt x="32415" y="0"/>
                    <a:pt x="38931" y="2699"/>
                    <a:pt x="43736" y="7504"/>
                  </a:cubicBezTo>
                  <a:cubicBezTo>
                    <a:pt x="48540" y="12309"/>
                    <a:pt x="51240" y="18825"/>
                    <a:pt x="51240" y="25620"/>
                  </a:cubicBezTo>
                  <a:lnTo>
                    <a:pt x="51240" y="435763"/>
                  </a:lnTo>
                  <a:cubicBezTo>
                    <a:pt x="51240" y="449913"/>
                    <a:pt x="39769" y="461383"/>
                    <a:pt x="25620" y="461383"/>
                  </a:cubicBezTo>
                  <a:lnTo>
                    <a:pt x="25620" y="461383"/>
                  </a:lnTo>
                  <a:cubicBezTo>
                    <a:pt x="11470" y="461383"/>
                    <a:pt x="0" y="449913"/>
                    <a:pt x="0" y="435763"/>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8" name="TextBox 28"/>
            <p:cNvSpPr txBox="1"/>
            <p:nvPr/>
          </p:nvSpPr>
          <p:spPr>
            <a:xfrm>
              <a:off x="0" y="-19050"/>
              <a:ext cx="51240" cy="480433"/>
            </a:xfrm>
            <a:prstGeom prst="rect">
              <a:avLst/>
            </a:prstGeom>
          </p:spPr>
          <p:txBody>
            <a:bodyPr lIns="52604" tIns="52604" rIns="52604" bIns="52604" rtlCol="0" anchor="ctr"/>
            <a:lstStyle/>
            <a:p>
              <a:pPr algn="ctr">
                <a:lnSpc>
                  <a:spcPts val="1679"/>
                </a:lnSpc>
              </a:pPr>
              <a:endParaRPr/>
            </a:p>
          </p:txBody>
        </p:sp>
      </p:grpSp>
      <p:sp>
        <p:nvSpPr>
          <p:cNvPr id="29" name="TextBox 29"/>
          <p:cNvSpPr txBox="1"/>
          <p:nvPr/>
        </p:nvSpPr>
        <p:spPr>
          <a:xfrm>
            <a:off x="10061156" y="6498832"/>
            <a:ext cx="7270239" cy="1564005"/>
          </a:xfrm>
          <a:prstGeom prst="rect">
            <a:avLst/>
          </a:prstGeom>
        </p:spPr>
        <p:txBody>
          <a:bodyPr lIns="0" tIns="0" rIns="0" bIns="0" rtlCol="0" anchor="t">
            <a:spAutoFit/>
          </a:bodyPr>
          <a:lstStyle/>
          <a:p>
            <a:pPr marL="388620" lvl="1" indent="-194310" algn="just">
              <a:lnSpc>
                <a:spcPts val="2520"/>
              </a:lnSpc>
              <a:spcBef>
                <a:spcPct val="0"/>
              </a:spcBef>
              <a:buFont typeface="Arial"/>
              <a:buChar char="•"/>
            </a:pPr>
            <a:r>
              <a:rPr lang="en-US" sz="1800" dirty="0">
                <a:solidFill>
                  <a:srgbClr val="000000"/>
                </a:solidFill>
                <a:latin typeface="Montserrat"/>
                <a:ea typeface="Montserrat"/>
                <a:cs typeface="Montserrat"/>
                <a:sym typeface="Montserrat"/>
              </a:rPr>
              <a:t>Transaction</a:t>
            </a:r>
            <a:r>
              <a:rPr lang="en-US" sz="1800" u="none" strike="noStrike" dirty="0">
                <a:solidFill>
                  <a:srgbClr val="000000"/>
                </a:solidFill>
                <a:latin typeface="Montserrat"/>
                <a:ea typeface="Montserrat"/>
                <a:cs typeface="Montserrat"/>
                <a:sym typeface="Montserrat"/>
              </a:rPr>
              <a:t>s rise 2.9x, while the average ticket shrinks 2.6%, so volume explains the whole gap</a:t>
            </a:r>
          </a:p>
          <a:p>
            <a:pPr marL="388620" lvl="1" indent="-194310" algn="just">
              <a:lnSpc>
                <a:spcPts val="2520"/>
              </a:lnSpc>
              <a:spcBef>
                <a:spcPct val="0"/>
              </a:spcBef>
              <a:buFont typeface="Arial"/>
              <a:buChar char="•"/>
            </a:pPr>
            <a:r>
              <a:rPr lang="en-US" sz="1800" u="none" strike="noStrike" dirty="0">
                <a:solidFill>
                  <a:srgbClr val="000000"/>
                </a:solidFill>
                <a:latin typeface="Montserrat"/>
                <a:ea typeface="Montserrat"/>
                <a:cs typeface="Montserrat"/>
                <a:sym typeface="Montserrat"/>
              </a:rPr>
              <a:t>Same customers (918 vs 919), each buying 306 vs 106 times; all 14 categories double, and the spending mix stays unchanged</a:t>
            </a:r>
          </a:p>
        </p:txBody>
      </p:sp>
      <p:sp>
        <p:nvSpPr>
          <p:cNvPr id="30" name="TextBox 30"/>
          <p:cNvSpPr txBox="1"/>
          <p:nvPr/>
        </p:nvSpPr>
        <p:spPr>
          <a:xfrm>
            <a:off x="923268" y="8548618"/>
            <a:ext cx="16957320" cy="692150"/>
          </a:xfrm>
          <a:prstGeom prst="rect">
            <a:avLst/>
          </a:prstGeom>
        </p:spPr>
        <p:txBody>
          <a:bodyPr lIns="0" tIns="0" rIns="0" bIns="0" rtlCol="0" anchor="t">
            <a:spAutoFit/>
          </a:bodyPr>
          <a:lstStyle/>
          <a:p>
            <a:pPr algn="just">
              <a:lnSpc>
                <a:spcPts val="2800"/>
              </a:lnSpc>
              <a:spcBef>
                <a:spcPct val="0"/>
              </a:spcBef>
            </a:pPr>
            <a:r>
              <a:rPr lang="en-US" sz="2000" b="1">
                <a:solidFill>
                  <a:srgbClr val="EE806B"/>
                </a:solidFill>
                <a:latin typeface="Montserrat Bold"/>
                <a:ea typeface="Montserrat Bold"/>
                <a:cs typeface="Montserrat Bold"/>
                <a:sym typeface="Montserrat Bold"/>
              </a:rPr>
              <a:t>December is the peak spending month because customers buy almost three times as often, not because they buy bigger: each transaction is even 2.6% smaller than in February. These frequent, ordinary purchases add up to overspending in this month. </a:t>
            </a:r>
          </a:p>
        </p:txBody>
      </p:sp>
      <p:grpSp>
        <p:nvGrpSpPr>
          <p:cNvPr id="31" name="Group 31"/>
          <p:cNvGrpSpPr/>
          <p:nvPr/>
        </p:nvGrpSpPr>
        <p:grpSpPr>
          <a:xfrm>
            <a:off x="1074047" y="6342929"/>
            <a:ext cx="200528" cy="1805639"/>
            <a:chOff x="0" y="0"/>
            <a:chExt cx="51240" cy="461383"/>
          </a:xfrm>
        </p:grpSpPr>
        <p:sp>
          <p:nvSpPr>
            <p:cNvPr id="32" name="Freeform 32"/>
            <p:cNvSpPr/>
            <p:nvPr/>
          </p:nvSpPr>
          <p:spPr>
            <a:xfrm>
              <a:off x="0" y="0"/>
              <a:ext cx="51240" cy="461383"/>
            </a:xfrm>
            <a:custGeom>
              <a:avLst/>
              <a:gdLst/>
              <a:ahLst/>
              <a:cxnLst/>
              <a:rect l="l" t="t" r="r" b="b"/>
              <a:pathLst>
                <a:path w="51240" h="461383">
                  <a:moveTo>
                    <a:pt x="25620" y="0"/>
                  </a:moveTo>
                  <a:lnTo>
                    <a:pt x="25620" y="0"/>
                  </a:lnTo>
                  <a:cubicBezTo>
                    <a:pt x="32415" y="0"/>
                    <a:pt x="38931" y="2699"/>
                    <a:pt x="43736" y="7504"/>
                  </a:cubicBezTo>
                  <a:cubicBezTo>
                    <a:pt x="48540" y="12309"/>
                    <a:pt x="51240" y="18825"/>
                    <a:pt x="51240" y="25620"/>
                  </a:cubicBezTo>
                  <a:lnTo>
                    <a:pt x="51240" y="435763"/>
                  </a:lnTo>
                  <a:cubicBezTo>
                    <a:pt x="51240" y="449913"/>
                    <a:pt x="39769" y="461383"/>
                    <a:pt x="25620" y="461383"/>
                  </a:cubicBezTo>
                  <a:lnTo>
                    <a:pt x="25620" y="461383"/>
                  </a:lnTo>
                  <a:cubicBezTo>
                    <a:pt x="11470" y="461383"/>
                    <a:pt x="0" y="449913"/>
                    <a:pt x="0" y="435763"/>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33" name="TextBox 33"/>
            <p:cNvSpPr txBox="1"/>
            <p:nvPr/>
          </p:nvSpPr>
          <p:spPr>
            <a:xfrm>
              <a:off x="0" y="-19050"/>
              <a:ext cx="51240" cy="480433"/>
            </a:xfrm>
            <a:prstGeom prst="rect">
              <a:avLst/>
            </a:prstGeom>
          </p:spPr>
          <p:txBody>
            <a:bodyPr lIns="52604" tIns="52604" rIns="52604" bIns="52604" rtlCol="0" anchor="ctr"/>
            <a:lstStyle/>
            <a:p>
              <a:pPr algn="ctr">
                <a:lnSpc>
                  <a:spcPts val="1679"/>
                </a:lnSpc>
              </a:pPr>
              <a:endParaRPr/>
            </a:p>
          </p:txBody>
        </p:sp>
      </p:grpSp>
      <p:sp>
        <p:nvSpPr>
          <p:cNvPr id="34" name="TextBox 34"/>
          <p:cNvSpPr txBox="1"/>
          <p:nvPr/>
        </p:nvSpPr>
        <p:spPr>
          <a:xfrm>
            <a:off x="3338781" y="6167511"/>
            <a:ext cx="2304455"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 Total spend by month, 2025</a:t>
            </a:r>
          </a:p>
        </p:txBody>
      </p:sp>
      <p:sp>
        <p:nvSpPr>
          <p:cNvPr id="35" name="TextBox 35"/>
          <p:cNvSpPr txBox="1"/>
          <p:nvPr/>
        </p:nvSpPr>
        <p:spPr>
          <a:xfrm>
            <a:off x="8750113" y="6095608"/>
            <a:ext cx="10548563" cy="346074"/>
          </a:xfrm>
          <a:prstGeom prst="rect">
            <a:avLst/>
          </a:prstGeom>
        </p:spPr>
        <p:txBody>
          <a:bodyPr lIns="0" tIns="0" rIns="0" bIns="0" rtlCol="0" anchor="t">
            <a:spAutoFit/>
          </a:bodyPr>
          <a:lstStyle/>
          <a:p>
            <a:pPr marL="0" lvl="0" indent="0" algn="ctr">
              <a:lnSpc>
                <a:spcPts val="1400"/>
              </a:lnSpc>
              <a:spcBef>
                <a:spcPct val="0"/>
              </a:spcBef>
            </a:pPr>
            <a:r>
              <a:rPr lang="en-US" sz="1000" u="none" strike="noStrike">
                <a:solidFill>
                  <a:srgbClr val="000000"/>
                </a:solidFill>
                <a:latin typeface="Montserrat"/>
                <a:ea typeface="Montserrat"/>
                <a:cs typeface="Montserrat"/>
                <a:sym typeface="Montserrat"/>
              </a:rPr>
              <a:t>Figure 2. Transaction count and average ticket size, indexed to February = 100</a:t>
            </a:r>
          </a:p>
          <a:p>
            <a:pPr marL="0" lvl="0" indent="0" algn="ctr">
              <a:lnSpc>
                <a:spcPts val="1400"/>
              </a:lnSpc>
              <a:spcBef>
                <a:spcPct val="0"/>
              </a:spcBef>
            </a:pPr>
            <a:endParaRPr lang="en-US" sz="1000" u="none" strike="noStrike">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422971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Overview</a:t>
              </a:r>
            </a:p>
            <a:p>
              <a:pPr algn="l">
                <a:lnSpc>
                  <a:spcPts val="3500"/>
                </a:lnSpc>
              </a:pPr>
              <a:r>
                <a:rPr lang="en-US" sz="2500">
                  <a:solidFill>
                    <a:srgbClr val="000000"/>
                  </a:solidFill>
                  <a:latin typeface="Montserrat"/>
                  <a:ea typeface="Montserrat"/>
                  <a:cs typeface="Montserrat"/>
                  <a:sym typeface="Montserrat"/>
                </a:rPr>
                <a:t>Fuel gets swiped most often, but groceries take the biggest share of wallet (Task 1, Q4)</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Freeform 15"/>
          <p:cNvSpPr/>
          <p:nvPr/>
        </p:nvSpPr>
        <p:spPr>
          <a:xfrm>
            <a:off x="367405" y="2207517"/>
            <a:ext cx="11839452" cy="4862733"/>
          </a:xfrm>
          <a:custGeom>
            <a:avLst/>
            <a:gdLst/>
            <a:ahLst/>
            <a:cxnLst/>
            <a:rect l="l" t="t" r="r" b="b"/>
            <a:pathLst>
              <a:path w="11839452" h="4862733">
                <a:moveTo>
                  <a:pt x="0" y="0"/>
                </a:moveTo>
                <a:lnTo>
                  <a:pt x="11839452" y="0"/>
                </a:lnTo>
                <a:lnTo>
                  <a:pt x="11839452" y="4862733"/>
                </a:lnTo>
                <a:lnTo>
                  <a:pt x="0" y="4862733"/>
                </a:lnTo>
                <a:lnTo>
                  <a:pt x="0" y="0"/>
                </a:lnTo>
                <a:close/>
              </a:path>
            </a:pathLst>
          </a:custGeom>
          <a:blipFill>
            <a:blip r:embed="rId3"/>
            <a:stretch>
              <a:fillRect t="-17046" b="-8798"/>
            </a:stretch>
          </a:blipFill>
        </p:spPr>
        <p:txBody>
          <a:bodyPr/>
          <a:lstStyle/>
          <a:p>
            <a:endParaRPr lang="en-US"/>
          </a:p>
        </p:txBody>
      </p:sp>
      <p:sp>
        <p:nvSpPr>
          <p:cNvPr id="16" name="TextBox 16"/>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7" name="TextBox 17"/>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Exploratory Analysis</a:t>
            </a:r>
          </a:p>
        </p:txBody>
      </p:sp>
      <p:sp>
        <p:nvSpPr>
          <p:cNvPr id="18" name="TextBox 18"/>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ntserrat"/>
                <a:ea typeface="Montserrat"/>
                <a:cs typeface="Montserrat"/>
                <a:sym typeface="Montserrat"/>
              </a:rPr>
              <a:t>Detailed Analysis</a:t>
            </a:r>
          </a:p>
        </p:txBody>
      </p:sp>
      <p:sp>
        <p:nvSpPr>
          <p:cNvPr id="19" name="TextBox 19"/>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0" name="TextBox 20"/>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1" name="TextBox 21"/>
          <p:cNvSpPr txBox="1"/>
          <p:nvPr/>
        </p:nvSpPr>
        <p:spPr>
          <a:xfrm>
            <a:off x="734806" y="7403019"/>
            <a:ext cx="11222104" cy="850900"/>
          </a:xfrm>
          <a:prstGeom prst="rect">
            <a:avLst/>
          </a:prstGeom>
        </p:spPr>
        <p:txBody>
          <a:bodyPr lIns="0" tIns="0" rIns="0" bIns="0" rtlCol="0" anchor="t">
            <a:spAutoFit/>
          </a:bodyPr>
          <a:lstStyle/>
          <a:p>
            <a:pPr marL="0" lvl="0" indent="0" algn="just">
              <a:lnSpc>
                <a:spcPts val="3499"/>
              </a:lnSpc>
              <a:spcBef>
                <a:spcPct val="0"/>
              </a:spcBef>
            </a:pPr>
            <a:r>
              <a:rPr lang="en-US" sz="2499" b="1" u="none" strike="noStrike">
                <a:solidFill>
                  <a:srgbClr val="EE806B"/>
                </a:solidFill>
                <a:latin typeface="Montserrat Bold"/>
                <a:ea typeface="Montserrat Bold"/>
                <a:cs typeface="Montserrat Bold"/>
                <a:sym typeface="Montserrat Bold"/>
              </a:rPr>
              <a:t>Fuel is a small, repeated top-up; groceries are a basket nearly twice as large. Frequency builds engagement, basket size builds value.</a:t>
            </a:r>
          </a:p>
        </p:txBody>
      </p:sp>
      <p:sp>
        <p:nvSpPr>
          <p:cNvPr id="22" name="TextBox 22"/>
          <p:cNvSpPr txBox="1"/>
          <p:nvPr/>
        </p:nvSpPr>
        <p:spPr>
          <a:xfrm>
            <a:off x="12730199" y="6642662"/>
            <a:ext cx="4782545" cy="1397000"/>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a:solidFill>
                  <a:srgbClr val="000000"/>
                </a:solidFill>
                <a:latin typeface="Montserrat"/>
                <a:ea typeface="Montserrat"/>
                <a:cs typeface="Montserrat"/>
                <a:sym typeface="Montserrat"/>
              </a:rPr>
              <a:t>Visit frequency is almost the same (17.1 vs 16.0 transactions per customer-month), and both are POS-heavy (69.8% and 75.1% POS).</a:t>
            </a:r>
          </a:p>
        </p:txBody>
      </p:sp>
      <p:grpSp>
        <p:nvGrpSpPr>
          <p:cNvPr id="23" name="Group 23"/>
          <p:cNvGrpSpPr/>
          <p:nvPr/>
        </p:nvGrpSpPr>
        <p:grpSpPr>
          <a:xfrm>
            <a:off x="12370602" y="2321817"/>
            <a:ext cx="5294674" cy="434201"/>
            <a:chOff x="0" y="0"/>
            <a:chExt cx="1400953" cy="114888"/>
          </a:xfrm>
        </p:grpSpPr>
        <p:sp>
          <p:nvSpPr>
            <p:cNvPr id="24" name="Freeform 24"/>
            <p:cNvSpPr/>
            <p:nvPr/>
          </p:nvSpPr>
          <p:spPr>
            <a:xfrm>
              <a:off x="0" y="0"/>
              <a:ext cx="1400954" cy="114888"/>
            </a:xfrm>
            <a:custGeom>
              <a:avLst/>
              <a:gdLst/>
              <a:ahLst/>
              <a:cxnLst/>
              <a:rect l="l" t="t" r="r" b="b"/>
              <a:pathLst>
                <a:path w="1400954" h="114888">
                  <a:moveTo>
                    <a:pt x="0" y="0"/>
                  </a:moveTo>
                  <a:lnTo>
                    <a:pt x="1400954" y="0"/>
                  </a:lnTo>
                  <a:lnTo>
                    <a:pt x="1400954" y="114888"/>
                  </a:lnTo>
                  <a:lnTo>
                    <a:pt x="0" y="114888"/>
                  </a:lnTo>
                  <a:close/>
                </a:path>
              </a:pathLst>
            </a:custGeom>
            <a:solidFill>
              <a:srgbClr val="E15F4B"/>
            </a:solidFill>
          </p:spPr>
          <p:txBody>
            <a:bodyPr/>
            <a:lstStyle/>
            <a:p>
              <a:endParaRPr lang="en-US"/>
            </a:p>
          </p:txBody>
        </p:sp>
        <p:sp>
          <p:nvSpPr>
            <p:cNvPr id="25" name="TextBox 25"/>
            <p:cNvSpPr txBox="1"/>
            <p:nvPr/>
          </p:nvSpPr>
          <p:spPr>
            <a:xfrm>
              <a:off x="0" y="-19050"/>
              <a:ext cx="1400953" cy="133938"/>
            </a:xfrm>
            <a:prstGeom prst="rect">
              <a:avLst/>
            </a:prstGeom>
          </p:spPr>
          <p:txBody>
            <a:bodyPr lIns="50800" tIns="50800" rIns="50800" bIns="50800" rtlCol="0" anchor="ctr"/>
            <a:lstStyle/>
            <a:p>
              <a:pPr algn="ctr">
                <a:lnSpc>
                  <a:spcPts val="1679"/>
                </a:lnSpc>
              </a:pPr>
              <a:endParaRPr/>
            </a:p>
          </p:txBody>
        </p:sp>
      </p:grpSp>
      <p:grpSp>
        <p:nvGrpSpPr>
          <p:cNvPr id="26" name="Group 26"/>
          <p:cNvGrpSpPr/>
          <p:nvPr/>
        </p:nvGrpSpPr>
        <p:grpSpPr>
          <a:xfrm>
            <a:off x="12556151" y="3013193"/>
            <a:ext cx="200528" cy="1518095"/>
            <a:chOff x="0" y="0"/>
            <a:chExt cx="51240" cy="387909"/>
          </a:xfrm>
        </p:grpSpPr>
        <p:sp>
          <p:nvSpPr>
            <p:cNvPr id="27" name="Freeform 27"/>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8" name="TextBox 28"/>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29" name="TextBox 29"/>
          <p:cNvSpPr txBox="1"/>
          <p:nvPr/>
        </p:nvSpPr>
        <p:spPr>
          <a:xfrm>
            <a:off x="12656416" y="3022250"/>
            <a:ext cx="4812447" cy="1397000"/>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Montserrat"/>
                <a:ea typeface="Montserrat"/>
                <a:cs typeface="Montserrat"/>
                <a:sym typeface="Montserrat"/>
              </a:rPr>
              <a:t>By transaction count: Fuel &amp; transport, 188,029 transactions (10.2%), average ticket VND 1,586,933.</a:t>
            </a:r>
          </a:p>
        </p:txBody>
      </p:sp>
      <p:sp>
        <p:nvSpPr>
          <p:cNvPr id="30" name="TextBox 30"/>
          <p:cNvSpPr txBox="1"/>
          <p:nvPr/>
        </p:nvSpPr>
        <p:spPr>
          <a:xfrm>
            <a:off x="12656416" y="4832456"/>
            <a:ext cx="4812447" cy="1397000"/>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a:solidFill>
                  <a:srgbClr val="000000"/>
                </a:solidFill>
                <a:latin typeface="Montserrat"/>
                <a:ea typeface="Montserrat"/>
                <a:cs typeface="Montserrat"/>
                <a:sym typeface="Montserrat"/>
              </a:rPr>
              <a:t>By spend: Supermarket &amp; grocery (in-store), VND 513.8 bn (15.8%), average ticket VND 2,916,003, which is 1.84x larger.</a:t>
            </a:r>
          </a:p>
        </p:txBody>
      </p:sp>
      <p:grpSp>
        <p:nvGrpSpPr>
          <p:cNvPr id="31" name="Group 31"/>
          <p:cNvGrpSpPr/>
          <p:nvPr/>
        </p:nvGrpSpPr>
        <p:grpSpPr>
          <a:xfrm>
            <a:off x="12556151" y="4792502"/>
            <a:ext cx="200528" cy="1518095"/>
            <a:chOff x="0" y="0"/>
            <a:chExt cx="51240" cy="387909"/>
          </a:xfrm>
        </p:grpSpPr>
        <p:sp>
          <p:nvSpPr>
            <p:cNvPr id="32" name="Freeform 32"/>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33" name="TextBox 33"/>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grpSp>
        <p:nvGrpSpPr>
          <p:cNvPr id="34" name="Group 34"/>
          <p:cNvGrpSpPr/>
          <p:nvPr/>
        </p:nvGrpSpPr>
        <p:grpSpPr>
          <a:xfrm>
            <a:off x="12556151" y="6682071"/>
            <a:ext cx="200528" cy="1518095"/>
            <a:chOff x="0" y="0"/>
            <a:chExt cx="51240" cy="387909"/>
          </a:xfrm>
        </p:grpSpPr>
        <p:sp>
          <p:nvSpPr>
            <p:cNvPr id="35" name="Freeform 35"/>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36" name="TextBox 36"/>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37" name="TextBox 37"/>
          <p:cNvSpPr txBox="1"/>
          <p:nvPr/>
        </p:nvSpPr>
        <p:spPr>
          <a:xfrm>
            <a:off x="5449580" y="6999794"/>
            <a:ext cx="3829407" cy="346074"/>
          </a:xfrm>
          <a:prstGeom prst="rect">
            <a:avLst/>
          </a:prstGeom>
        </p:spPr>
        <p:txBody>
          <a:bodyPr lIns="0" tIns="0" rIns="0" bIns="0" rtlCol="0" anchor="t">
            <a:spAutoFit/>
          </a:bodyPr>
          <a:lstStyle/>
          <a:p>
            <a:pPr marL="0" lvl="0" indent="0" algn="ctr">
              <a:lnSpc>
                <a:spcPts val="1400"/>
              </a:lnSpc>
              <a:spcBef>
                <a:spcPct val="0"/>
              </a:spcBef>
            </a:pPr>
            <a:r>
              <a:rPr lang="en-US" sz="1000" u="none" strike="noStrike">
                <a:solidFill>
                  <a:srgbClr val="000000"/>
                </a:solidFill>
                <a:latin typeface="Montserrat"/>
                <a:ea typeface="Montserrat"/>
                <a:cs typeface="Montserrat"/>
                <a:sym typeface="Montserrat"/>
              </a:rPr>
              <a:t>Figure 3. Transactions, spend and average ticket by category</a:t>
            </a:r>
          </a:p>
          <a:p>
            <a:pPr marL="0" lvl="0" indent="0" algn="ctr">
              <a:lnSpc>
                <a:spcPts val="1400"/>
              </a:lnSpc>
              <a:spcBef>
                <a:spcPct val="0"/>
              </a:spcBef>
            </a:pPr>
            <a:endParaRPr lang="en-US" sz="1000" u="none" strike="noStrike">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422971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Overview</a:t>
              </a:r>
            </a:p>
            <a:p>
              <a:pPr algn="l">
                <a:lnSpc>
                  <a:spcPts val="3500"/>
                </a:lnSpc>
              </a:pPr>
              <a:r>
                <a:rPr lang="en-US" sz="2500">
                  <a:solidFill>
                    <a:srgbClr val="000000"/>
                  </a:solidFill>
                  <a:latin typeface="Montserrat"/>
                  <a:ea typeface="Montserrat"/>
                  <a:cs typeface="Montserrat"/>
                  <a:sym typeface="Montserrat"/>
                </a:rPr>
                <a:t>Customers use every channel, and where they live matters less than their age (Task 3, Q2 -Task 1, Q3)</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AutoShape 15"/>
          <p:cNvSpPr/>
          <p:nvPr/>
        </p:nvSpPr>
        <p:spPr>
          <a:xfrm flipH="1">
            <a:off x="9149272" y="1653478"/>
            <a:ext cx="4253" cy="6409359"/>
          </a:xfrm>
          <a:prstGeom prst="line">
            <a:avLst/>
          </a:prstGeom>
          <a:ln w="19050" cap="flat">
            <a:solidFill>
              <a:srgbClr val="B4B4B4"/>
            </a:solidFill>
            <a:prstDash val="solid"/>
            <a:headEnd type="none" w="sm" len="sm"/>
            <a:tailEnd type="none" w="sm" len="sm"/>
          </a:ln>
        </p:spPr>
        <p:txBody>
          <a:bodyPr/>
          <a:lstStyle/>
          <a:p>
            <a:endParaRPr lang="en-US"/>
          </a:p>
        </p:txBody>
      </p:sp>
      <p:sp>
        <p:nvSpPr>
          <p:cNvPr id="16" name="Freeform 16"/>
          <p:cNvSpPr/>
          <p:nvPr/>
        </p:nvSpPr>
        <p:spPr>
          <a:xfrm>
            <a:off x="9565516" y="2133372"/>
            <a:ext cx="7765879" cy="3010128"/>
          </a:xfrm>
          <a:custGeom>
            <a:avLst/>
            <a:gdLst/>
            <a:ahLst/>
            <a:cxnLst/>
            <a:rect l="l" t="t" r="r" b="b"/>
            <a:pathLst>
              <a:path w="7765879" h="3010128">
                <a:moveTo>
                  <a:pt x="0" y="0"/>
                </a:moveTo>
                <a:lnTo>
                  <a:pt x="7765879" y="0"/>
                </a:lnTo>
                <a:lnTo>
                  <a:pt x="7765879" y="3010128"/>
                </a:lnTo>
                <a:lnTo>
                  <a:pt x="0" y="3010128"/>
                </a:lnTo>
                <a:lnTo>
                  <a:pt x="0" y="0"/>
                </a:lnTo>
                <a:close/>
              </a:path>
            </a:pathLst>
          </a:custGeom>
          <a:blipFill>
            <a:blip r:embed="rId3"/>
            <a:stretch>
              <a:fillRect t="-16704" b="-9549"/>
            </a:stretch>
          </a:blipFill>
        </p:spPr>
        <p:txBody>
          <a:bodyPr/>
          <a:lstStyle/>
          <a:p>
            <a:endParaRPr lang="en-US"/>
          </a:p>
        </p:txBody>
      </p:sp>
      <p:sp>
        <p:nvSpPr>
          <p:cNvPr id="17" name="Freeform 17"/>
          <p:cNvSpPr/>
          <p:nvPr/>
        </p:nvSpPr>
        <p:spPr>
          <a:xfrm>
            <a:off x="9382054" y="7176312"/>
            <a:ext cx="4857001" cy="2411127"/>
          </a:xfrm>
          <a:custGeom>
            <a:avLst/>
            <a:gdLst/>
            <a:ahLst/>
            <a:cxnLst/>
            <a:rect l="l" t="t" r="r" b="b"/>
            <a:pathLst>
              <a:path w="4857001" h="2411127">
                <a:moveTo>
                  <a:pt x="0" y="0"/>
                </a:moveTo>
                <a:lnTo>
                  <a:pt x="4857001" y="0"/>
                </a:lnTo>
                <a:lnTo>
                  <a:pt x="4857001" y="2411127"/>
                </a:lnTo>
                <a:lnTo>
                  <a:pt x="0" y="2411127"/>
                </a:lnTo>
                <a:lnTo>
                  <a:pt x="0" y="0"/>
                </a:lnTo>
                <a:close/>
              </a:path>
            </a:pathLst>
          </a:custGeom>
          <a:blipFill>
            <a:blip r:embed="rId4"/>
            <a:stretch>
              <a:fillRect t="-22814" b="-8877"/>
            </a:stretch>
          </a:blipFill>
        </p:spPr>
        <p:txBody>
          <a:bodyPr/>
          <a:lstStyle/>
          <a:p>
            <a:endParaRPr lang="en-US"/>
          </a:p>
        </p:txBody>
      </p:sp>
      <p:sp>
        <p:nvSpPr>
          <p:cNvPr id="18" name="Freeform 18"/>
          <p:cNvSpPr/>
          <p:nvPr/>
        </p:nvSpPr>
        <p:spPr>
          <a:xfrm>
            <a:off x="594771" y="2133372"/>
            <a:ext cx="8144926" cy="3010128"/>
          </a:xfrm>
          <a:custGeom>
            <a:avLst/>
            <a:gdLst/>
            <a:ahLst/>
            <a:cxnLst/>
            <a:rect l="l" t="t" r="r" b="b"/>
            <a:pathLst>
              <a:path w="8144926" h="3010128">
                <a:moveTo>
                  <a:pt x="0" y="0"/>
                </a:moveTo>
                <a:lnTo>
                  <a:pt x="8144926" y="0"/>
                </a:lnTo>
                <a:lnTo>
                  <a:pt x="8144926" y="3010128"/>
                </a:lnTo>
                <a:lnTo>
                  <a:pt x="0" y="3010128"/>
                </a:lnTo>
                <a:lnTo>
                  <a:pt x="0" y="0"/>
                </a:lnTo>
                <a:close/>
              </a:path>
            </a:pathLst>
          </a:custGeom>
          <a:blipFill>
            <a:blip r:embed="rId5"/>
            <a:stretch>
              <a:fillRect t="-18571" b="-9110"/>
            </a:stretch>
          </a:blipFill>
        </p:spPr>
        <p:txBody>
          <a:bodyPr/>
          <a:lstStyle/>
          <a:p>
            <a:endParaRPr lang="en-US"/>
          </a:p>
        </p:txBody>
      </p:sp>
      <p:sp>
        <p:nvSpPr>
          <p:cNvPr id="19" name="TextBox 19"/>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20" name="TextBox 20"/>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Exploratory Analysis</a:t>
            </a:r>
          </a:p>
        </p:txBody>
      </p:sp>
      <p:sp>
        <p:nvSpPr>
          <p:cNvPr id="21" name="TextBox 21"/>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Montserrat"/>
                <a:ea typeface="Montserrat"/>
                <a:cs typeface="Montserrat"/>
                <a:sym typeface="Montserrat"/>
              </a:rPr>
              <a:t>Detailed Analysis</a:t>
            </a:r>
          </a:p>
        </p:txBody>
      </p:sp>
      <p:sp>
        <p:nvSpPr>
          <p:cNvPr id="22" name="TextBox 22"/>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3" name="TextBox 23"/>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4" name="TextBox 24"/>
          <p:cNvSpPr txBox="1"/>
          <p:nvPr/>
        </p:nvSpPr>
        <p:spPr>
          <a:xfrm>
            <a:off x="734806" y="1615378"/>
            <a:ext cx="8030646" cy="306705"/>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CHANNELS</a:t>
            </a:r>
            <a:r>
              <a:rPr lang="en-US" sz="1800" b="1">
                <a:solidFill>
                  <a:srgbClr val="EE806B"/>
                </a:solidFill>
                <a:latin typeface="Montserrat Bold"/>
                <a:ea typeface="Montserrat Bold"/>
                <a:cs typeface="Montserrat Bold"/>
                <a:sym typeface="Montserrat Bold"/>
              </a:rPr>
              <a:t>:</a:t>
            </a:r>
            <a:r>
              <a:rPr lang="en-US" sz="1800">
                <a:solidFill>
                  <a:srgbClr val="000000"/>
                </a:solidFill>
                <a:latin typeface="Montserrat"/>
                <a:ea typeface="Montserrat"/>
                <a:cs typeface="Montserrat"/>
                <a:sym typeface="Montserrat"/>
              </a:rPr>
              <a:t> Everyone tries every channel, but online use stays shallow</a:t>
            </a:r>
          </a:p>
        </p:txBody>
      </p:sp>
      <p:sp>
        <p:nvSpPr>
          <p:cNvPr id="25" name="TextBox 25"/>
          <p:cNvSpPr txBox="1"/>
          <p:nvPr/>
        </p:nvSpPr>
        <p:spPr>
          <a:xfrm>
            <a:off x="9788726" y="1615378"/>
            <a:ext cx="7583091" cy="306705"/>
          </a:xfrm>
          <a:prstGeom prst="rect">
            <a:avLst/>
          </a:prstGeom>
        </p:spPr>
        <p:txBody>
          <a:bodyPr lIns="0" tIns="0" rIns="0" bIns="0" rtlCol="0" anchor="t">
            <a:spAutoFit/>
          </a:bodyPr>
          <a:lstStyle/>
          <a:p>
            <a:pPr marL="0" lvl="0" indent="0" algn="ctr">
              <a:lnSpc>
                <a:spcPts val="2520"/>
              </a:lnSpc>
              <a:spcBef>
                <a:spcPct val="0"/>
              </a:spcBef>
            </a:pPr>
            <a:r>
              <a:rPr lang="en-US" sz="1800" b="1" u="none" strike="noStrike">
                <a:solidFill>
                  <a:srgbClr val="FF751F"/>
                </a:solidFill>
                <a:latin typeface="Montserrat Bold"/>
                <a:ea typeface="Montserrat Bold"/>
                <a:cs typeface="Montserrat Bold"/>
                <a:sym typeface="Montserrat Bold"/>
              </a:rPr>
              <a:t>GEOGRAPHY VS AGE: </a:t>
            </a:r>
            <a:r>
              <a:rPr lang="en-US" sz="1800" u="none" strike="noStrike">
                <a:solidFill>
                  <a:srgbClr val="000000"/>
                </a:solidFill>
                <a:latin typeface="Montserrat"/>
                <a:ea typeface="Montserrat"/>
                <a:cs typeface="Montserrat"/>
                <a:sym typeface="Montserrat"/>
              </a:rPr>
              <a:t>The digital gap is generational, not regional</a:t>
            </a:r>
          </a:p>
        </p:txBody>
      </p:sp>
      <p:sp>
        <p:nvSpPr>
          <p:cNvPr id="26" name="TextBox 26"/>
          <p:cNvSpPr txBox="1"/>
          <p:nvPr/>
        </p:nvSpPr>
        <p:spPr>
          <a:xfrm>
            <a:off x="811736" y="5372100"/>
            <a:ext cx="7953717" cy="1397000"/>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Montserrat"/>
                <a:ea typeface="Montserrat"/>
                <a:cs typeface="Montserrat"/>
                <a:sym typeface="Montserrat"/>
              </a:rPr>
              <a:t>925 of 999 customers use all five channels, yet POS still carries 59% of transactions</a:t>
            </a:r>
          </a:p>
          <a:p>
            <a:pPr marL="431801" lvl="1" indent="-215900" algn="just">
              <a:lnSpc>
                <a:spcPts val="2800"/>
              </a:lnSpc>
              <a:buFont typeface="Arial"/>
              <a:buChar char="•"/>
            </a:pPr>
            <a:r>
              <a:rPr lang="en-US" sz="2000">
                <a:solidFill>
                  <a:srgbClr val="000000"/>
                </a:solidFill>
                <a:latin typeface="Montserrat"/>
                <a:ea typeface="Montserrat"/>
                <a:cs typeface="Montserrat"/>
                <a:sym typeface="Montserrat"/>
              </a:rPr>
              <a:t>Only 21% of spend is online (41% including QR); Recurring Payment is just 4.9%, the channel with the most headroom</a:t>
            </a:r>
          </a:p>
        </p:txBody>
      </p:sp>
      <p:grpSp>
        <p:nvGrpSpPr>
          <p:cNvPr id="27" name="Group 27"/>
          <p:cNvGrpSpPr/>
          <p:nvPr/>
        </p:nvGrpSpPr>
        <p:grpSpPr>
          <a:xfrm>
            <a:off x="630715" y="5276850"/>
            <a:ext cx="104092" cy="1625600"/>
            <a:chOff x="0" y="0"/>
            <a:chExt cx="26598" cy="415379"/>
          </a:xfrm>
        </p:grpSpPr>
        <p:sp>
          <p:nvSpPr>
            <p:cNvPr id="28" name="Freeform 28"/>
            <p:cNvSpPr/>
            <p:nvPr/>
          </p:nvSpPr>
          <p:spPr>
            <a:xfrm>
              <a:off x="0" y="0"/>
              <a:ext cx="26598" cy="415379"/>
            </a:xfrm>
            <a:custGeom>
              <a:avLst/>
              <a:gdLst/>
              <a:ahLst/>
              <a:cxnLst/>
              <a:rect l="l" t="t" r="r" b="b"/>
              <a:pathLst>
                <a:path w="26598" h="415379">
                  <a:moveTo>
                    <a:pt x="13299" y="0"/>
                  </a:moveTo>
                  <a:lnTo>
                    <a:pt x="13299" y="0"/>
                  </a:lnTo>
                  <a:cubicBezTo>
                    <a:pt x="16826" y="0"/>
                    <a:pt x="20209" y="1401"/>
                    <a:pt x="22703" y="3895"/>
                  </a:cubicBezTo>
                  <a:cubicBezTo>
                    <a:pt x="25197" y="6389"/>
                    <a:pt x="26598" y="9772"/>
                    <a:pt x="26598" y="13299"/>
                  </a:cubicBezTo>
                  <a:lnTo>
                    <a:pt x="26598" y="402080"/>
                  </a:lnTo>
                  <a:cubicBezTo>
                    <a:pt x="26598" y="409425"/>
                    <a:pt x="20644" y="415379"/>
                    <a:pt x="13299" y="415379"/>
                  </a:cubicBezTo>
                  <a:lnTo>
                    <a:pt x="13299" y="415379"/>
                  </a:lnTo>
                  <a:cubicBezTo>
                    <a:pt x="5954" y="415379"/>
                    <a:pt x="0" y="409425"/>
                    <a:pt x="0" y="402080"/>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29" name="TextBox 29"/>
            <p:cNvSpPr txBox="1"/>
            <p:nvPr/>
          </p:nvSpPr>
          <p:spPr>
            <a:xfrm>
              <a:off x="0" y="-19050"/>
              <a:ext cx="26598" cy="434429"/>
            </a:xfrm>
            <a:prstGeom prst="rect">
              <a:avLst/>
            </a:prstGeom>
          </p:spPr>
          <p:txBody>
            <a:bodyPr lIns="52604" tIns="52604" rIns="52604" bIns="52604" rtlCol="0" anchor="ctr"/>
            <a:lstStyle/>
            <a:p>
              <a:pPr algn="ctr">
                <a:lnSpc>
                  <a:spcPts val="1679"/>
                </a:lnSpc>
              </a:pPr>
              <a:endParaRPr/>
            </a:p>
          </p:txBody>
        </p:sp>
      </p:grpSp>
      <p:sp>
        <p:nvSpPr>
          <p:cNvPr id="30" name="TextBox 30"/>
          <p:cNvSpPr txBox="1"/>
          <p:nvPr/>
        </p:nvSpPr>
        <p:spPr>
          <a:xfrm>
            <a:off x="9382054" y="5238750"/>
            <a:ext cx="7989763"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a:solidFill>
                  <a:srgbClr val="000000"/>
                </a:solidFill>
                <a:latin typeface="Montserrat"/>
                <a:ea typeface="Montserrat"/>
                <a:cs typeface="Montserrat"/>
                <a:sym typeface="Montserrat"/>
              </a:rPr>
              <a:t>Four top-10 provinces trail the national share by only 0.1–0.5 pts, and none is significant (p ≥ 0.31). Closing the gap would shift only about 1,300 transactions a year</a:t>
            </a:r>
          </a:p>
          <a:p>
            <a:pPr marL="431801" lvl="1" indent="-215900" algn="just">
              <a:lnSpc>
                <a:spcPts val="2800"/>
              </a:lnSpc>
              <a:spcBef>
                <a:spcPct val="0"/>
              </a:spcBef>
              <a:buFont typeface="Arial"/>
              <a:buChar char="•"/>
            </a:pPr>
            <a:r>
              <a:rPr lang="en-US" sz="2000" u="none" strike="noStrike">
                <a:solidFill>
                  <a:srgbClr val="000000"/>
                </a:solidFill>
                <a:latin typeface="Montserrat"/>
                <a:ea typeface="Montserrat"/>
                <a:cs typeface="Montserrat"/>
                <a:sym typeface="Montserrat"/>
              </a:rPr>
              <a:t>Digital share falls steadily with age, from 43.9% to 39.1% (rho −0.52, p &lt; 0.001)</a:t>
            </a:r>
          </a:p>
        </p:txBody>
      </p:sp>
      <p:grpSp>
        <p:nvGrpSpPr>
          <p:cNvPr id="31" name="Group 31"/>
          <p:cNvGrpSpPr/>
          <p:nvPr/>
        </p:nvGrpSpPr>
        <p:grpSpPr>
          <a:xfrm>
            <a:off x="9330008" y="5319713"/>
            <a:ext cx="104092" cy="1625600"/>
            <a:chOff x="0" y="0"/>
            <a:chExt cx="26598" cy="415379"/>
          </a:xfrm>
        </p:grpSpPr>
        <p:sp>
          <p:nvSpPr>
            <p:cNvPr id="32" name="Freeform 32"/>
            <p:cNvSpPr/>
            <p:nvPr/>
          </p:nvSpPr>
          <p:spPr>
            <a:xfrm>
              <a:off x="0" y="0"/>
              <a:ext cx="26598" cy="415379"/>
            </a:xfrm>
            <a:custGeom>
              <a:avLst/>
              <a:gdLst/>
              <a:ahLst/>
              <a:cxnLst/>
              <a:rect l="l" t="t" r="r" b="b"/>
              <a:pathLst>
                <a:path w="26598" h="415379">
                  <a:moveTo>
                    <a:pt x="13299" y="0"/>
                  </a:moveTo>
                  <a:lnTo>
                    <a:pt x="13299" y="0"/>
                  </a:lnTo>
                  <a:cubicBezTo>
                    <a:pt x="16826" y="0"/>
                    <a:pt x="20209" y="1401"/>
                    <a:pt x="22703" y="3895"/>
                  </a:cubicBezTo>
                  <a:cubicBezTo>
                    <a:pt x="25197" y="6389"/>
                    <a:pt x="26598" y="9772"/>
                    <a:pt x="26598" y="13299"/>
                  </a:cubicBezTo>
                  <a:lnTo>
                    <a:pt x="26598" y="402080"/>
                  </a:lnTo>
                  <a:cubicBezTo>
                    <a:pt x="26598" y="409425"/>
                    <a:pt x="20644" y="415379"/>
                    <a:pt x="13299" y="415379"/>
                  </a:cubicBezTo>
                  <a:lnTo>
                    <a:pt x="13299" y="415379"/>
                  </a:lnTo>
                  <a:cubicBezTo>
                    <a:pt x="5954" y="415379"/>
                    <a:pt x="0" y="409425"/>
                    <a:pt x="0" y="402080"/>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33" name="TextBox 33"/>
            <p:cNvSpPr txBox="1"/>
            <p:nvPr/>
          </p:nvSpPr>
          <p:spPr>
            <a:xfrm>
              <a:off x="0" y="-19050"/>
              <a:ext cx="26598" cy="434429"/>
            </a:xfrm>
            <a:prstGeom prst="rect">
              <a:avLst/>
            </a:prstGeom>
          </p:spPr>
          <p:txBody>
            <a:bodyPr lIns="52604" tIns="52604" rIns="52604" bIns="52604" rtlCol="0" anchor="ctr"/>
            <a:lstStyle/>
            <a:p>
              <a:pPr algn="ctr">
                <a:lnSpc>
                  <a:spcPts val="1679"/>
                </a:lnSpc>
              </a:pPr>
              <a:endParaRPr/>
            </a:p>
          </p:txBody>
        </p:sp>
      </p:grpSp>
      <p:sp>
        <p:nvSpPr>
          <p:cNvPr id="34" name="TextBox 34"/>
          <p:cNvSpPr txBox="1"/>
          <p:nvPr/>
        </p:nvSpPr>
        <p:spPr>
          <a:xfrm>
            <a:off x="14717355" y="7416800"/>
            <a:ext cx="2541945" cy="1397000"/>
          </a:xfrm>
          <a:prstGeom prst="rect">
            <a:avLst/>
          </a:prstGeom>
        </p:spPr>
        <p:txBody>
          <a:bodyPr lIns="0" tIns="0" rIns="0" bIns="0" rtlCol="0" anchor="t">
            <a:spAutoFit/>
          </a:bodyPr>
          <a:lstStyle/>
          <a:p>
            <a:pPr algn="just">
              <a:lnSpc>
                <a:spcPts val="2800"/>
              </a:lnSpc>
              <a:spcBef>
                <a:spcPct val="0"/>
              </a:spcBef>
            </a:pPr>
            <a:r>
              <a:rPr lang="en-US" sz="2000" b="1">
                <a:solidFill>
                  <a:srgbClr val="FF751F"/>
                </a:solidFill>
                <a:latin typeface="Montserrat Bold"/>
                <a:ea typeface="Montserrat Bold"/>
                <a:cs typeface="Montserrat Bold"/>
                <a:sym typeface="Montserrat Bold"/>
              </a:rPr>
              <a:t>Four high - spend provinces sit just below the national line</a:t>
            </a:r>
          </a:p>
        </p:txBody>
      </p:sp>
      <p:grpSp>
        <p:nvGrpSpPr>
          <p:cNvPr id="35" name="Group 35"/>
          <p:cNvGrpSpPr/>
          <p:nvPr/>
        </p:nvGrpSpPr>
        <p:grpSpPr>
          <a:xfrm>
            <a:off x="14538404" y="7321550"/>
            <a:ext cx="104092" cy="1625600"/>
            <a:chOff x="0" y="0"/>
            <a:chExt cx="26598" cy="415379"/>
          </a:xfrm>
        </p:grpSpPr>
        <p:sp>
          <p:nvSpPr>
            <p:cNvPr id="36" name="Freeform 36"/>
            <p:cNvSpPr/>
            <p:nvPr/>
          </p:nvSpPr>
          <p:spPr>
            <a:xfrm>
              <a:off x="0" y="0"/>
              <a:ext cx="26598" cy="415379"/>
            </a:xfrm>
            <a:custGeom>
              <a:avLst/>
              <a:gdLst/>
              <a:ahLst/>
              <a:cxnLst/>
              <a:rect l="l" t="t" r="r" b="b"/>
              <a:pathLst>
                <a:path w="26598" h="415379">
                  <a:moveTo>
                    <a:pt x="13299" y="0"/>
                  </a:moveTo>
                  <a:lnTo>
                    <a:pt x="13299" y="0"/>
                  </a:lnTo>
                  <a:cubicBezTo>
                    <a:pt x="16826" y="0"/>
                    <a:pt x="20209" y="1401"/>
                    <a:pt x="22703" y="3895"/>
                  </a:cubicBezTo>
                  <a:cubicBezTo>
                    <a:pt x="25197" y="6389"/>
                    <a:pt x="26598" y="9772"/>
                    <a:pt x="26598" y="13299"/>
                  </a:cubicBezTo>
                  <a:lnTo>
                    <a:pt x="26598" y="402080"/>
                  </a:lnTo>
                  <a:cubicBezTo>
                    <a:pt x="26598" y="409425"/>
                    <a:pt x="20644" y="415379"/>
                    <a:pt x="13299" y="415379"/>
                  </a:cubicBezTo>
                  <a:lnTo>
                    <a:pt x="13299" y="415379"/>
                  </a:lnTo>
                  <a:cubicBezTo>
                    <a:pt x="5954" y="415379"/>
                    <a:pt x="0" y="409425"/>
                    <a:pt x="0" y="402080"/>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37" name="TextBox 37"/>
            <p:cNvSpPr txBox="1"/>
            <p:nvPr/>
          </p:nvSpPr>
          <p:spPr>
            <a:xfrm>
              <a:off x="0" y="-19050"/>
              <a:ext cx="26598" cy="434429"/>
            </a:xfrm>
            <a:prstGeom prst="rect">
              <a:avLst/>
            </a:prstGeom>
          </p:spPr>
          <p:txBody>
            <a:bodyPr lIns="52604" tIns="52604" rIns="52604" bIns="52604" rtlCol="0" anchor="ctr"/>
            <a:lstStyle/>
            <a:p>
              <a:pPr algn="ctr">
                <a:lnSpc>
                  <a:spcPts val="1679"/>
                </a:lnSpc>
              </a:pPr>
              <a:endParaRPr/>
            </a:p>
          </p:txBody>
        </p:sp>
      </p:grpSp>
      <p:sp>
        <p:nvSpPr>
          <p:cNvPr id="38" name="TextBox 38"/>
          <p:cNvSpPr txBox="1"/>
          <p:nvPr/>
        </p:nvSpPr>
        <p:spPr>
          <a:xfrm>
            <a:off x="625279" y="7138212"/>
            <a:ext cx="8249701" cy="1044575"/>
          </a:xfrm>
          <a:prstGeom prst="rect">
            <a:avLst/>
          </a:prstGeom>
        </p:spPr>
        <p:txBody>
          <a:bodyPr lIns="0" tIns="0" rIns="0" bIns="0" rtlCol="0" anchor="t">
            <a:spAutoFit/>
          </a:bodyPr>
          <a:lstStyle/>
          <a:p>
            <a:pPr marL="0" lvl="0" indent="0" algn="just">
              <a:lnSpc>
                <a:spcPts val="2800"/>
              </a:lnSpc>
              <a:spcBef>
                <a:spcPct val="0"/>
              </a:spcBef>
            </a:pPr>
            <a:r>
              <a:rPr lang="en-US" sz="2000" b="1" u="none" strike="noStrike">
                <a:solidFill>
                  <a:srgbClr val="EE806B"/>
                </a:solidFill>
                <a:latin typeface="Montserrat Bold"/>
                <a:ea typeface="Montserrat Bold"/>
                <a:cs typeface="Montserrat Bold"/>
                <a:sym typeface="Montserrat Bold"/>
              </a:rPr>
              <a:t>Adoption is broad but shallow: the issue is depth, not reach. The digital gap is generational, not regional, and no lagging province differs significantly from the rest.</a:t>
            </a:r>
          </a:p>
        </p:txBody>
      </p:sp>
      <p:sp>
        <p:nvSpPr>
          <p:cNvPr id="39" name="TextBox 39"/>
          <p:cNvSpPr txBox="1"/>
          <p:nvPr/>
        </p:nvSpPr>
        <p:spPr>
          <a:xfrm>
            <a:off x="594771" y="5114925"/>
            <a:ext cx="8144926" cy="346074"/>
          </a:xfrm>
          <a:prstGeom prst="rect">
            <a:avLst/>
          </a:prstGeom>
        </p:spPr>
        <p:txBody>
          <a:bodyPr lIns="0" tIns="0" rIns="0" bIns="0" rtlCol="0" anchor="t">
            <a:spAutoFit/>
          </a:bodyPr>
          <a:lstStyle/>
          <a:p>
            <a:pPr marL="0" lvl="0" indent="0" algn="ctr">
              <a:lnSpc>
                <a:spcPts val="1400"/>
              </a:lnSpc>
              <a:spcBef>
                <a:spcPct val="0"/>
              </a:spcBef>
            </a:pPr>
            <a:r>
              <a:rPr lang="en-US" sz="1000" u="none" strike="noStrike">
                <a:solidFill>
                  <a:srgbClr val="000000"/>
                </a:solidFill>
                <a:latin typeface="Montserrat"/>
                <a:ea typeface="Montserrat"/>
                <a:cs typeface="Montserrat"/>
                <a:sym typeface="Montserrat"/>
              </a:rPr>
              <a:t>Figure 4. Channel mix and distribution of online spend ratio </a:t>
            </a:r>
          </a:p>
          <a:p>
            <a:pPr marL="0" lvl="0" indent="0" algn="ctr">
              <a:lnSpc>
                <a:spcPts val="1400"/>
              </a:lnSpc>
              <a:spcBef>
                <a:spcPct val="0"/>
              </a:spcBef>
            </a:pPr>
            <a:endParaRPr lang="en-US" sz="1000" u="none" strike="noStrike">
              <a:solidFill>
                <a:srgbClr val="000000"/>
              </a:solidFill>
              <a:latin typeface="Montserrat"/>
              <a:ea typeface="Montserrat"/>
              <a:cs typeface="Montserrat"/>
              <a:sym typeface="Montserrat"/>
            </a:endParaRPr>
          </a:p>
        </p:txBody>
      </p:sp>
      <p:sp>
        <p:nvSpPr>
          <p:cNvPr id="40" name="TextBox 40"/>
          <p:cNvSpPr txBox="1"/>
          <p:nvPr/>
        </p:nvSpPr>
        <p:spPr>
          <a:xfrm>
            <a:off x="8208290" y="9558864"/>
            <a:ext cx="7989763" cy="346074"/>
          </a:xfrm>
          <a:prstGeom prst="rect">
            <a:avLst/>
          </a:prstGeom>
        </p:spPr>
        <p:txBody>
          <a:bodyPr lIns="0" tIns="0" rIns="0" bIns="0" rtlCol="0" anchor="t">
            <a:spAutoFit/>
          </a:bodyPr>
          <a:lstStyle/>
          <a:p>
            <a:pPr marL="0" lvl="0" indent="0" algn="ctr">
              <a:lnSpc>
                <a:spcPts val="1400"/>
              </a:lnSpc>
              <a:spcBef>
                <a:spcPct val="0"/>
              </a:spcBef>
            </a:pPr>
            <a:r>
              <a:rPr lang="en-US" sz="1000" u="none" strike="noStrike">
                <a:solidFill>
                  <a:srgbClr val="000000"/>
                </a:solidFill>
                <a:latin typeface="Montserrat"/>
                <a:ea typeface="Montserrat"/>
                <a:cs typeface="Montserrat"/>
                <a:sym typeface="Montserrat"/>
              </a:rPr>
              <a:t>Figure 5. Province spend versus digital share of transactions</a:t>
            </a:r>
          </a:p>
          <a:p>
            <a:pPr marL="0" lvl="0" indent="0" algn="ctr">
              <a:lnSpc>
                <a:spcPts val="1400"/>
              </a:lnSpc>
              <a:spcBef>
                <a:spcPct val="0"/>
              </a:spcBef>
            </a:pPr>
            <a:endParaRPr lang="en-US" sz="1000" u="none" strike="noStrike">
              <a:solidFill>
                <a:srgbClr val="000000"/>
              </a:solidFill>
              <a:latin typeface="Montserrat"/>
              <a:ea typeface="Montserrat"/>
              <a:cs typeface="Montserrat"/>
              <a:sym typeface="Montserrat"/>
            </a:endParaRPr>
          </a:p>
        </p:txBody>
      </p:sp>
      <p:sp>
        <p:nvSpPr>
          <p:cNvPr id="41" name="TextBox 41"/>
          <p:cNvSpPr txBox="1"/>
          <p:nvPr/>
        </p:nvSpPr>
        <p:spPr>
          <a:xfrm>
            <a:off x="9565516" y="5114925"/>
            <a:ext cx="7765879" cy="346074"/>
          </a:xfrm>
          <a:prstGeom prst="rect">
            <a:avLst/>
          </a:prstGeom>
        </p:spPr>
        <p:txBody>
          <a:bodyPr lIns="0" tIns="0" rIns="0" bIns="0" rtlCol="0" anchor="t">
            <a:spAutoFit/>
          </a:bodyPr>
          <a:lstStyle/>
          <a:p>
            <a:pPr marL="0" lvl="0" indent="0" algn="ctr">
              <a:lnSpc>
                <a:spcPts val="1400"/>
              </a:lnSpc>
              <a:spcBef>
                <a:spcPct val="0"/>
              </a:spcBef>
            </a:pPr>
            <a:r>
              <a:rPr lang="en-US" sz="1000" u="none" strike="noStrike">
                <a:solidFill>
                  <a:srgbClr val="000000"/>
                </a:solidFill>
                <a:latin typeface="Montserrat"/>
                <a:ea typeface="Montserrat"/>
                <a:cs typeface="Montserrat"/>
                <a:sym typeface="Montserrat"/>
              </a:rPr>
              <a:t>Figure 6. Lagging provinces with 95% confidence intervals and digital share by age group</a:t>
            </a:r>
          </a:p>
          <a:p>
            <a:pPr marL="0" lvl="0" indent="0" algn="ctr">
              <a:lnSpc>
                <a:spcPts val="1400"/>
              </a:lnSpc>
              <a:spcBef>
                <a:spcPct val="0"/>
              </a:spcBef>
            </a:pPr>
            <a:endParaRPr lang="en-US" sz="1000" u="none" strike="noStrike">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Financial Health Analysis</a:t>
              </a:r>
            </a:p>
            <a:p>
              <a:pPr algn="l">
                <a:lnSpc>
                  <a:spcPts val="3500"/>
                </a:lnSpc>
              </a:pPr>
              <a:r>
                <a:rPr lang="en-US" sz="2500">
                  <a:solidFill>
                    <a:srgbClr val="000000"/>
                  </a:solidFill>
                  <a:latin typeface="Montserrat"/>
                  <a:ea typeface="Montserrat"/>
                  <a:cs typeface="Montserrat"/>
                  <a:sym typeface="Montserrat"/>
                </a:rPr>
                <a:t>Most customers have tough months, and they come with the spending peaks (Task 2, Q1)</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TextBox 15"/>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6" name="TextBox 16"/>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17" name="TextBox 17"/>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18" name="TextBox 18"/>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19" name="TextBox 19"/>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0" name="TextBox 20"/>
          <p:cNvSpPr txBox="1"/>
          <p:nvPr/>
        </p:nvSpPr>
        <p:spPr>
          <a:xfrm>
            <a:off x="734806" y="7536591"/>
            <a:ext cx="11222104" cy="1289050"/>
          </a:xfrm>
          <a:prstGeom prst="rect">
            <a:avLst/>
          </a:prstGeom>
        </p:spPr>
        <p:txBody>
          <a:bodyPr lIns="0" tIns="0" rIns="0" bIns="0" rtlCol="0" anchor="t">
            <a:spAutoFit/>
          </a:bodyPr>
          <a:lstStyle/>
          <a:p>
            <a:pPr marL="0" lvl="0" indent="0" algn="just">
              <a:lnSpc>
                <a:spcPts val="3499"/>
              </a:lnSpc>
              <a:spcBef>
                <a:spcPct val="0"/>
              </a:spcBef>
            </a:pPr>
            <a:r>
              <a:rPr lang="en-US" sz="2499" b="1">
                <a:solidFill>
                  <a:srgbClr val="EE806B"/>
                </a:solidFill>
                <a:latin typeface="Montserrat Bold"/>
                <a:ea typeface="Montserrat Bold"/>
                <a:cs typeface="Montserrat Bold"/>
                <a:sym typeface="Montserrat Bold"/>
              </a:rPr>
              <a:t>A</a:t>
            </a:r>
            <a:r>
              <a:rPr lang="en-US" sz="2499" b="1" u="none" strike="noStrike">
                <a:solidFill>
                  <a:srgbClr val="EE806B"/>
                </a:solidFill>
                <a:latin typeface="Montserrat Bold"/>
                <a:ea typeface="Montserrat Bold"/>
                <a:cs typeface="Montserrat Bold"/>
                <a:sym typeface="Montserrat Bold"/>
              </a:rPr>
              <a:t>lmost every customer goes through a tough month, and financial difficulty is closely tied to spending: in the peak month, December, 84% of customers fall below 60.</a:t>
            </a:r>
          </a:p>
        </p:txBody>
      </p:sp>
      <p:sp>
        <p:nvSpPr>
          <p:cNvPr id="21" name="TextBox 21"/>
          <p:cNvSpPr txBox="1"/>
          <p:nvPr/>
        </p:nvSpPr>
        <p:spPr>
          <a:xfrm>
            <a:off x="12656416" y="6615396"/>
            <a:ext cx="4882809" cy="1397000"/>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D</a:t>
            </a:r>
            <a:r>
              <a:rPr lang="en-US" sz="2000" u="none" strike="noStrike">
                <a:solidFill>
                  <a:srgbClr val="000000"/>
                </a:solidFill>
                <a:latin typeface="Montserrat"/>
                <a:ea typeface="Montserrat"/>
                <a:cs typeface="Montserrat"/>
                <a:sym typeface="Montserrat"/>
              </a:rPr>
              <a:t>ecember is the worst month (84% of customers in a tough month). February is the best</a:t>
            </a:r>
          </a:p>
          <a:p>
            <a:pPr algn="just">
              <a:lnSpc>
                <a:spcPts val="2800"/>
              </a:lnSpc>
              <a:spcBef>
                <a:spcPct val="0"/>
              </a:spcBef>
            </a:pPr>
            <a:endParaRPr lang="en-US" sz="2000" u="none" strike="noStrike">
              <a:solidFill>
                <a:srgbClr val="000000"/>
              </a:solidFill>
              <a:latin typeface="Montserrat"/>
              <a:ea typeface="Montserrat"/>
              <a:cs typeface="Montserrat"/>
              <a:sym typeface="Montserrat"/>
            </a:endParaRPr>
          </a:p>
        </p:txBody>
      </p:sp>
      <p:grpSp>
        <p:nvGrpSpPr>
          <p:cNvPr id="22" name="Group 22"/>
          <p:cNvGrpSpPr/>
          <p:nvPr/>
        </p:nvGrpSpPr>
        <p:grpSpPr>
          <a:xfrm>
            <a:off x="12370602" y="2321817"/>
            <a:ext cx="5294674" cy="434201"/>
            <a:chOff x="0" y="0"/>
            <a:chExt cx="1400953" cy="114888"/>
          </a:xfrm>
        </p:grpSpPr>
        <p:sp>
          <p:nvSpPr>
            <p:cNvPr id="23" name="Freeform 23"/>
            <p:cNvSpPr/>
            <p:nvPr/>
          </p:nvSpPr>
          <p:spPr>
            <a:xfrm>
              <a:off x="0" y="0"/>
              <a:ext cx="1400954" cy="114888"/>
            </a:xfrm>
            <a:custGeom>
              <a:avLst/>
              <a:gdLst/>
              <a:ahLst/>
              <a:cxnLst/>
              <a:rect l="l" t="t" r="r" b="b"/>
              <a:pathLst>
                <a:path w="1400954" h="114888">
                  <a:moveTo>
                    <a:pt x="0" y="0"/>
                  </a:moveTo>
                  <a:lnTo>
                    <a:pt x="1400954" y="0"/>
                  </a:lnTo>
                  <a:lnTo>
                    <a:pt x="1400954" y="114888"/>
                  </a:lnTo>
                  <a:lnTo>
                    <a:pt x="0" y="114888"/>
                  </a:lnTo>
                  <a:close/>
                </a:path>
              </a:pathLst>
            </a:custGeom>
            <a:solidFill>
              <a:srgbClr val="E15F4B"/>
            </a:solidFill>
          </p:spPr>
          <p:txBody>
            <a:bodyPr/>
            <a:lstStyle/>
            <a:p>
              <a:endParaRPr lang="en-US"/>
            </a:p>
          </p:txBody>
        </p:sp>
        <p:sp>
          <p:nvSpPr>
            <p:cNvPr id="24" name="TextBox 24"/>
            <p:cNvSpPr txBox="1"/>
            <p:nvPr/>
          </p:nvSpPr>
          <p:spPr>
            <a:xfrm>
              <a:off x="0" y="-19050"/>
              <a:ext cx="1400953" cy="133938"/>
            </a:xfrm>
            <a:prstGeom prst="rect">
              <a:avLst/>
            </a:prstGeom>
          </p:spPr>
          <p:txBody>
            <a:bodyPr lIns="50800" tIns="50800" rIns="50800" bIns="50800" rtlCol="0" anchor="ctr"/>
            <a:lstStyle/>
            <a:p>
              <a:pPr algn="ctr">
                <a:lnSpc>
                  <a:spcPts val="1679"/>
                </a:lnSpc>
              </a:pPr>
              <a:endParaRPr/>
            </a:p>
          </p:txBody>
        </p:sp>
      </p:grpSp>
      <p:grpSp>
        <p:nvGrpSpPr>
          <p:cNvPr id="25" name="Group 25"/>
          <p:cNvGrpSpPr/>
          <p:nvPr/>
        </p:nvGrpSpPr>
        <p:grpSpPr>
          <a:xfrm>
            <a:off x="12556151" y="3013193"/>
            <a:ext cx="200528" cy="1518095"/>
            <a:chOff x="0" y="0"/>
            <a:chExt cx="51240" cy="387909"/>
          </a:xfrm>
        </p:grpSpPr>
        <p:sp>
          <p:nvSpPr>
            <p:cNvPr id="26" name="Freeform 26"/>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7" name="TextBox 27"/>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28" name="TextBox 28"/>
          <p:cNvSpPr txBox="1"/>
          <p:nvPr/>
        </p:nvSpPr>
        <p:spPr>
          <a:xfrm>
            <a:off x="12656416" y="3022250"/>
            <a:ext cx="4812447" cy="1397000"/>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Montserrat"/>
                <a:ea typeface="Montserrat"/>
                <a:cs typeface="Montserrat"/>
                <a:sym typeface="Montserrat"/>
              </a:rPr>
              <a:t>There is a long tail of bad months. 22.4% of months fall to Watch (40–60), which pulls the average down.</a:t>
            </a:r>
          </a:p>
        </p:txBody>
      </p:sp>
      <p:sp>
        <p:nvSpPr>
          <p:cNvPr id="29" name="TextBox 29"/>
          <p:cNvSpPr txBox="1"/>
          <p:nvPr/>
        </p:nvSpPr>
        <p:spPr>
          <a:xfrm>
            <a:off x="12656416" y="4832456"/>
            <a:ext cx="4812447"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Almo</a:t>
            </a:r>
            <a:r>
              <a:rPr lang="en-US" sz="2000" u="none" strike="noStrike">
                <a:solidFill>
                  <a:srgbClr val="000000"/>
                </a:solidFill>
                <a:latin typeface="Montserrat"/>
                <a:ea typeface="Montserrat"/>
                <a:cs typeface="Montserrat"/>
                <a:sym typeface="Montserrat"/>
              </a:rPr>
              <a:t>st everyone has a tough month. 87% of customers have at least one (according to calculation)</a:t>
            </a:r>
          </a:p>
          <a:p>
            <a:pPr algn="just">
              <a:lnSpc>
                <a:spcPts val="2800"/>
              </a:lnSpc>
              <a:spcBef>
                <a:spcPct val="0"/>
              </a:spcBef>
            </a:pPr>
            <a:endParaRPr lang="en-US" sz="2000" u="none" strike="noStrike">
              <a:solidFill>
                <a:srgbClr val="000000"/>
              </a:solidFill>
              <a:latin typeface="Montserrat"/>
              <a:ea typeface="Montserrat"/>
              <a:cs typeface="Montserrat"/>
              <a:sym typeface="Montserrat"/>
            </a:endParaRPr>
          </a:p>
        </p:txBody>
      </p:sp>
      <p:grpSp>
        <p:nvGrpSpPr>
          <p:cNvPr id="30" name="Group 30"/>
          <p:cNvGrpSpPr/>
          <p:nvPr/>
        </p:nvGrpSpPr>
        <p:grpSpPr>
          <a:xfrm>
            <a:off x="12556151" y="4792502"/>
            <a:ext cx="200528" cy="1518095"/>
            <a:chOff x="0" y="0"/>
            <a:chExt cx="51240" cy="387909"/>
          </a:xfrm>
        </p:grpSpPr>
        <p:sp>
          <p:nvSpPr>
            <p:cNvPr id="31" name="Freeform 31"/>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32" name="TextBox 32"/>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grpSp>
        <p:nvGrpSpPr>
          <p:cNvPr id="33" name="Group 33"/>
          <p:cNvGrpSpPr/>
          <p:nvPr/>
        </p:nvGrpSpPr>
        <p:grpSpPr>
          <a:xfrm>
            <a:off x="12556151" y="6682071"/>
            <a:ext cx="200528" cy="1518095"/>
            <a:chOff x="0" y="0"/>
            <a:chExt cx="51240" cy="387909"/>
          </a:xfrm>
        </p:grpSpPr>
        <p:sp>
          <p:nvSpPr>
            <p:cNvPr id="34" name="Freeform 34"/>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35" name="TextBox 35"/>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36" name="Freeform 36"/>
          <p:cNvSpPr/>
          <p:nvPr/>
        </p:nvSpPr>
        <p:spPr>
          <a:xfrm>
            <a:off x="484512" y="2321817"/>
            <a:ext cx="11722693" cy="4456712"/>
          </a:xfrm>
          <a:custGeom>
            <a:avLst/>
            <a:gdLst/>
            <a:ahLst/>
            <a:cxnLst/>
            <a:rect l="l" t="t" r="r" b="b"/>
            <a:pathLst>
              <a:path w="11722693" h="4456712">
                <a:moveTo>
                  <a:pt x="0" y="0"/>
                </a:moveTo>
                <a:lnTo>
                  <a:pt x="11722693" y="0"/>
                </a:lnTo>
                <a:lnTo>
                  <a:pt x="11722693" y="4456712"/>
                </a:lnTo>
                <a:lnTo>
                  <a:pt x="0" y="4456712"/>
                </a:lnTo>
                <a:lnTo>
                  <a:pt x="0" y="0"/>
                </a:lnTo>
                <a:close/>
              </a:path>
            </a:pathLst>
          </a:custGeom>
          <a:blipFill>
            <a:blip r:embed="rId3"/>
            <a:stretch>
              <a:fillRect l="-121" t="-18629" r="-121" b="-7603"/>
            </a:stretch>
          </a:blipFill>
        </p:spPr>
        <p:txBody>
          <a:bodyPr/>
          <a:lstStyle/>
          <a:p>
            <a:endParaRPr lang="en-US"/>
          </a:p>
        </p:txBody>
      </p:sp>
      <p:sp>
        <p:nvSpPr>
          <p:cNvPr id="37" name="TextBox 37"/>
          <p:cNvSpPr txBox="1"/>
          <p:nvPr/>
        </p:nvSpPr>
        <p:spPr>
          <a:xfrm>
            <a:off x="4516876" y="6930929"/>
            <a:ext cx="4871085"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7. Distribution of monthly health scores and share below 60 by month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Financial Health Analysis</a:t>
              </a:r>
            </a:p>
            <a:p>
              <a:pPr algn="l">
                <a:lnSpc>
                  <a:spcPts val="3500"/>
                </a:lnSpc>
              </a:pPr>
              <a:r>
                <a:rPr lang="en-US" sz="2500">
                  <a:solidFill>
                    <a:srgbClr val="000000"/>
                  </a:solidFill>
                  <a:latin typeface="Montserrat"/>
                  <a:ea typeface="Montserrat"/>
                  <a:cs typeface="Montserrat"/>
                  <a:sym typeface="Montserrat"/>
                </a:rPr>
                <a:t>Tough months are months when customers spend more than they earn (Task 2, Q2)</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TextBox 15"/>
          <p:cNvSpPr txBox="1"/>
          <p:nvPr/>
        </p:nvSpPr>
        <p:spPr>
          <a:xfrm>
            <a:off x="12656416" y="6615396"/>
            <a:ext cx="4882809" cy="2101850"/>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Risk ju</a:t>
            </a:r>
            <a:r>
              <a:rPr lang="en-US" sz="2000" u="none" strike="noStrike">
                <a:solidFill>
                  <a:srgbClr val="000000"/>
                </a:solidFill>
                <a:latin typeface="Montserrat"/>
                <a:ea typeface="Montserrat"/>
                <a:cs typeface="Montserrat"/>
                <a:sym typeface="Montserrat"/>
              </a:rPr>
              <a:t>mps past a threshold: tough months are almost absent below ~70% of income but reach 93% above 87%.</a:t>
            </a:r>
          </a:p>
          <a:p>
            <a:pPr algn="just">
              <a:lnSpc>
                <a:spcPts val="2800"/>
              </a:lnSpc>
              <a:spcBef>
                <a:spcPct val="0"/>
              </a:spcBef>
            </a:pPr>
            <a:endParaRPr lang="en-US" sz="2000" u="none" strike="noStrike">
              <a:solidFill>
                <a:srgbClr val="000000"/>
              </a:solidFill>
              <a:latin typeface="Montserrat"/>
              <a:ea typeface="Montserrat"/>
              <a:cs typeface="Montserrat"/>
              <a:sym typeface="Montserrat"/>
            </a:endParaRPr>
          </a:p>
          <a:p>
            <a:pPr algn="just">
              <a:lnSpc>
                <a:spcPts val="2800"/>
              </a:lnSpc>
              <a:spcBef>
                <a:spcPct val="0"/>
              </a:spcBef>
            </a:pPr>
            <a:endParaRPr lang="en-US" sz="2000" u="none" strike="noStrike">
              <a:solidFill>
                <a:srgbClr val="000000"/>
              </a:solidFill>
              <a:latin typeface="Montserrat"/>
              <a:ea typeface="Montserrat"/>
              <a:cs typeface="Montserrat"/>
              <a:sym typeface="Montserrat"/>
            </a:endParaRPr>
          </a:p>
        </p:txBody>
      </p:sp>
      <p:grpSp>
        <p:nvGrpSpPr>
          <p:cNvPr id="16" name="Group 16"/>
          <p:cNvGrpSpPr/>
          <p:nvPr/>
        </p:nvGrpSpPr>
        <p:grpSpPr>
          <a:xfrm>
            <a:off x="12370602" y="2321817"/>
            <a:ext cx="5294674" cy="434201"/>
            <a:chOff x="0" y="0"/>
            <a:chExt cx="1400953" cy="114888"/>
          </a:xfrm>
        </p:grpSpPr>
        <p:sp>
          <p:nvSpPr>
            <p:cNvPr id="17" name="Freeform 17"/>
            <p:cNvSpPr/>
            <p:nvPr/>
          </p:nvSpPr>
          <p:spPr>
            <a:xfrm>
              <a:off x="0" y="0"/>
              <a:ext cx="1400954" cy="114888"/>
            </a:xfrm>
            <a:custGeom>
              <a:avLst/>
              <a:gdLst/>
              <a:ahLst/>
              <a:cxnLst/>
              <a:rect l="l" t="t" r="r" b="b"/>
              <a:pathLst>
                <a:path w="1400954" h="114888">
                  <a:moveTo>
                    <a:pt x="0" y="0"/>
                  </a:moveTo>
                  <a:lnTo>
                    <a:pt x="1400954" y="0"/>
                  </a:lnTo>
                  <a:lnTo>
                    <a:pt x="1400954" y="114888"/>
                  </a:lnTo>
                  <a:lnTo>
                    <a:pt x="0" y="114888"/>
                  </a:lnTo>
                  <a:close/>
                </a:path>
              </a:pathLst>
            </a:custGeom>
            <a:solidFill>
              <a:srgbClr val="E15F4B"/>
            </a:solidFill>
          </p:spPr>
          <p:txBody>
            <a:bodyPr/>
            <a:lstStyle/>
            <a:p>
              <a:endParaRPr lang="en-US"/>
            </a:p>
          </p:txBody>
        </p:sp>
        <p:sp>
          <p:nvSpPr>
            <p:cNvPr id="18" name="TextBox 18"/>
            <p:cNvSpPr txBox="1"/>
            <p:nvPr/>
          </p:nvSpPr>
          <p:spPr>
            <a:xfrm>
              <a:off x="0" y="-19050"/>
              <a:ext cx="1400953" cy="133938"/>
            </a:xfrm>
            <a:prstGeom prst="rect">
              <a:avLst/>
            </a:prstGeom>
          </p:spPr>
          <p:txBody>
            <a:bodyPr lIns="50800" tIns="50800" rIns="50800" bIns="50800" rtlCol="0" anchor="ctr"/>
            <a:lstStyle/>
            <a:p>
              <a:pPr algn="ctr">
                <a:lnSpc>
                  <a:spcPts val="1679"/>
                </a:lnSpc>
              </a:pPr>
              <a:endParaRPr/>
            </a:p>
          </p:txBody>
        </p:sp>
      </p:grpSp>
      <p:grpSp>
        <p:nvGrpSpPr>
          <p:cNvPr id="19" name="Group 19"/>
          <p:cNvGrpSpPr/>
          <p:nvPr/>
        </p:nvGrpSpPr>
        <p:grpSpPr>
          <a:xfrm>
            <a:off x="12556151" y="3013193"/>
            <a:ext cx="200528" cy="1436409"/>
            <a:chOff x="0" y="0"/>
            <a:chExt cx="51240" cy="367036"/>
          </a:xfrm>
        </p:grpSpPr>
        <p:sp>
          <p:nvSpPr>
            <p:cNvPr id="20" name="Freeform 20"/>
            <p:cNvSpPr/>
            <p:nvPr/>
          </p:nvSpPr>
          <p:spPr>
            <a:xfrm>
              <a:off x="0" y="0"/>
              <a:ext cx="51240" cy="367036"/>
            </a:xfrm>
            <a:custGeom>
              <a:avLst/>
              <a:gdLst/>
              <a:ahLst/>
              <a:cxnLst/>
              <a:rect l="l" t="t" r="r" b="b"/>
              <a:pathLst>
                <a:path w="51240" h="367036">
                  <a:moveTo>
                    <a:pt x="25620" y="0"/>
                  </a:moveTo>
                  <a:lnTo>
                    <a:pt x="25620" y="0"/>
                  </a:lnTo>
                  <a:cubicBezTo>
                    <a:pt x="32415" y="0"/>
                    <a:pt x="38931" y="2699"/>
                    <a:pt x="43736" y="7504"/>
                  </a:cubicBezTo>
                  <a:cubicBezTo>
                    <a:pt x="48540" y="12309"/>
                    <a:pt x="51240" y="18825"/>
                    <a:pt x="51240" y="25620"/>
                  </a:cubicBezTo>
                  <a:lnTo>
                    <a:pt x="51240" y="341416"/>
                  </a:lnTo>
                  <a:cubicBezTo>
                    <a:pt x="51240" y="355566"/>
                    <a:pt x="39769" y="367036"/>
                    <a:pt x="25620" y="367036"/>
                  </a:cubicBezTo>
                  <a:lnTo>
                    <a:pt x="25620" y="367036"/>
                  </a:lnTo>
                  <a:cubicBezTo>
                    <a:pt x="11470" y="367036"/>
                    <a:pt x="0" y="355566"/>
                    <a:pt x="0" y="341416"/>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1" name="TextBox 21"/>
            <p:cNvSpPr txBox="1"/>
            <p:nvPr/>
          </p:nvSpPr>
          <p:spPr>
            <a:xfrm>
              <a:off x="0" y="-19050"/>
              <a:ext cx="51240" cy="386086"/>
            </a:xfrm>
            <a:prstGeom prst="rect">
              <a:avLst/>
            </a:prstGeom>
          </p:spPr>
          <p:txBody>
            <a:bodyPr lIns="52604" tIns="52604" rIns="52604" bIns="52604" rtlCol="0" anchor="ctr"/>
            <a:lstStyle/>
            <a:p>
              <a:pPr algn="ctr">
                <a:lnSpc>
                  <a:spcPts val="1679"/>
                </a:lnSpc>
              </a:pPr>
              <a:endParaRPr/>
            </a:p>
          </p:txBody>
        </p:sp>
      </p:grpSp>
      <p:sp>
        <p:nvSpPr>
          <p:cNvPr id="22" name="TextBox 22"/>
          <p:cNvSpPr txBox="1"/>
          <p:nvPr/>
        </p:nvSpPr>
        <p:spPr>
          <a:xfrm>
            <a:off x="12656416" y="4832456"/>
            <a:ext cx="4812447"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Credit utilisa</a:t>
            </a:r>
            <a:r>
              <a:rPr lang="en-US" sz="2000" u="none" strike="noStrike">
                <a:solidFill>
                  <a:srgbClr val="000000"/>
                </a:solidFill>
                <a:latin typeface="Montserrat"/>
                <a:ea typeface="Montserrat"/>
                <a:cs typeface="Montserrat"/>
                <a:sym typeface="Montserrat"/>
              </a:rPr>
              <a:t>tion (rho -0.87) moves with it (correlation 0.90), so both reflect the same over-spending pressure.</a:t>
            </a:r>
          </a:p>
          <a:p>
            <a:pPr algn="just">
              <a:lnSpc>
                <a:spcPts val="2800"/>
              </a:lnSpc>
              <a:spcBef>
                <a:spcPct val="0"/>
              </a:spcBef>
            </a:pPr>
            <a:endParaRPr lang="en-US" sz="2000" u="none" strike="noStrike">
              <a:solidFill>
                <a:srgbClr val="000000"/>
              </a:solidFill>
              <a:latin typeface="Montserrat"/>
              <a:ea typeface="Montserrat"/>
              <a:cs typeface="Montserrat"/>
              <a:sym typeface="Montserrat"/>
            </a:endParaRPr>
          </a:p>
        </p:txBody>
      </p:sp>
      <p:grpSp>
        <p:nvGrpSpPr>
          <p:cNvPr id="23" name="Group 23"/>
          <p:cNvGrpSpPr/>
          <p:nvPr/>
        </p:nvGrpSpPr>
        <p:grpSpPr>
          <a:xfrm>
            <a:off x="12556151" y="4792502"/>
            <a:ext cx="200528" cy="1518095"/>
            <a:chOff x="0" y="0"/>
            <a:chExt cx="51240" cy="387909"/>
          </a:xfrm>
        </p:grpSpPr>
        <p:sp>
          <p:nvSpPr>
            <p:cNvPr id="24" name="Freeform 24"/>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5" name="TextBox 25"/>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grpSp>
        <p:nvGrpSpPr>
          <p:cNvPr id="26" name="Group 26"/>
          <p:cNvGrpSpPr/>
          <p:nvPr/>
        </p:nvGrpSpPr>
        <p:grpSpPr>
          <a:xfrm>
            <a:off x="12556151" y="6682071"/>
            <a:ext cx="200528" cy="1518095"/>
            <a:chOff x="0" y="0"/>
            <a:chExt cx="51240" cy="387909"/>
          </a:xfrm>
        </p:grpSpPr>
        <p:sp>
          <p:nvSpPr>
            <p:cNvPr id="27" name="Freeform 27"/>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8" name="TextBox 28"/>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29" name="Freeform 29"/>
          <p:cNvSpPr/>
          <p:nvPr/>
        </p:nvSpPr>
        <p:spPr>
          <a:xfrm>
            <a:off x="367405" y="2207517"/>
            <a:ext cx="11814256" cy="4590596"/>
          </a:xfrm>
          <a:custGeom>
            <a:avLst/>
            <a:gdLst/>
            <a:ahLst/>
            <a:cxnLst/>
            <a:rect l="l" t="t" r="r" b="b"/>
            <a:pathLst>
              <a:path w="11814256" h="4590596">
                <a:moveTo>
                  <a:pt x="0" y="0"/>
                </a:moveTo>
                <a:lnTo>
                  <a:pt x="11814256" y="0"/>
                </a:lnTo>
                <a:lnTo>
                  <a:pt x="11814256" y="4590595"/>
                </a:lnTo>
                <a:lnTo>
                  <a:pt x="0" y="4590595"/>
                </a:lnTo>
                <a:lnTo>
                  <a:pt x="0" y="0"/>
                </a:lnTo>
                <a:close/>
              </a:path>
            </a:pathLst>
          </a:custGeom>
          <a:blipFill>
            <a:blip r:embed="rId3"/>
            <a:stretch>
              <a:fillRect t="-18001" b="-7138"/>
            </a:stretch>
          </a:blipFill>
        </p:spPr>
        <p:txBody>
          <a:bodyPr/>
          <a:lstStyle/>
          <a:p>
            <a:endParaRPr lang="en-US"/>
          </a:p>
        </p:txBody>
      </p:sp>
      <p:sp>
        <p:nvSpPr>
          <p:cNvPr id="30" name="TextBox 30"/>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31" name="TextBox 31"/>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32" name="TextBox 32"/>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33" name="TextBox 33"/>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34" name="TextBox 34"/>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35" name="TextBox 35"/>
          <p:cNvSpPr txBox="1"/>
          <p:nvPr/>
        </p:nvSpPr>
        <p:spPr>
          <a:xfrm>
            <a:off x="492212" y="7403019"/>
            <a:ext cx="11746400" cy="1397000"/>
          </a:xfrm>
          <a:prstGeom prst="rect">
            <a:avLst/>
          </a:prstGeom>
        </p:spPr>
        <p:txBody>
          <a:bodyPr lIns="0" tIns="0" rIns="0" bIns="0" rtlCol="0" anchor="t">
            <a:spAutoFit/>
          </a:bodyPr>
          <a:lstStyle/>
          <a:p>
            <a:pPr algn="just">
              <a:lnSpc>
                <a:spcPts val="2800"/>
              </a:lnSpc>
              <a:spcBef>
                <a:spcPct val="0"/>
              </a:spcBef>
            </a:pPr>
            <a:r>
              <a:rPr lang="en-US" sz="2000" b="1">
                <a:solidFill>
                  <a:srgbClr val="EE806B"/>
                </a:solidFill>
                <a:latin typeface="Montserrat Bold"/>
                <a:ea typeface="Montserrat Bold"/>
                <a:cs typeface="Montserrat Bold"/>
                <a:sym typeface="Montserrat Bold"/>
              </a:rPr>
              <a:t>Low</a:t>
            </a:r>
            <a:r>
              <a:rPr lang="en-US" sz="2000" b="1" u="none" strike="noStrike">
                <a:solidFill>
                  <a:srgbClr val="EE806B"/>
                </a:solidFill>
                <a:latin typeface="Montserrat Bold"/>
                <a:ea typeface="Montserrat Bold"/>
                <a:cs typeface="Montserrat Bold"/>
                <a:sym typeface="Montserrat Bold"/>
              </a:rPr>
              <a:t> financial health comes mainly from spending too close to income. The more customers spend relative to what they earn, the lower their score tends to be, far more than with any other factor. Irregular spending and a smaller share on essentials add little once this is known.</a:t>
            </a:r>
          </a:p>
        </p:txBody>
      </p:sp>
      <p:sp>
        <p:nvSpPr>
          <p:cNvPr id="36" name="TextBox 36"/>
          <p:cNvSpPr txBox="1"/>
          <p:nvPr/>
        </p:nvSpPr>
        <p:spPr>
          <a:xfrm>
            <a:off x="12681883" y="3049116"/>
            <a:ext cx="4857342" cy="104457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a:solidFill>
                  <a:srgbClr val="000000"/>
                </a:solidFill>
                <a:latin typeface="Montserrat"/>
                <a:ea typeface="Montserrat"/>
                <a:cs typeface="Montserrat"/>
                <a:sym typeface="Montserrat"/>
              </a:rPr>
              <a:t>One factor dominates. Spend-to-income alone explains 81% of the health score (rho -0.95).</a:t>
            </a:r>
          </a:p>
        </p:txBody>
      </p:sp>
      <p:sp>
        <p:nvSpPr>
          <p:cNvPr id="37" name="TextBox 37"/>
          <p:cNvSpPr txBox="1"/>
          <p:nvPr/>
        </p:nvSpPr>
        <p:spPr>
          <a:xfrm>
            <a:off x="3581552" y="6950512"/>
            <a:ext cx="5567720"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8. Correlates of the health score and low-health rate by spend-to-income quintile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Financial Health Analysis</a:t>
              </a:r>
            </a:p>
            <a:p>
              <a:pPr algn="l">
                <a:lnSpc>
                  <a:spcPts val="3500"/>
                </a:lnSpc>
              </a:pPr>
              <a:r>
                <a:rPr lang="en-US" sz="2500">
                  <a:solidFill>
                    <a:srgbClr val="000000"/>
                  </a:solidFill>
                  <a:latin typeface="Montserrat"/>
                  <a:ea typeface="Montserrat"/>
                  <a:cs typeface="Montserrat"/>
                  <a:sym typeface="Montserrat"/>
                </a:rPr>
                <a:t> In stressed months, discretionary spending takes over the budget and pushes it far past (Task 1, Q2)</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TextBox 15"/>
          <p:cNvSpPr txBox="1"/>
          <p:nvPr/>
        </p:nvSpPr>
        <p:spPr>
          <a:xfrm>
            <a:off x="12756680" y="6899781"/>
            <a:ext cx="4812447" cy="104457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D</a:t>
            </a:r>
            <a:r>
              <a:rPr lang="en-US" sz="2000" u="none" strike="noStrike">
                <a:solidFill>
                  <a:srgbClr val="000000"/>
                </a:solidFill>
                <a:latin typeface="Montserrat"/>
                <a:ea typeface="Montserrat"/>
                <a:cs typeface="Montserrat"/>
                <a:sym typeface="Montserrat"/>
              </a:rPr>
              <a:t>iscretionary explodes: 1.54x income vs 0.11x, pushing total spend to about 2.1x income.</a:t>
            </a:r>
          </a:p>
        </p:txBody>
      </p:sp>
      <p:grpSp>
        <p:nvGrpSpPr>
          <p:cNvPr id="16" name="Group 16"/>
          <p:cNvGrpSpPr/>
          <p:nvPr/>
        </p:nvGrpSpPr>
        <p:grpSpPr>
          <a:xfrm>
            <a:off x="12370602" y="2321817"/>
            <a:ext cx="5294674" cy="434201"/>
            <a:chOff x="0" y="0"/>
            <a:chExt cx="1400953" cy="114888"/>
          </a:xfrm>
        </p:grpSpPr>
        <p:sp>
          <p:nvSpPr>
            <p:cNvPr id="17" name="Freeform 17"/>
            <p:cNvSpPr/>
            <p:nvPr/>
          </p:nvSpPr>
          <p:spPr>
            <a:xfrm>
              <a:off x="0" y="0"/>
              <a:ext cx="1400954" cy="114888"/>
            </a:xfrm>
            <a:custGeom>
              <a:avLst/>
              <a:gdLst/>
              <a:ahLst/>
              <a:cxnLst/>
              <a:rect l="l" t="t" r="r" b="b"/>
              <a:pathLst>
                <a:path w="1400954" h="114888">
                  <a:moveTo>
                    <a:pt x="0" y="0"/>
                  </a:moveTo>
                  <a:lnTo>
                    <a:pt x="1400954" y="0"/>
                  </a:lnTo>
                  <a:lnTo>
                    <a:pt x="1400954" y="114888"/>
                  </a:lnTo>
                  <a:lnTo>
                    <a:pt x="0" y="114888"/>
                  </a:lnTo>
                  <a:close/>
                </a:path>
              </a:pathLst>
            </a:custGeom>
            <a:solidFill>
              <a:srgbClr val="E15F4B"/>
            </a:solidFill>
          </p:spPr>
          <p:txBody>
            <a:bodyPr/>
            <a:lstStyle/>
            <a:p>
              <a:endParaRPr lang="en-US"/>
            </a:p>
          </p:txBody>
        </p:sp>
        <p:sp>
          <p:nvSpPr>
            <p:cNvPr id="18" name="TextBox 18"/>
            <p:cNvSpPr txBox="1"/>
            <p:nvPr/>
          </p:nvSpPr>
          <p:spPr>
            <a:xfrm>
              <a:off x="0" y="-19050"/>
              <a:ext cx="1400953" cy="133938"/>
            </a:xfrm>
            <a:prstGeom prst="rect">
              <a:avLst/>
            </a:prstGeom>
          </p:spPr>
          <p:txBody>
            <a:bodyPr lIns="50800" tIns="50800" rIns="50800" bIns="50800" rtlCol="0" anchor="ctr"/>
            <a:lstStyle/>
            <a:p>
              <a:pPr algn="ctr">
                <a:lnSpc>
                  <a:spcPts val="1679"/>
                </a:lnSpc>
              </a:pPr>
              <a:endParaRPr/>
            </a:p>
          </p:txBody>
        </p:sp>
      </p:grpSp>
      <p:grpSp>
        <p:nvGrpSpPr>
          <p:cNvPr id="19" name="Group 19"/>
          <p:cNvGrpSpPr/>
          <p:nvPr/>
        </p:nvGrpSpPr>
        <p:grpSpPr>
          <a:xfrm>
            <a:off x="12556151" y="3013193"/>
            <a:ext cx="200528" cy="1436409"/>
            <a:chOff x="0" y="0"/>
            <a:chExt cx="51240" cy="367036"/>
          </a:xfrm>
        </p:grpSpPr>
        <p:sp>
          <p:nvSpPr>
            <p:cNvPr id="20" name="Freeform 20"/>
            <p:cNvSpPr/>
            <p:nvPr/>
          </p:nvSpPr>
          <p:spPr>
            <a:xfrm>
              <a:off x="0" y="0"/>
              <a:ext cx="51240" cy="367036"/>
            </a:xfrm>
            <a:custGeom>
              <a:avLst/>
              <a:gdLst/>
              <a:ahLst/>
              <a:cxnLst/>
              <a:rect l="l" t="t" r="r" b="b"/>
              <a:pathLst>
                <a:path w="51240" h="367036">
                  <a:moveTo>
                    <a:pt x="25620" y="0"/>
                  </a:moveTo>
                  <a:lnTo>
                    <a:pt x="25620" y="0"/>
                  </a:lnTo>
                  <a:cubicBezTo>
                    <a:pt x="32415" y="0"/>
                    <a:pt x="38931" y="2699"/>
                    <a:pt x="43736" y="7504"/>
                  </a:cubicBezTo>
                  <a:cubicBezTo>
                    <a:pt x="48540" y="12309"/>
                    <a:pt x="51240" y="18825"/>
                    <a:pt x="51240" y="25620"/>
                  </a:cubicBezTo>
                  <a:lnTo>
                    <a:pt x="51240" y="341416"/>
                  </a:lnTo>
                  <a:cubicBezTo>
                    <a:pt x="51240" y="355566"/>
                    <a:pt x="39769" y="367036"/>
                    <a:pt x="25620" y="367036"/>
                  </a:cubicBezTo>
                  <a:lnTo>
                    <a:pt x="25620" y="367036"/>
                  </a:lnTo>
                  <a:cubicBezTo>
                    <a:pt x="11470" y="367036"/>
                    <a:pt x="0" y="355566"/>
                    <a:pt x="0" y="341416"/>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1" name="TextBox 21"/>
            <p:cNvSpPr txBox="1"/>
            <p:nvPr/>
          </p:nvSpPr>
          <p:spPr>
            <a:xfrm>
              <a:off x="0" y="-19050"/>
              <a:ext cx="51240" cy="386086"/>
            </a:xfrm>
            <a:prstGeom prst="rect">
              <a:avLst/>
            </a:prstGeom>
          </p:spPr>
          <p:txBody>
            <a:bodyPr lIns="52604" tIns="52604" rIns="52604" bIns="52604" rtlCol="0" anchor="ctr"/>
            <a:lstStyle/>
            <a:p>
              <a:pPr algn="ctr">
                <a:lnSpc>
                  <a:spcPts val="1679"/>
                </a:lnSpc>
              </a:pPr>
              <a:endParaRPr/>
            </a:p>
          </p:txBody>
        </p:sp>
      </p:grpSp>
      <p:sp>
        <p:nvSpPr>
          <p:cNvPr id="22" name="TextBox 22"/>
          <p:cNvSpPr txBox="1"/>
          <p:nvPr/>
        </p:nvSpPr>
        <p:spPr>
          <a:xfrm>
            <a:off x="12756680" y="5186424"/>
            <a:ext cx="4812447" cy="692150"/>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a:solidFill>
                  <a:srgbClr val="000000"/>
                </a:solidFill>
                <a:latin typeface="Montserrat"/>
                <a:ea typeface="Montserrat"/>
                <a:cs typeface="Montserrat"/>
                <a:sym typeface="Montserrat"/>
              </a:rPr>
              <a:t>Travel</a:t>
            </a:r>
            <a:r>
              <a:rPr lang="en-US" sz="2000" u="none" strike="noStrike">
                <a:solidFill>
                  <a:srgbClr val="000000"/>
                </a:solidFill>
                <a:latin typeface="Montserrat"/>
                <a:ea typeface="Montserrat"/>
                <a:cs typeface="Montserrat"/>
                <a:sym typeface="Montserrat"/>
              </a:rPr>
              <a:t> leads the shift (+22.2 pts), then online shopping (+11 pts).</a:t>
            </a:r>
          </a:p>
        </p:txBody>
      </p:sp>
      <p:grpSp>
        <p:nvGrpSpPr>
          <p:cNvPr id="23" name="Group 23"/>
          <p:cNvGrpSpPr/>
          <p:nvPr/>
        </p:nvGrpSpPr>
        <p:grpSpPr>
          <a:xfrm>
            <a:off x="12556151" y="4792502"/>
            <a:ext cx="200528" cy="1518095"/>
            <a:chOff x="0" y="0"/>
            <a:chExt cx="51240" cy="387909"/>
          </a:xfrm>
        </p:grpSpPr>
        <p:sp>
          <p:nvSpPr>
            <p:cNvPr id="24" name="Freeform 24"/>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5" name="TextBox 25"/>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grpSp>
        <p:nvGrpSpPr>
          <p:cNvPr id="26" name="Group 26"/>
          <p:cNvGrpSpPr/>
          <p:nvPr/>
        </p:nvGrpSpPr>
        <p:grpSpPr>
          <a:xfrm>
            <a:off x="12556151" y="6682071"/>
            <a:ext cx="200528" cy="1518095"/>
            <a:chOff x="0" y="0"/>
            <a:chExt cx="51240" cy="387909"/>
          </a:xfrm>
        </p:grpSpPr>
        <p:sp>
          <p:nvSpPr>
            <p:cNvPr id="27" name="Freeform 27"/>
            <p:cNvSpPr/>
            <p:nvPr/>
          </p:nvSpPr>
          <p:spPr>
            <a:xfrm>
              <a:off x="0" y="0"/>
              <a:ext cx="51240" cy="387909"/>
            </a:xfrm>
            <a:custGeom>
              <a:avLst/>
              <a:gdLst/>
              <a:ahLst/>
              <a:cxnLst/>
              <a:rect l="l" t="t" r="r" b="b"/>
              <a:pathLst>
                <a:path w="51240" h="387909">
                  <a:moveTo>
                    <a:pt x="25620" y="0"/>
                  </a:moveTo>
                  <a:lnTo>
                    <a:pt x="25620" y="0"/>
                  </a:lnTo>
                  <a:cubicBezTo>
                    <a:pt x="32415" y="0"/>
                    <a:pt x="38931" y="2699"/>
                    <a:pt x="43736" y="7504"/>
                  </a:cubicBezTo>
                  <a:cubicBezTo>
                    <a:pt x="48540" y="12309"/>
                    <a:pt x="51240" y="18825"/>
                    <a:pt x="51240" y="25620"/>
                  </a:cubicBezTo>
                  <a:lnTo>
                    <a:pt x="51240" y="362289"/>
                  </a:lnTo>
                  <a:cubicBezTo>
                    <a:pt x="51240" y="376438"/>
                    <a:pt x="39769" y="387909"/>
                    <a:pt x="25620" y="387909"/>
                  </a:cubicBezTo>
                  <a:lnTo>
                    <a:pt x="25620" y="387909"/>
                  </a:lnTo>
                  <a:cubicBezTo>
                    <a:pt x="11470" y="387909"/>
                    <a:pt x="0" y="376438"/>
                    <a:pt x="0" y="362289"/>
                  </a:cubicBezTo>
                  <a:lnTo>
                    <a:pt x="0" y="25620"/>
                  </a:lnTo>
                  <a:cubicBezTo>
                    <a:pt x="0" y="11470"/>
                    <a:pt x="11470" y="0"/>
                    <a:pt x="25620" y="0"/>
                  </a:cubicBezTo>
                  <a:close/>
                </a:path>
              </a:pathLst>
            </a:custGeom>
            <a:solidFill>
              <a:srgbClr val="FFEAB1"/>
            </a:solidFill>
            <a:ln cap="rnd">
              <a:noFill/>
              <a:prstDash val="sysDot"/>
              <a:round/>
            </a:ln>
          </p:spPr>
          <p:txBody>
            <a:bodyPr/>
            <a:lstStyle/>
            <a:p>
              <a:endParaRPr lang="en-US"/>
            </a:p>
          </p:txBody>
        </p:sp>
        <p:sp>
          <p:nvSpPr>
            <p:cNvPr id="28" name="TextBox 28"/>
            <p:cNvSpPr txBox="1"/>
            <p:nvPr/>
          </p:nvSpPr>
          <p:spPr>
            <a:xfrm>
              <a:off x="0" y="-19050"/>
              <a:ext cx="51240" cy="406959"/>
            </a:xfrm>
            <a:prstGeom prst="rect">
              <a:avLst/>
            </a:prstGeom>
          </p:spPr>
          <p:txBody>
            <a:bodyPr lIns="52604" tIns="52604" rIns="52604" bIns="52604" rtlCol="0" anchor="ctr"/>
            <a:lstStyle/>
            <a:p>
              <a:pPr algn="ctr">
                <a:lnSpc>
                  <a:spcPts val="1679"/>
                </a:lnSpc>
              </a:pPr>
              <a:endParaRPr/>
            </a:p>
          </p:txBody>
        </p:sp>
      </p:grpSp>
      <p:sp>
        <p:nvSpPr>
          <p:cNvPr id="29" name="Freeform 29"/>
          <p:cNvSpPr/>
          <p:nvPr/>
        </p:nvSpPr>
        <p:spPr>
          <a:xfrm>
            <a:off x="202344" y="2321817"/>
            <a:ext cx="12069512" cy="3957084"/>
          </a:xfrm>
          <a:custGeom>
            <a:avLst/>
            <a:gdLst/>
            <a:ahLst/>
            <a:cxnLst/>
            <a:rect l="l" t="t" r="r" b="b"/>
            <a:pathLst>
              <a:path w="12069512" h="3957084">
                <a:moveTo>
                  <a:pt x="0" y="0"/>
                </a:moveTo>
                <a:lnTo>
                  <a:pt x="12069512" y="0"/>
                </a:lnTo>
                <a:lnTo>
                  <a:pt x="12069512" y="3957084"/>
                </a:lnTo>
                <a:lnTo>
                  <a:pt x="0" y="3957084"/>
                </a:lnTo>
                <a:lnTo>
                  <a:pt x="0" y="0"/>
                </a:lnTo>
                <a:close/>
              </a:path>
            </a:pathLst>
          </a:custGeom>
          <a:blipFill>
            <a:blip r:embed="rId3"/>
            <a:stretch>
              <a:fillRect l="-3184" t="-11975" b="-7422"/>
            </a:stretch>
          </a:blipFill>
        </p:spPr>
        <p:txBody>
          <a:bodyPr/>
          <a:lstStyle/>
          <a:p>
            <a:endParaRPr lang="en-US"/>
          </a:p>
        </p:txBody>
      </p:sp>
      <p:sp>
        <p:nvSpPr>
          <p:cNvPr id="30" name="TextBox 30"/>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31" name="TextBox 31"/>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32" name="TextBox 32"/>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33" name="TextBox 33"/>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34" name="TextBox 34"/>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35" name="TextBox 35"/>
          <p:cNvSpPr txBox="1"/>
          <p:nvPr/>
        </p:nvSpPr>
        <p:spPr>
          <a:xfrm>
            <a:off x="734806" y="7161496"/>
            <a:ext cx="11404415" cy="850900"/>
          </a:xfrm>
          <a:prstGeom prst="rect">
            <a:avLst/>
          </a:prstGeom>
        </p:spPr>
        <p:txBody>
          <a:bodyPr lIns="0" tIns="0" rIns="0" bIns="0" rtlCol="0" anchor="t">
            <a:spAutoFit/>
          </a:bodyPr>
          <a:lstStyle/>
          <a:p>
            <a:pPr algn="just">
              <a:lnSpc>
                <a:spcPts val="3499"/>
              </a:lnSpc>
              <a:spcBef>
                <a:spcPct val="0"/>
              </a:spcBef>
            </a:pPr>
            <a:r>
              <a:rPr lang="en-US" sz="2499" b="1">
                <a:solidFill>
                  <a:srgbClr val="EE806B"/>
                </a:solidFill>
                <a:latin typeface="Montserrat Bold"/>
                <a:ea typeface="Montserrat Bold"/>
                <a:cs typeface="Montserrat Bold"/>
                <a:sym typeface="Montserrat Bold"/>
              </a:rPr>
              <a:t>St</a:t>
            </a:r>
            <a:r>
              <a:rPr lang="en-US" sz="2499" b="1" u="none" strike="noStrike">
                <a:solidFill>
                  <a:srgbClr val="EE806B"/>
                </a:solidFill>
                <a:latin typeface="Montserrat Bold"/>
                <a:ea typeface="Montserrat Bold"/>
                <a:cs typeface="Montserrat Bold"/>
                <a:sym typeface="Montserrat Bold"/>
              </a:rPr>
              <a:t>ressed months are driven by discretionary spending, mainly travel and shopping, not by essentials.</a:t>
            </a:r>
          </a:p>
        </p:txBody>
      </p:sp>
      <p:sp>
        <p:nvSpPr>
          <p:cNvPr id="36" name="TextBox 36"/>
          <p:cNvSpPr txBox="1"/>
          <p:nvPr/>
        </p:nvSpPr>
        <p:spPr>
          <a:xfrm>
            <a:off x="12756680" y="3190060"/>
            <a:ext cx="4812447" cy="1044575"/>
          </a:xfrm>
          <a:prstGeom prst="rect">
            <a:avLst/>
          </a:prstGeom>
        </p:spPr>
        <p:txBody>
          <a:bodyPr lIns="0" tIns="0" rIns="0" bIns="0" rtlCol="0" anchor="t">
            <a:spAutoFit/>
          </a:bodyPr>
          <a:lstStyle/>
          <a:p>
            <a:pPr marL="431801" lvl="1" indent="-215900" algn="just">
              <a:lnSpc>
                <a:spcPts val="2800"/>
              </a:lnSpc>
              <a:buFont typeface="Arial"/>
              <a:buChar char="•"/>
            </a:pPr>
            <a:r>
              <a:rPr lang="en-US" sz="2000">
                <a:solidFill>
                  <a:srgbClr val="000000"/>
                </a:solidFill>
                <a:latin typeface="Montserrat"/>
                <a:ea typeface="Montserrat"/>
                <a:cs typeface="Montserrat"/>
                <a:sym typeface="Montserrat"/>
              </a:rPr>
              <a:t>Discretionary dominates stressed months: 72% of spend vs 41% in healthy months.</a:t>
            </a:r>
          </a:p>
        </p:txBody>
      </p:sp>
      <p:sp>
        <p:nvSpPr>
          <p:cNvPr id="37" name="TextBox 37"/>
          <p:cNvSpPr txBox="1"/>
          <p:nvPr/>
        </p:nvSpPr>
        <p:spPr>
          <a:xfrm>
            <a:off x="2825729" y="6488396"/>
            <a:ext cx="7063859"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9. Essential versus discretionary spend by health band: share, level relative to income and category detail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05135"/>
            <a:ext cx="16364245" cy="1515078"/>
            <a:chOff x="0" y="-57150"/>
            <a:chExt cx="21818994" cy="2020105"/>
          </a:xfrm>
        </p:grpSpPr>
        <p:sp>
          <p:nvSpPr>
            <p:cNvPr id="11" name="Freeform 11"/>
            <p:cNvSpPr/>
            <p:nvPr/>
          </p:nvSpPr>
          <p:spPr>
            <a:xfrm>
              <a:off x="0" y="-1"/>
              <a:ext cx="21818991" cy="1962952"/>
            </a:xfrm>
            <a:custGeom>
              <a:avLst/>
              <a:gdLst/>
              <a:ahLst/>
              <a:cxnLst/>
              <a:rect l="l" t="t" r="r" b="b"/>
              <a:pathLst>
                <a:path w="21818991" h="1962951">
                  <a:moveTo>
                    <a:pt x="0" y="0"/>
                  </a:moveTo>
                  <a:lnTo>
                    <a:pt x="21818991" y="0"/>
                  </a:lnTo>
                  <a:lnTo>
                    <a:pt x="21818991" y="1962951"/>
                  </a:lnTo>
                  <a:lnTo>
                    <a:pt x="0" y="1962951"/>
                  </a:lnTo>
                  <a:close/>
                </a:path>
              </a:pathLst>
            </a:custGeom>
            <a:blipFill>
              <a:blip r:embed="rId2">
                <a:alphaModFix amt="0"/>
              </a:blip>
              <a:stretch>
                <a:fillRect t="-186345" b="-146822"/>
              </a:stretch>
            </a:blipFill>
          </p:spPr>
          <p:txBody>
            <a:bodyPr/>
            <a:lstStyle/>
            <a:p>
              <a:endParaRPr lang="en-US"/>
            </a:p>
          </p:txBody>
        </p:sp>
        <p:sp>
          <p:nvSpPr>
            <p:cNvPr id="12" name="TextBox 12"/>
            <p:cNvSpPr txBox="1"/>
            <p:nvPr/>
          </p:nvSpPr>
          <p:spPr>
            <a:xfrm>
              <a:off x="0" y="-57150"/>
              <a:ext cx="21818994" cy="2020105"/>
            </a:xfrm>
            <a:prstGeom prst="rect">
              <a:avLst/>
            </a:prstGeom>
          </p:spPr>
          <p:txBody>
            <a:bodyPr lIns="0" tIns="0" rIns="0" bIns="0" rtlCol="0" anchor="b"/>
            <a:lstStyle/>
            <a:p>
              <a:pPr algn="l">
                <a:lnSpc>
                  <a:spcPts val="4200"/>
                </a:lnSpc>
              </a:pPr>
              <a:r>
                <a:rPr lang="en-US" sz="3000" b="1" dirty="0">
                  <a:solidFill>
                    <a:srgbClr val="CD4E4F"/>
                  </a:solidFill>
                  <a:latin typeface="Montserrat Bold"/>
                  <a:ea typeface="Montserrat Bold"/>
                  <a:cs typeface="Montserrat Bold"/>
                  <a:sym typeface="Montserrat Bold"/>
                </a:rPr>
                <a:t>Financial Health Analysis</a:t>
              </a:r>
            </a:p>
            <a:p>
              <a:pPr algn="l">
                <a:lnSpc>
                  <a:spcPts val="3500"/>
                </a:lnSpc>
              </a:pPr>
              <a:r>
                <a:rPr lang="en-US" sz="2500" dirty="0">
                  <a:solidFill>
                    <a:srgbClr val="000000"/>
                  </a:solidFill>
                  <a:latin typeface="Montserrat"/>
                  <a:ea typeface="Montserrat"/>
                  <a:cs typeface="Montserrat"/>
                  <a:sym typeface="Montserrat"/>
                </a:rPr>
                <a:t>It's how people spend, not who they are, and that shapes financial health (Task 2,Q3; Task 1, Q5)</a:t>
              </a:r>
            </a:p>
            <a:p>
              <a:pPr algn="l">
                <a:lnSpc>
                  <a:spcPts val="3500"/>
                </a:lnSpc>
              </a:pPr>
              <a:endParaRPr lang="en-US" sz="2500" dirty="0">
                <a:solidFill>
                  <a:srgbClr val="000000"/>
                </a:solidFill>
                <a:latin typeface="Montserrat"/>
                <a:ea typeface="Montserrat"/>
                <a:cs typeface="Montserrat"/>
                <a:sym typeface="Montserrat"/>
              </a:endParaRP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AutoShape 15"/>
          <p:cNvSpPr/>
          <p:nvPr/>
        </p:nvSpPr>
        <p:spPr>
          <a:xfrm flipH="1">
            <a:off x="9149272" y="1653478"/>
            <a:ext cx="4253" cy="6742610"/>
          </a:xfrm>
          <a:prstGeom prst="line">
            <a:avLst/>
          </a:prstGeom>
          <a:ln w="19050" cap="flat">
            <a:solidFill>
              <a:srgbClr val="B4B4B4"/>
            </a:solidFill>
            <a:prstDash val="solid"/>
            <a:headEnd type="none" w="sm" len="sm"/>
            <a:tailEnd type="none" w="sm" len="sm"/>
          </a:ln>
        </p:spPr>
        <p:txBody>
          <a:bodyPr/>
          <a:lstStyle/>
          <a:p>
            <a:endParaRPr lang="en-US"/>
          </a:p>
        </p:txBody>
      </p:sp>
      <p:sp>
        <p:nvSpPr>
          <p:cNvPr id="16" name="Freeform 16"/>
          <p:cNvSpPr/>
          <p:nvPr/>
        </p:nvSpPr>
        <p:spPr>
          <a:xfrm>
            <a:off x="9600802" y="2394305"/>
            <a:ext cx="8194753" cy="3134491"/>
          </a:xfrm>
          <a:custGeom>
            <a:avLst/>
            <a:gdLst/>
            <a:ahLst/>
            <a:cxnLst/>
            <a:rect l="l" t="t" r="r" b="b"/>
            <a:pathLst>
              <a:path w="8194753" h="3134491">
                <a:moveTo>
                  <a:pt x="0" y="0"/>
                </a:moveTo>
                <a:lnTo>
                  <a:pt x="8194753" y="0"/>
                </a:lnTo>
                <a:lnTo>
                  <a:pt x="8194753" y="3134491"/>
                </a:lnTo>
                <a:lnTo>
                  <a:pt x="0" y="3134491"/>
                </a:lnTo>
                <a:lnTo>
                  <a:pt x="0" y="0"/>
                </a:lnTo>
                <a:close/>
              </a:path>
            </a:pathLst>
          </a:custGeom>
          <a:blipFill>
            <a:blip r:embed="rId3"/>
            <a:stretch>
              <a:fillRect l="-7340" t="-17399" b="-9935"/>
            </a:stretch>
          </a:blipFill>
        </p:spPr>
        <p:txBody>
          <a:bodyPr/>
          <a:lstStyle/>
          <a:p>
            <a:endParaRPr lang="en-US"/>
          </a:p>
        </p:txBody>
      </p:sp>
      <p:sp>
        <p:nvSpPr>
          <p:cNvPr id="17" name="Freeform 17"/>
          <p:cNvSpPr/>
          <p:nvPr/>
        </p:nvSpPr>
        <p:spPr>
          <a:xfrm>
            <a:off x="923268" y="2394305"/>
            <a:ext cx="7554230" cy="3078204"/>
          </a:xfrm>
          <a:custGeom>
            <a:avLst/>
            <a:gdLst/>
            <a:ahLst/>
            <a:cxnLst/>
            <a:rect l="l" t="t" r="r" b="b"/>
            <a:pathLst>
              <a:path w="7554230" h="3078204">
                <a:moveTo>
                  <a:pt x="0" y="0"/>
                </a:moveTo>
                <a:lnTo>
                  <a:pt x="7554231" y="0"/>
                </a:lnTo>
                <a:lnTo>
                  <a:pt x="7554231" y="3078204"/>
                </a:lnTo>
                <a:lnTo>
                  <a:pt x="0" y="3078204"/>
                </a:lnTo>
                <a:lnTo>
                  <a:pt x="0" y="0"/>
                </a:lnTo>
                <a:close/>
              </a:path>
            </a:pathLst>
          </a:custGeom>
          <a:blipFill>
            <a:blip r:embed="rId4"/>
            <a:stretch>
              <a:fillRect t="-13233" b="-7784"/>
            </a:stretch>
          </a:blipFill>
        </p:spPr>
        <p:txBody>
          <a:bodyPr/>
          <a:lstStyle/>
          <a:p>
            <a:endParaRPr lang="en-US"/>
          </a:p>
        </p:txBody>
      </p:sp>
      <p:sp>
        <p:nvSpPr>
          <p:cNvPr id="18" name="TextBox 18"/>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9" name="TextBox 19"/>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20" name="TextBox 20"/>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21" name="TextBox 21"/>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2" name="TextBox 2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3" name="TextBox 23"/>
          <p:cNvSpPr txBox="1"/>
          <p:nvPr/>
        </p:nvSpPr>
        <p:spPr>
          <a:xfrm>
            <a:off x="1074047" y="1615378"/>
            <a:ext cx="7096769" cy="621030"/>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DEMOGRAPHICS:</a:t>
            </a:r>
            <a:r>
              <a:rPr lang="en-US" sz="1800">
                <a:solidFill>
                  <a:srgbClr val="000000"/>
                </a:solidFill>
                <a:latin typeface="Montserrat"/>
                <a:ea typeface="Montserrat"/>
                <a:cs typeface="Montserrat"/>
                <a:sym typeface="Montserrat"/>
              </a:rPr>
              <a:t> Job and location matter a little, and only through spending</a:t>
            </a:r>
          </a:p>
        </p:txBody>
      </p:sp>
      <p:sp>
        <p:nvSpPr>
          <p:cNvPr id="24" name="TextBox 24"/>
          <p:cNvSpPr txBox="1"/>
          <p:nvPr/>
        </p:nvSpPr>
        <p:spPr>
          <a:xfrm>
            <a:off x="10564862" y="1615378"/>
            <a:ext cx="6266634" cy="621030"/>
          </a:xfrm>
          <a:prstGeom prst="rect">
            <a:avLst/>
          </a:prstGeom>
        </p:spPr>
        <p:txBody>
          <a:bodyPr lIns="0" tIns="0" rIns="0" bIns="0" rtlCol="0" anchor="t">
            <a:spAutoFit/>
          </a:bodyPr>
          <a:lstStyle/>
          <a:p>
            <a:pPr marL="0" lvl="0" indent="0" algn="ctr">
              <a:lnSpc>
                <a:spcPts val="2520"/>
              </a:lnSpc>
              <a:spcBef>
                <a:spcPct val="0"/>
              </a:spcBef>
            </a:pPr>
            <a:r>
              <a:rPr lang="en-US" sz="1800" b="1" u="none" strike="noStrike">
                <a:solidFill>
                  <a:srgbClr val="FF751F"/>
                </a:solidFill>
                <a:latin typeface="Montserrat Bold"/>
                <a:ea typeface="Montserrat Bold"/>
                <a:cs typeface="Montserrat Bold"/>
                <a:sym typeface="Montserrat Bold"/>
              </a:rPr>
              <a:t>AGE</a:t>
            </a:r>
            <a:r>
              <a:rPr lang="en-US" sz="1800" u="none" strike="noStrike">
                <a:solidFill>
                  <a:srgbClr val="000000"/>
                </a:solidFill>
                <a:latin typeface="Montserrat"/>
                <a:ea typeface="Montserrat"/>
                <a:cs typeface="Montserrat"/>
                <a:sym typeface="Montserrat"/>
              </a:rPr>
              <a:t>: Young workers spend the most relative to income, but the gap is small</a:t>
            </a:r>
          </a:p>
        </p:txBody>
      </p:sp>
      <p:sp>
        <p:nvSpPr>
          <p:cNvPr id="25" name="TextBox 25"/>
          <p:cNvSpPr txBox="1"/>
          <p:nvPr/>
        </p:nvSpPr>
        <p:spPr>
          <a:xfrm>
            <a:off x="546646" y="5867906"/>
            <a:ext cx="8151570" cy="2101850"/>
          </a:xfrm>
          <a:prstGeom prst="rect">
            <a:avLst/>
          </a:prstGeom>
        </p:spPr>
        <p:txBody>
          <a:bodyPr lIns="0" tIns="0" rIns="0" bIns="0" rtlCol="0" anchor="t">
            <a:spAutoFit/>
          </a:bodyPr>
          <a:lstStyle/>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Occupation and province shift health by only 5–6 pts (Engineering &amp; IT 69.7 vs Public service 63.7; Hà </a:t>
            </a:r>
            <a:r>
              <a:rPr lang="en-US" sz="2000" dirty="0" err="1">
                <a:solidFill>
                  <a:srgbClr val="000000"/>
                </a:solidFill>
                <a:latin typeface="Montserrat"/>
                <a:ea typeface="Montserrat"/>
                <a:cs typeface="Montserrat"/>
                <a:sym typeface="Montserrat"/>
              </a:rPr>
              <a:t>Nội</a:t>
            </a:r>
            <a:r>
              <a:rPr lang="en-US" sz="2000" dirty="0">
                <a:solidFill>
                  <a:srgbClr val="000000"/>
                </a:solidFill>
                <a:latin typeface="Montserrat"/>
                <a:ea typeface="Montserrat"/>
                <a:cs typeface="Montserrat"/>
                <a:sym typeface="Montserrat"/>
              </a:rPr>
              <a:t> 68.1 vs Thái Nguyên 63.0), and both gaps track spend-to-income (rho −1.00 and −0.92)</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Spend-to-income alone moves the score by about 25 pts across its quintiles, roughly 4x the largest demographic gap</a:t>
            </a:r>
          </a:p>
        </p:txBody>
      </p:sp>
      <p:sp>
        <p:nvSpPr>
          <p:cNvPr id="26" name="TextBox 26"/>
          <p:cNvSpPr txBox="1"/>
          <p:nvPr/>
        </p:nvSpPr>
        <p:spPr>
          <a:xfrm>
            <a:off x="9929002" y="6044118"/>
            <a:ext cx="7866553"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Ages 25–34 transact actively (179/month) yet have the lowest health (65.8), with the highest spend-to-income (0.72) and a lower essential share</a:t>
            </a:r>
          </a:p>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Across all ages, health varies by just 1.2 pts (p = 0.049): age is a weak driver</a:t>
            </a:r>
          </a:p>
        </p:txBody>
      </p:sp>
      <p:grpSp>
        <p:nvGrpSpPr>
          <p:cNvPr id="27" name="Group 27"/>
          <p:cNvGrpSpPr/>
          <p:nvPr/>
        </p:nvGrpSpPr>
        <p:grpSpPr>
          <a:xfrm>
            <a:off x="494601" y="5832136"/>
            <a:ext cx="95620" cy="2257245"/>
            <a:chOff x="0" y="0"/>
            <a:chExt cx="24433" cy="576779"/>
          </a:xfrm>
        </p:grpSpPr>
        <p:sp>
          <p:nvSpPr>
            <p:cNvPr id="28" name="Freeform 28"/>
            <p:cNvSpPr/>
            <p:nvPr/>
          </p:nvSpPr>
          <p:spPr>
            <a:xfrm>
              <a:off x="0" y="0"/>
              <a:ext cx="24433" cy="576779"/>
            </a:xfrm>
            <a:custGeom>
              <a:avLst/>
              <a:gdLst/>
              <a:ahLst/>
              <a:cxnLst/>
              <a:rect l="l" t="t" r="r" b="b"/>
              <a:pathLst>
                <a:path w="24433" h="576779">
                  <a:moveTo>
                    <a:pt x="12217" y="0"/>
                  </a:moveTo>
                  <a:lnTo>
                    <a:pt x="12217" y="0"/>
                  </a:lnTo>
                  <a:cubicBezTo>
                    <a:pt x="18964" y="0"/>
                    <a:pt x="24433" y="5470"/>
                    <a:pt x="24433" y="12217"/>
                  </a:cubicBezTo>
                  <a:lnTo>
                    <a:pt x="24433" y="564562"/>
                  </a:lnTo>
                  <a:cubicBezTo>
                    <a:pt x="24433" y="571309"/>
                    <a:pt x="18964" y="576779"/>
                    <a:pt x="12217" y="576779"/>
                  </a:cubicBezTo>
                  <a:lnTo>
                    <a:pt x="12217" y="576779"/>
                  </a:lnTo>
                  <a:cubicBezTo>
                    <a:pt x="5470" y="576779"/>
                    <a:pt x="0" y="571309"/>
                    <a:pt x="0" y="564562"/>
                  </a:cubicBezTo>
                  <a:lnTo>
                    <a:pt x="0" y="12217"/>
                  </a:lnTo>
                  <a:cubicBezTo>
                    <a:pt x="0" y="5470"/>
                    <a:pt x="5470" y="0"/>
                    <a:pt x="12217" y="0"/>
                  </a:cubicBezTo>
                  <a:close/>
                </a:path>
              </a:pathLst>
            </a:custGeom>
            <a:solidFill>
              <a:srgbClr val="FFEAB1"/>
            </a:solidFill>
            <a:ln cap="rnd">
              <a:noFill/>
              <a:prstDash val="sysDot"/>
              <a:round/>
            </a:ln>
          </p:spPr>
          <p:txBody>
            <a:bodyPr/>
            <a:lstStyle/>
            <a:p>
              <a:endParaRPr lang="en-US"/>
            </a:p>
          </p:txBody>
        </p:sp>
        <p:sp>
          <p:nvSpPr>
            <p:cNvPr id="29" name="TextBox 29"/>
            <p:cNvSpPr txBox="1"/>
            <p:nvPr/>
          </p:nvSpPr>
          <p:spPr>
            <a:xfrm>
              <a:off x="0" y="-19050"/>
              <a:ext cx="24433" cy="595829"/>
            </a:xfrm>
            <a:prstGeom prst="rect">
              <a:avLst/>
            </a:prstGeom>
          </p:spPr>
          <p:txBody>
            <a:bodyPr lIns="52604" tIns="52604" rIns="52604" bIns="52604" rtlCol="0" anchor="ctr"/>
            <a:lstStyle/>
            <a:p>
              <a:pPr algn="ctr">
                <a:lnSpc>
                  <a:spcPts val="1679"/>
                </a:lnSpc>
              </a:pPr>
              <a:endParaRPr/>
            </a:p>
          </p:txBody>
        </p:sp>
      </p:grpSp>
      <p:grpSp>
        <p:nvGrpSpPr>
          <p:cNvPr id="30" name="Group 30"/>
          <p:cNvGrpSpPr/>
          <p:nvPr/>
        </p:nvGrpSpPr>
        <p:grpSpPr>
          <a:xfrm>
            <a:off x="9689379" y="5809258"/>
            <a:ext cx="87806" cy="2257245"/>
            <a:chOff x="0" y="0"/>
            <a:chExt cx="22436" cy="576779"/>
          </a:xfrm>
        </p:grpSpPr>
        <p:sp>
          <p:nvSpPr>
            <p:cNvPr id="31" name="Freeform 31"/>
            <p:cNvSpPr/>
            <p:nvPr/>
          </p:nvSpPr>
          <p:spPr>
            <a:xfrm>
              <a:off x="0" y="0"/>
              <a:ext cx="22436" cy="576779"/>
            </a:xfrm>
            <a:custGeom>
              <a:avLst/>
              <a:gdLst/>
              <a:ahLst/>
              <a:cxnLst/>
              <a:rect l="l" t="t" r="r" b="b"/>
              <a:pathLst>
                <a:path w="22436" h="576779">
                  <a:moveTo>
                    <a:pt x="11218" y="0"/>
                  </a:moveTo>
                  <a:lnTo>
                    <a:pt x="11218" y="0"/>
                  </a:lnTo>
                  <a:cubicBezTo>
                    <a:pt x="14193" y="0"/>
                    <a:pt x="17047" y="1182"/>
                    <a:pt x="19151" y="3286"/>
                  </a:cubicBezTo>
                  <a:cubicBezTo>
                    <a:pt x="21255" y="5390"/>
                    <a:pt x="22436" y="8243"/>
                    <a:pt x="22436" y="11218"/>
                  </a:cubicBezTo>
                  <a:lnTo>
                    <a:pt x="22436" y="565561"/>
                  </a:lnTo>
                  <a:cubicBezTo>
                    <a:pt x="22436" y="571756"/>
                    <a:pt x="17414" y="576779"/>
                    <a:pt x="11218" y="576779"/>
                  </a:cubicBezTo>
                  <a:lnTo>
                    <a:pt x="11218" y="576779"/>
                  </a:lnTo>
                  <a:cubicBezTo>
                    <a:pt x="8243" y="576779"/>
                    <a:pt x="5390" y="575597"/>
                    <a:pt x="3286" y="573493"/>
                  </a:cubicBezTo>
                  <a:cubicBezTo>
                    <a:pt x="1182" y="571389"/>
                    <a:pt x="0" y="568536"/>
                    <a:pt x="0" y="565561"/>
                  </a:cubicBezTo>
                  <a:lnTo>
                    <a:pt x="0" y="11218"/>
                  </a:lnTo>
                  <a:cubicBezTo>
                    <a:pt x="0" y="5023"/>
                    <a:pt x="5023" y="0"/>
                    <a:pt x="11218" y="0"/>
                  </a:cubicBezTo>
                  <a:close/>
                </a:path>
              </a:pathLst>
            </a:custGeom>
            <a:solidFill>
              <a:srgbClr val="FFEAB1"/>
            </a:solidFill>
            <a:ln cap="rnd">
              <a:noFill/>
              <a:prstDash val="sysDot"/>
              <a:round/>
            </a:ln>
          </p:spPr>
          <p:txBody>
            <a:bodyPr/>
            <a:lstStyle/>
            <a:p>
              <a:endParaRPr lang="en-US"/>
            </a:p>
          </p:txBody>
        </p:sp>
        <p:sp>
          <p:nvSpPr>
            <p:cNvPr id="32" name="TextBox 32"/>
            <p:cNvSpPr txBox="1"/>
            <p:nvPr/>
          </p:nvSpPr>
          <p:spPr>
            <a:xfrm>
              <a:off x="0" y="-19050"/>
              <a:ext cx="22436" cy="595829"/>
            </a:xfrm>
            <a:prstGeom prst="rect">
              <a:avLst/>
            </a:prstGeom>
          </p:spPr>
          <p:txBody>
            <a:bodyPr lIns="52604" tIns="52604" rIns="52604" bIns="52604" rtlCol="0" anchor="ctr"/>
            <a:lstStyle/>
            <a:p>
              <a:pPr algn="ctr">
                <a:lnSpc>
                  <a:spcPts val="1679"/>
                </a:lnSpc>
              </a:pPr>
              <a:endParaRPr/>
            </a:p>
          </p:txBody>
        </p:sp>
      </p:grpSp>
      <p:sp>
        <p:nvSpPr>
          <p:cNvPr id="33" name="TextBox 33"/>
          <p:cNvSpPr txBox="1"/>
          <p:nvPr/>
        </p:nvSpPr>
        <p:spPr>
          <a:xfrm>
            <a:off x="912243" y="8519919"/>
            <a:ext cx="16347057" cy="1044575"/>
          </a:xfrm>
          <a:prstGeom prst="rect">
            <a:avLst/>
          </a:prstGeom>
        </p:spPr>
        <p:txBody>
          <a:bodyPr lIns="0" tIns="0" rIns="0" bIns="0" rtlCol="0" anchor="t">
            <a:spAutoFit/>
          </a:bodyPr>
          <a:lstStyle/>
          <a:p>
            <a:pPr algn="just">
              <a:lnSpc>
                <a:spcPts val="2800"/>
              </a:lnSpc>
              <a:spcBef>
                <a:spcPct val="0"/>
              </a:spcBef>
            </a:pPr>
            <a:r>
              <a:rPr lang="en-US" sz="2000" b="1">
                <a:solidFill>
                  <a:srgbClr val="EE806B"/>
                </a:solidFill>
                <a:latin typeface="Montserrat Bold"/>
                <a:ea typeface="Montserrat Bold"/>
                <a:cs typeface="Montserrat Bold"/>
                <a:sym typeface="Montserrat Bold"/>
              </a:rPr>
              <a:t>Occupations and provinces with lower health score lower because their customers spend more relative to income, not because of the job or the location itself. Young working adults spend a lot relative to income and lean less towards essentials, but the age gap is small.</a:t>
            </a:r>
          </a:p>
        </p:txBody>
      </p:sp>
      <p:sp>
        <p:nvSpPr>
          <p:cNvPr id="34" name="TextBox 34"/>
          <p:cNvSpPr txBox="1"/>
          <p:nvPr/>
        </p:nvSpPr>
        <p:spPr>
          <a:xfrm>
            <a:off x="1552755" y="5531356"/>
            <a:ext cx="5656659"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10. Mean health score by occupation, age group and province (full-year customers)</a:t>
            </a:r>
          </a:p>
        </p:txBody>
      </p:sp>
      <p:sp>
        <p:nvSpPr>
          <p:cNvPr id="35" name="TextBox 35"/>
          <p:cNvSpPr txBox="1"/>
          <p:nvPr/>
        </p:nvSpPr>
        <p:spPr>
          <a:xfrm>
            <a:off x="11767060" y="5509746"/>
            <a:ext cx="4980742"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11. Frequency, health, essential ratio and spend-to-income by age group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6364245" cy="1034066"/>
            <a:chOff x="0" y="0"/>
            <a:chExt cx="21818994" cy="1378755"/>
          </a:xfrm>
        </p:grpSpPr>
        <p:sp>
          <p:nvSpPr>
            <p:cNvPr id="11" name="Freeform 11"/>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2" name="TextBox 12"/>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Customer Engagement Analysis</a:t>
              </a:r>
            </a:p>
            <a:p>
              <a:pPr algn="l">
                <a:lnSpc>
                  <a:spcPts val="3500"/>
                </a:lnSpc>
              </a:pPr>
              <a:r>
                <a:rPr lang="en-US" sz="2500">
                  <a:solidFill>
                    <a:srgbClr val="000000"/>
                  </a:solidFill>
                  <a:latin typeface="Montserrat"/>
                  <a:ea typeface="Montserrat"/>
                  <a:cs typeface="Montserrat"/>
                  <a:sym typeface="Montserrat"/>
                </a:rPr>
                <a:t>Loyal customers stay engaged, and going digital is what takes them further (Task 3,Q1;Task 3,Q3)</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AutoShape 15"/>
          <p:cNvSpPr/>
          <p:nvPr/>
        </p:nvSpPr>
        <p:spPr>
          <a:xfrm flipH="1">
            <a:off x="9149272" y="1653478"/>
            <a:ext cx="4253" cy="7604822"/>
          </a:xfrm>
          <a:prstGeom prst="line">
            <a:avLst/>
          </a:prstGeom>
          <a:ln w="19050" cap="flat">
            <a:solidFill>
              <a:srgbClr val="B4B4B4"/>
            </a:solidFill>
            <a:prstDash val="solid"/>
            <a:headEnd type="none" w="sm" len="sm"/>
            <a:tailEnd type="none" w="sm" len="sm"/>
          </a:ln>
        </p:spPr>
        <p:txBody>
          <a:bodyPr/>
          <a:lstStyle/>
          <a:p>
            <a:endParaRPr lang="en-US"/>
          </a:p>
        </p:txBody>
      </p:sp>
      <p:sp>
        <p:nvSpPr>
          <p:cNvPr id="16" name="Freeform 16"/>
          <p:cNvSpPr/>
          <p:nvPr/>
        </p:nvSpPr>
        <p:spPr>
          <a:xfrm>
            <a:off x="9244941" y="2407858"/>
            <a:ext cx="8560481" cy="2707241"/>
          </a:xfrm>
          <a:custGeom>
            <a:avLst/>
            <a:gdLst/>
            <a:ahLst/>
            <a:cxnLst/>
            <a:rect l="l" t="t" r="r" b="b"/>
            <a:pathLst>
              <a:path w="8560481" h="2707241">
                <a:moveTo>
                  <a:pt x="0" y="0"/>
                </a:moveTo>
                <a:lnTo>
                  <a:pt x="8560481" y="0"/>
                </a:lnTo>
                <a:lnTo>
                  <a:pt x="8560481" y="2707241"/>
                </a:lnTo>
                <a:lnTo>
                  <a:pt x="0" y="2707241"/>
                </a:lnTo>
                <a:lnTo>
                  <a:pt x="0" y="0"/>
                </a:lnTo>
                <a:close/>
              </a:path>
            </a:pathLst>
          </a:custGeom>
          <a:blipFill>
            <a:blip r:embed="rId3"/>
            <a:stretch>
              <a:fillRect l="-9199" t="-25238" b="-7699"/>
            </a:stretch>
          </a:blipFill>
        </p:spPr>
        <p:txBody>
          <a:bodyPr/>
          <a:lstStyle/>
          <a:p>
            <a:endParaRPr lang="en-US"/>
          </a:p>
        </p:txBody>
      </p:sp>
      <p:sp>
        <p:nvSpPr>
          <p:cNvPr id="17" name="Freeform 17"/>
          <p:cNvSpPr/>
          <p:nvPr/>
        </p:nvSpPr>
        <p:spPr>
          <a:xfrm>
            <a:off x="967149" y="2168741"/>
            <a:ext cx="7513286" cy="3127449"/>
          </a:xfrm>
          <a:custGeom>
            <a:avLst/>
            <a:gdLst/>
            <a:ahLst/>
            <a:cxnLst/>
            <a:rect l="l" t="t" r="r" b="b"/>
            <a:pathLst>
              <a:path w="7513286" h="3127449">
                <a:moveTo>
                  <a:pt x="0" y="0"/>
                </a:moveTo>
                <a:lnTo>
                  <a:pt x="7513286" y="0"/>
                </a:lnTo>
                <a:lnTo>
                  <a:pt x="7513286" y="3127449"/>
                </a:lnTo>
                <a:lnTo>
                  <a:pt x="0" y="3127449"/>
                </a:lnTo>
                <a:lnTo>
                  <a:pt x="0" y="0"/>
                </a:lnTo>
                <a:close/>
              </a:path>
            </a:pathLst>
          </a:custGeom>
          <a:blipFill>
            <a:blip r:embed="rId4"/>
            <a:stretch>
              <a:fillRect l="-8013" t="-18645" b="-5584"/>
            </a:stretch>
          </a:blipFill>
        </p:spPr>
        <p:txBody>
          <a:bodyPr/>
          <a:lstStyle/>
          <a:p>
            <a:endParaRPr lang="en-US"/>
          </a:p>
        </p:txBody>
      </p:sp>
      <p:sp>
        <p:nvSpPr>
          <p:cNvPr id="18" name="TextBox 18"/>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9" name="TextBox 19"/>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20" name="TextBox 20"/>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21" name="TextBox 21"/>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2" name="TextBox 2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3" name="TextBox 23"/>
          <p:cNvSpPr txBox="1"/>
          <p:nvPr/>
        </p:nvSpPr>
        <p:spPr>
          <a:xfrm>
            <a:off x="1304290" y="1713237"/>
            <a:ext cx="6991945" cy="306705"/>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ENGAGEMENT LEVEL:</a:t>
            </a:r>
            <a:r>
              <a:rPr lang="en-US" sz="1800">
                <a:solidFill>
                  <a:srgbClr val="000000"/>
                </a:solidFill>
                <a:latin typeface="Montserrat"/>
                <a:ea typeface="Montserrat"/>
                <a:cs typeface="Montserrat"/>
                <a:sym typeface="Montserrat"/>
              </a:rPr>
              <a:t> High and even for everyone who stays</a:t>
            </a:r>
          </a:p>
        </p:txBody>
      </p:sp>
      <p:sp>
        <p:nvSpPr>
          <p:cNvPr id="24" name="TextBox 24"/>
          <p:cNvSpPr txBox="1"/>
          <p:nvPr/>
        </p:nvSpPr>
        <p:spPr>
          <a:xfrm>
            <a:off x="9762849" y="1615378"/>
            <a:ext cx="7524665" cy="621030"/>
          </a:xfrm>
          <a:prstGeom prst="rect">
            <a:avLst/>
          </a:prstGeom>
        </p:spPr>
        <p:txBody>
          <a:bodyPr lIns="0" tIns="0" rIns="0" bIns="0" rtlCol="0" anchor="t">
            <a:spAutoFit/>
          </a:bodyPr>
          <a:lstStyle/>
          <a:p>
            <a:pPr marL="0" lvl="0" indent="0" algn="ctr">
              <a:lnSpc>
                <a:spcPts val="2520"/>
              </a:lnSpc>
              <a:spcBef>
                <a:spcPct val="0"/>
              </a:spcBef>
            </a:pPr>
            <a:r>
              <a:rPr lang="en-US" sz="1800" b="1" u="none" strike="noStrike">
                <a:solidFill>
                  <a:srgbClr val="FF751F"/>
                </a:solidFill>
                <a:latin typeface="Montserrat Bold"/>
                <a:ea typeface="Montserrat Bold"/>
                <a:cs typeface="Montserrat Bold"/>
                <a:sym typeface="Montserrat Bold"/>
              </a:rPr>
              <a:t>WHAT LIFTS IT:</a:t>
            </a:r>
            <a:r>
              <a:rPr lang="en-US" sz="1800" u="none" strike="noStrike">
                <a:solidFill>
                  <a:srgbClr val="000000"/>
                </a:solidFill>
                <a:latin typeface="Montserrat"/>
                <a:ea typeface="Montserrat"/>
                <a:cs typeface="Montserrat"/>
                <a:sym typeface="Montserrat"/>
              </a:rPr>
              <a:t> Digital depth drives engagement, and it collapses once customers go quiet</a:t>
            </a:r>
          </a:p>
        </p:txBody>
      </p:sp>
      <p:sp>
        <p:nvSpPr>
          <p:cNvPr id="25" name="TextBox 25"/>
          <p:cNvSpPr txBox="1"/>
          <p:nvPr/>
        </p:nvSpPr>
        <p:spPr>
          <a:xfrm>
            <a:off x="752915" y="5713492"/>
            <a:ext cx="8094696" cy="1749425"/>
          </a:xfrm>
          <a:prstGeom prst="rect">
            <a:avLst/>
          </a:prstGeom>
        </p:spPr>
        <p:txBody>
          <a:bodyPr lIns="0" tIns="0" rIns="0" bIns="0" rtlCol="0" anchor="t">
            <a:spAutoFit/>
          </a:bodyPr>
          <a:lstStyle/>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908 full-year customers average 78.1, all within 70–84; 91% of customers sit in the High or Very high band</a:t>
            </a:r>
          </a:p>
          <a:p>
            <a:pPr marL="431801" lvl="1" indent="-215900" algn="just">
              <a:lnSpc>
                <a:spcPts val="2800"/>
              </a:lnSpc>
              <a:buFont typeface="Arial"/>
              <a:buChar char="•"/>
            </a:pPr>
            <a:r>
              <a:rPr lang="en-US" sz="2000" dirty="0">
                <a:solidFill>
                  <a:srgbClr val="000000"/>
                </a:solidFill>
                <a:latin typeface="Montserrat"/>
                <a:ea typeface="Montserrat"/>
                <a:cs typeface="Montserrat"/>
                <a:sym typeface="Montserrat"/>
              </a:rPr>
              <a:t>Every Low/Medium scorer has only 1–2 months of data (mean 48.7), a mix of newcomers and leavers rather than proven churn</a:t>
            </a:r>
          </a:p>
        </p:txBody>
      </p:sp>
      <p:sp>
        <p:nvSpPr>
          <p:cNvPr id="26" name="TextBox 26"/>
          <p:cNvSpPr txBox="1"/>
          <p:nvPr/>
        </p:nvSpPr>
        <p:spPr>
          <a:xfrm>
            <a:off x="9555795" y="5713492"/>
            <a:ext cx="7938773"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Online share is the strongest lever: engagement rises from 71.3 to 83.9 across quintiles (rho +0.83)</a:t>
            </a:r>
          </a:p>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Categories are already saturated (79% use all 14), while engagement falls to 44.8 after 8+ days without a transaction</a:t>
            </a:r>
          </a:p>
        </p:txBody>
      </p:sp>
      <p:grpSp>
        <p:nvGrpSpPr>
          <p:cNvPr id="27" name="Group 27"/>
          <p:cNvGrpSpPr/>
          <p:nvPr/>
        </p:nvGrpSpPr>
        <p:grpSpPr>
          <a:xfrm>
            <a:off x="630715" y="5677722"/>
            <a:ext cx="104092" cy="1859065"/>
            <a:chOff x="0" y="0"/>
            <a:chExt cx="26598" cy="475035"/>
          </a:xfrm>
        </p:grpSpPr>
        <p:sp>
          <p:nvSpPr>
            <p:cNvPr id="28" name="Freeform 28"/>
            <p:cNvSpPr/>
            <p:nvPr/>
          </p:nvSpPr>
          <p:spPr>
            <a:xfrm>
              <a:off x="0" y="0"/>
              <a:ext cx="26598" cy="475035"/>
            </a:xfrm>
            <a:custGeom>
              <a:avLst/>
              <a:gdLst/>
              <a:ahLst/>
              <a:cxnLst/>
              <a:rect l="l" t="t" r="r" b="b"/>
              <a:pathLst>
                <a:path w="26598" h="475035">
                  <a:moveTo>
                    <a:pt x="13299" y="0"/>
                  </a:moveTo>
                  <a:lnTo>
                    <a:pt x="13299" y="0"/>
                  </a:lnTo>
                  <a:cubicBezTo>
                    <a:pt x="16826" y="0"/>
                    <a:pt x="20209" y="1401"/>
                    <a:pt x="22703" y="3895"/>
                  </a:cubicBezTo>
                  <a:cubicBezTo>
                    <a:pt x="25197" y="6389"/>
                    <a:pt x="26598" y="9772"/>
                    <a:pt x="26598" y="13299"/>
                  </a:cubicBezTo>
                  <a:lnTo>
                    <a:pt x="26598" y="461736"/>
                  </a:lnTo>
                  <a:cubicBezTo>
                    <a:pt x="26598" y="469080"/>
                    <a:pt x="20644" y="475035"/>
                    <a:pt x="13299" y="475035"/>
                  </a:cubicBezTo>
                  <a:lnTo>
                    <a:pt x="13299" y="475035"/>
                  </a:lnTo>
                  <a:cubicBezTo>
                    <a:pt x="5954" y="475035"/>
                    <a:pt x="0" y="469080"/>
                    <a:pt x="0" y="461736"/>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29" name="TextBox 29"/>
            <p:cNvSpPr txBox="1"/>
            <p:nvPr/>
          </p:nvSpPr>
          <p:spPr>
            <a:xfrm>
              <a:off x="0" y="-19050"/>
              <a:ext cx="26598" cy="494085"/>
            </a:xfrm>
            <a:prstGeom prst="rect">
              <a:avLst/>
            </a:prstGeom>
          </p:spPr>
          <p:txBody>
            <a:bodyPr lIns="52604" tIns="52604" rIns="52604" bIns="52604" rtlCol="0" anchor="ctr"/>
            <a:lstStyle/>
            <a:p>
              <a:pPr algn="ctr">
                <a:lnSpc>
                  <a:spcPts val="1679"/>
                </a:lnSpc>
              </a:pPr>
              <a:endParaRPr/>
            </a:p>
          </p:txBody>
        </p:sp>
      </p:grpSp>
      <p:grpSp>
        <p:nvGrpSpPr>
          <p:cNvPr id="30" name="Group 30"/>
          <p:cNvGrpSpPr/>
          <p:nvPr/>
        </p:nvGrpSpPr>
        <p:grpSpPr>
          <a:xfrm>
            <a:off x="9451703" y="5677722"/>
            <a:ext cx="104092" cy="1859065"/>
            <a:chOff x="0" y="0"/>
            <a:chExt cx="26598" cy="475035"/>
          </a:xfrm>
        </p:grpSpPr>
        <p:sp>
          <p:nvSpPr>
            <p:cNvPr id="31" name="Freeform 31"/>
            <p:cNvSpPr/>
            <p:nvPr/>
          </p:nvSpPr>
          <p:spPr>
            <a:xfrm>
              <a:off x="0" y="0"/>
              <a:ext cx="26598" cy="475035"/>
            </a:xfrm>
            <a:custGeom>
              <a:avLst/>
              <a:gdLst/>
              <a:ahLst/>
              <a:cxnLst/>
              <a:rect l="l" t="t" r="r" b="b"/>
              <a:pathLst>
                <a:path w="26598" h="475035">
                  <a:moveTo>
                    <a:pt x="13299" y="0"/>
                  </a:moveTo>
                  <a:lnTo>
                    <a:pt x="13299" y="0"/>
                  </a:lnTo>
                  <a:cubicBezTo>
                    <a:pt x="16826" y="0"/>
                    <a:pt x="20209" y="1401"/>
                    <a:pt x="22703" y="3895"/>
                  </a:cubicBezTo>
                  <a:cubicBezTo>
                    <a:pt x="25197" y="6389"/>
                    <a:pt x="26598" y="9772"/>
                    <a:pt x="26598" y="13299"/>
                  </a:cubicBezTo>
                  <a:lnTo>
                    <a:pt x="26598" y="461736"/>
                  </a:lnTo>
                  <a:cubicBezTo>
                    <a:pt x="26598" y="469080"/>
                    <a:pt x="20644" y="475035"/>
                    <a:pt x="13299" y="475035"/>
                  </a:cubicBezTo>
                  <a:lnTo>
                    <a:pt x="13299" y="475035"/>
                  </a:lnTo>
                  <a:cubicBezTo>
                    <a:pt x="5954" y="475035"/>
                    <a:pt x="0" y="469080"/>
                    <a:pt x="0" y="461736"/>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32" name="TextBox 32"/>
            <p:cNvSpPr txBox="1"/>
            <p:nvPr/>
          </p:nvSpPr>
          <p:spPr>
            <a:xfrm>
              <a:off x="0" y="-19050"/>
              <a:ext cx="26598" cy="494085"/>
            </a:xfrm>
            <a:prstGeom prst="rect">
              <a:avLst/>
            </a:prstGeom>
          </p:spPr>
          <p:txBody>
            <a:bodyPr lIns="52604" tIns="52604" rIns="52604" bIns="52604" rtlCol="0" anchor="ctr"/>
            <a:lstStyle/>
            <a:p>
              <a:pPr algn="ctr">
                <a:lnSpc>
                  <a:spcPts val="1679"/>
                </a:lnSpc>
              </a:pPr>
              <a:endParaRPr/>
            </a:p>
          </p:txBody>
        </p:sp>
      </p:grpSp>
      <p:sp>
        <p:nvSpPr>
          <p:cNvPr id="33" name="TextBox 33"/>
          <p:cNvSpPr txBox="1"/>
          <p:nvPr/>
        </p:nvSpPr>
        <p:spPr>
          <a:xfrm>
            <a:off x="649184" y="7889212"/>
            <a:ext cx="8239434" cy="1044575"/>
          </a:xfrm>
          <a:prstGeom prst="rect">
            <a:avLst/>
          </a:prstGeom>
        </p:spPr>
        <p:txBody>
          <a:bodyPr lIns="0" tIns="0" rIns="0" bIns="0" rtlCol="0" anchor="t">
            <a:spAutoFit/>
          </a:bodyPr>
          <a:lstStyle/>
          <a:p>
            <a:pPr marL="0" lvl="0" indent="0" algn="just">
              <a:lnSpc>
                <a:spcPts val="2800"/>
              </a:lnSpc>
              <a:spcBef>
                <a:spcPct val="0"/>
              </a:spcBef>
            </a:pPr>
            <a:r>
              <a:rPr lang="en-US" sz="2000" b="1" u="none" strike="noStrike" dirty="0">
                <a:solidFill>
                  <a:srgbClr val="EE806B"/>
                </a:solidFill>
                <a:latin typeface="Montserrat Bold"/>
                <a:ea typeface="Montserrat Bold"/>
                <a:cs typeface="Montserrat Bold"/>
                <a:sym typeface="Montserrat Bold"/>
              </a:rPr>
              <a:t>Engagement among full-year customers is high and even. The engagement challenge is activation of customers with short histories, not retention of established users.</a:t>
            </a:r>
          </a:p>
        </p:txBody>
      </p:sp>
      <p:sp>
        <p:nvSpPr>
          <p:cNvPr id="34" name="TextBox 34"/>
          <p:cNvSpPr txBox="1"/>
          <p:nvPr/>
        </p:nvSpPr>
        <p:spPr>
          <a:xfrm>
            <a:off x="9570779" y="7889212"/>
            <a:ext cx="7990818" cy="1397000"/>
          </a:xfrm>
          <a:prstGeom prst="rect">
            <a:avLst/>
          </a:prstGeom>
        </p:spPr>
        <p:txBody>
          <a:bodyPr lIns="0" tIns="0" rIns="0" bIns="0" rtlCol="0" anchor="t">
            <a:spAutoFit/>
          </a:bodyPr>
          <a:lstStyle/>
          <a:p>
            <a:pPr marL="0" lvl="0" indent="0" algn="just">
              <a:lnSpc>
                <a:spcPts val="2800"/>
              </a:lnSpc>
              <a:spcBef>
                <a:spcPct val="0"/>
              </a:spcBef>
            </a:pPr>
            <a:r>
              <a:rPr lang="en-US" sz="2000" b="1">
                <a:solidFill>
                  <a:srgbClr val="EE806B"/>
                </a:solidFill>
                <a:latin typeface="Montserrat Bold"/>
                <a:ea typeface="Montserrat Bold"/>
                <a:cs typeface="Montserrat Bold"/>
                <a:sym typeface="Montserrat Bold"/>
              </a:rPr>
              <a:t>E</a:t>
            </a:r>
            <a:r>
              <a:rPr lang="en-US" sz="2000" b="1" u="none" strike="noStrike">
                <a:solidFill>
                  <a:srgbClr val="EE806B"/>
                </a:solidFill>
                <a:latin typeface="Montserrat Bold"/>
                <a:ea typeface="Montserrat Bold"/>
                <a:cs typeface="Montserrat Bold"/>
                <a:sym typeface="Montserrat Bold"/>
              </a:rPr>
              <a:t>ngagement is at heart a measure of digital depth, the only lever that has not saturated. Recency of 8+ days and 10 or fewer categories are two early-warning signals that can be tracked monthly.</a:t>
            </a:r>
          </a:p>
        </p:txBody>
      </p:sp>
      <p:sp>
        <p:nvSpPr>
          <p:cNvPr id="35" name="TextBox 35"/>
          <p:cNvSpPr txBox="1"/>
          <p:nvPr/>
        </p:nvSpPr>
        <p:spPr>
          <a:xfrm>
            <a:off x="2625549" y="5313719"/>
            <a:ext cx="4564499" cy="165100"/>
          </a:xfrm>
          <a:prstGeom prst="rect">
            <a:avLst/>
          </a:prstGeom>
        </p:spPr>
        <p:txBody>
          <a:bodyPr lIns="0" tIns="0" rIns="0" bIns="0" rtlCol="0" anchor="t">
            <a:spAutoFit/>
          </a:bodyPr>
          <a:lstStyle/>
          <a:p>
            <a:pPr algn="ctr">
              <a:lnSpc>
                <a:spcPts val="1399"/>
              </a:lnSpc>
              <a:spcBef>
                <a:spcPct val="0"/>
              </a:spcBef>
            </a:pPr>
            <a:r>
              <a:rPr lang="en-US" sz="999" dirty="0">
                <a:solidFill>
                  <a:srgbClr val="000000"/>
                </a:solidFill>
                <a:latin typeface="Montserrat"/>
                <a:ea typeface="Montserrat"/>
                <a:cs typeface="Montserrat"/>
                <a:sym typeface="Montserrat"/>
              </a:rPr>
              <a:t>Figure 12. Customer-level engagement distribution and segment shares</a:t>
            </a:r>
          </a:p>
        </p:txBody>
      </p:sp>
      <p:sp>
        <p:nvSpPr>
          <p:cNvPr id="36" name="TextBox 36"/>
          <p:cNvSpPr txBox="1"/>
          <p:nvPr/>
        </p:nvSpPr>
        <p:spPr>
          <a:xfrm>
            <a:off x="11891390" y="5267499"/>
            <a:ext cx="4266009"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13. Mean engagement score across bands of four behaviours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AutoShape 6"/>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7" name="Group 7"/>
          <p:cNvGrpSpPr/>
          <p:nvPr/>
        </p:nvGrpSpPr>
        <p:grpSpPr>
          <a:xfrm>
            <a:off x="967149" y="147997"/>
            <a:ext cx="16364245" cy="379415"/>
            <a:chOff x="0" y="0"/>
            <a:chExt cx="21818994" cy="505887"/>
          </a:xfrm>
        </p:grpSpPr>
        <p:sp>
          <p:nvSpPr>
            <p:cNvPr id="8" name="Freeform 8"/>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9" name="TextBox 9"/>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0" name="Group 10"/>
          <p:cNvGrpSpPr/>
          <p:nvPr/>
        </p:nvGrpSpPr>
        <p:grpSpPr>
          <a:xfrm>
            <a:off x="923268" y="147997"/>
            <a:ext cx="17077670" cy="1034066"/>
            <a:chOff x="0" y="0"/>
            <a:chExt cx="22770227" cy="1378755"/>
          </a:xfrm>
        </p:grpSpPr>
        <p:sp>
          <p:nvSpPr>
            <p:cNvPr id="11" name="Freeform 11"/>
            <p:cNvSpPr/>
            <p:nvPr/>
          </p:nvSpPr>
          <p:spPr>
            <a:xfrm>
              <a:off x="0" y="0"/>
              <a:ext cx="22770224" cy="1378752"/>
            </a:xfrm>
            <a:custGeom>
              <a:avLst/>
              <a:gdLst/>
              <a:ahLst/>
              <a:cxnLst/>
              <a:rect l="l" t="t" r="r" b="b"/>
              <a:pathLst>
                <a:path w="22770224" h="1378752">
                  <a:moveTo>
                    <a:pt x="0" y="0"/>
                  </a:moveTo>
                  <a:lnTo>
                    <a:pt x="22770224" y="0"/>
                  </a:lnTo>
                  <a:lnTo>
                    <a:pt x="22770224" y="1378752"/>
                  </a:lnTo>
                  <a:lnTo>
                    <a:pt x="0" y="1378752"/>
                  </a:lnTo>
                  <a:close/>
                </a:path>
              </a:pathLst>
            </a:custGeom>
            <a:blipFill>
              <a:blip r:embed="rId2">
                <a:alphaModFix amt="0"/>
              </a:blip>
              <a:stretch>
                <a:fillRect t="-265303" r="4177" b="-251405"/>
              </a:stretch>
            </a:blipFill>
          </p:spPr>
          <p:txBody>
            <a:bodyPr/>
            <a:lstStyle/>
            <a:p>
              <a:endParaRPr lang="en-US"/>
            </a:p>
          </p:txBody>
        </p:sp>
        <p:sp>
          <p:nvSpPr>
            <p:cNvPr id="12" name="TextBox 12"/>
            <p:cNvSpPr txBox="1"/>
            <p:nvPr/>
          </p:nvSpPr>
          <p:spPr>
            <a:xfrm>
              <a:off x="0" y="-57150"/>
              <a:ext cx="22770227"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The Tension Between Financial Health and Engagement</a:t>
              </a:r>
            </a:p>
            <a:p>
              <a:pPr algn="l">
                <a:lnSpc>
                  <a:spcPts val="3500"/>
                </a:lnSpc>
              </a:pPr>
              <a:r>
                <a:rPr lang="en-US" sz="2500">
                  <a:solidFill>
                    <a:srgbClr val="000000"/>
                  </a:solidFill>
                  <a:latin typeface="Montserrat"/>
                  <a:ea typeface="Montserrat"/>
                  <a:cs typeface="Montserrat"/>
                  <a:sym typeface="Montserrat"/>
                </a:rPr>
                <a:t>Most loyal users are the most stretched, while some of healthiest are drifting away (Task 3,Q5; Task 2,Q4)</a:t>
              </a:r>
            </a:p>
          </p:txBody>
        </p:sp>
      </p:grpSp>
      <p:grpSp>
        <p:nvGrpSpPr>
          <p:cNvPr id="13" name="Group 13"/>
          <p:cNvGrpSpPr/>
          <p:nvPr/>
        </p:nvGrpSpPr>
        <p:grpSpPr>
          <a:xfrm>
            <a:off x="3" y="234756"/>
            <a:ext cx="734804" cy="442640"/>
            <a:chOff x="0" y="0"/>
            <a:chExt cx="626275" cy="377263"/>
          </a:xfrm>
        </p:grpSpPr>
        <p:sp>
          <p:nvSpPr>
            <p:cNvPr id="14" name="Freeform 14"/>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5" name="AutoShape 15"/>
          <p:cNvSpPr/>
          <p:nvPr/>
        </p:nvSpPr>
        <p:spPr>
          <a:xfrm flipH="1">
            <a:off x="9149272" y="1653478"/>
            <a:ext cx="4253" cy="7604822"/>
          </a:xfrm>
          <a:prstGeom prst="line">
            <a:avLst/>
          </a:prstGeom>
          <a:ln w="19050" cap="flat">
            <a:solidFill>
              <a:srgbClr val="B4B4B4"/>
            </a:solidFill>
            <a:prstDash val="solid"/>
            <a:headEnd type="none" w="sm" len="sm"/>
            <a:tailEnd type="none" w="sm" len="sm"/>
          </a:ln>
        </p:spPr>
        <p:txBody>
          <a:bodyPr/>
          <a:lstStyle/>
          <a:p>
            <a:endParaRPr lang="en-US"/>
          </a:p>
        </p:txBody>
      </p:sp>
      <p:grpSp>
        <p:nvGrpSpPr>
          <p:cNvPr id="16" name="Group 16"/>
          <p:cNvGrpSpPr/>
          <p:nvPr/>
        </p:nvGrpSpPr>
        <p:grpSpPr>
          <a:xfrm>
            <a:off x="649208" y="6039672"/>
            <a:ext cx="104092" cy="1859065"/>
            <a:chOff x="0" y="0"/>
            <a:chExt cx="26598" cy="475035"/>
          </a:xfrm>
        </p:grpSpPr>
        <p:sp>
          <p:nvSpPr>
            <p:cNvPr id="17" name="Freeform 17"/>
            <p:cNvSpPr/>
            <p:nvPr/>
          </p:nvSpPr>
          <p:spPr>
            <a:xfrm>
              <a:off x="0" y="0"/>
              <a:ext cx="26598" cy="475035"/>
            </a:xfrm>
            <a:custGeom>
              <a:avLst/>
              <a:gdLst/>
              <a:ahLst/>
              <a:cxnLst/>
              <a:rect l="l" t="t" r="r" b="b"/>
              <a:pathLst>
                <a:path w="26598" h="475035">
                  <a:moveTo>
                    <a:pt x="13299" y="0"/>
                  </a:moveTo>
                  <a:lnTo>
                    <a:pt x="13299" y="0"/>
                  </a:lnTo>
                  <a:cubicBezTo>
                    <a:pt x="16826" y="0"/>
                    <a:pt x="20209" y="1401"/>
                    <a:pt x="22703" y="3895"/>
                  </a:cubicBezTo>
                  <a:cubicBezTo>
                    <a:pt x="25197" y="6389"/>
                    <a:pt x="26598" y="9772"/>
                    <a:pt x="26598" y="13299"/>
                  </a:cubicBezTo>
                  <a:lnTo>
                    <a:pt x="26598" y="461736"/>
                  </a:lnTo>
                  <a:cubicBezTo>
                    <a:pt x="26598" y="469080"/>
                    <a:pt x="20644" y="475035"/>
                    <a:pt x="13299" y="475035"/>
                  </a:cubicBezTo>
                  <a:lnTo>
                    <a:pt x="13299" y="475035"/>
                  </a:lnTo>
                  <a:cubicBezTo>
                    <a:pt x="5954" y="475035"/>
                    <a:pt x="0" y="469080"/>
                    <a:pt x="0" y="461736"/>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18" name="TextBox 18"/>
            <p:cNvSpPr txBox="1"/>
            <p:nvPr/>
          </p:nvSpPr>
          <p:spPr>
            <a:xfrm>
              <a:off x="0" y="-19050"/>
              <a:ext cx="26598" cy="494085"/>
            </a:xfrm>
            <a:prstGeom prst="rect">
              <a:avLst/>
            </a:prstGeom>
          </p:spPr>
          <p:txBody>
            <a:bodyPr lIns="52604" tIns="52604" rIns="52604" bIns="52604" rtlCol="0" anchor="ctr"/>
            <a:lstStyle/>
            <a:p>
              <a:pPr algn="ctr">
                <a:lnSpc>
                  <a:spcPts val="1679"/>
                </a:lnSpc>
              </a:pPr>
              <a:endParaRPr/>
            </a:p>
          </p:txBody>
        </p:sp>
      </p:grpSp>
      <p:sp>
        <p:nvSpPr>
          <p:cNvPr id="19" name="Freeform 19"/>
          <p:cNvSpPr/>
          <p:nvPr/>
        </p:nvSpPr>
        <p:spPr>
          <a:xfrm>
            <a:off x="9935061" y="2213404"/>
            <a:ext cx="7262255" cy="3464318"/>
          </a:xfrm>
          <a:custGeom>
            <a:avLst/>
            <a:gdLst/>
            <a:ahLst/>
            <a:cxnLst/>
            <a:rect l="l" t="t" r="r" b="b"/>
            <a:pathLst>
              <a:path w="7262255" h="3464318">
                <a:moveTo>
                  <a:pt x="0" y="0"/>
                </a:moveTo>
                <a:lnTo>
                  <a:pt x="7262255" y="0"/>
                </a:lnTo>
                <a:lnTo>
                  <a:pt x="7262255" y="3464318"/>
                </a:lnTo>
                <a:lnTo>
                  <a:pt x="0" y="3464318"/>
                </a:lnTo>
                <a:lnTo>
                  <a:pt x="0" y="0"/>
                </a:lnTo>
                <a:close/>
              </a:path>
            </a:pathLst>
          </a:custGeom>
          <a:blipFill>
            <a:blip r:embed="rId3"/>
            <a:stretch>
              <a:fillRect l="-8895" t="-10331" b="-8373"/>
            </a:stretch>
          </a:blipFill>
        </p:spPr>
        <p:txBody>
          <a:bodyPr/>
          <a:lstStyle/>
          <a:p>
            <a:endParaRPr lang="en-US"/>
          </a:p>
        </p:txBody>
      </p:sp>
      <p:sp>
        <p:nvSpPr>
          <p:cNvPr id="20" name="Freeform 20"/>
          <p:cNvSpPr/>
          <p:nvPr/>
        </p:nvSpPr>
        <p:spPr>
          <a:xfrm>
            <a:off x="1028700" y="2213404"/>
            <a:ext cx="7779950" cy="3464318"/>
          </a:xfrm>
          <a:custGeom>
            <a:avLst/>
            <a:gdLst/>
            <a:ahLst/>
            <a:cxnLst/>
            <a:rect l="l" t="t" r="r" b="b"/>
            <a:pathLst>
              <a:path w="7779950" h="3464318">
                <a:moveTo>
                  <a:pt x="0" y="0"/>
                </a:moveTo>
                <a:lnTo>
                  <a:pt x="7779950" y="0"/>
                </a:lnTo>
                <a:lnTo>
                  <a:pt x="7779950" y="3464318"/>
                </a:lnTo>
                <a:lnTo>
                  <a:pt x="0" y="3464318"/>
                </a:lnTo>
                <a:lnTo>
                  <a:pt x="0" y="0"/>
                </a:lnTo>
                <a:close/>
              </a:path>
            </a:pathLst>
          </a:custGeom>
          <a:blipFill>
            <a:blip r:embed="rId4"/>
            <a:stretch>
              <a:fillRect l="-4990" t="-18675" b="-8646"/>
            </a:stretch>
          </a:blipFill>
        </p:spPr>
        <p:txBody>
          <a:bodyPr/>
          <a:lstStyle/>
          <a:p>
            <a:endParaRPr lang="en-US"/>
          </a:p>
        </p:txBody>
      </p:sp>
      <p:sp>
        <p:nvSpPr>
          <p:cNvPr id="21" name="TextBox 21"/>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22" name="TextBox 22"/>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23" name="TextBox 23"/>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b="1" u="none" strike="noStrike">
                <a:solidFill>
                  <a:srgbClr val="CD4E4F"/>
                </a:solidFill>
                <a:latin typeface="Montserrat Bold"/>
                <a:ea typeface="Montserrat Bold"/>
                <a:cs typeface="Montserrat Bold"/>
                <a:sym typeface="Montserrat Bold"/>
              </a:rPr>
              <a:t>Detailed Analysis</a:t>
            </a:r>
          </a:p>
        </p:txBody>
      </p:sp>
      <p:sp>
        <p:nvSpPr>
          <p:cNvPr id="24" name="TextBox 24"/>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5" name="TextBox 25"/>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26" name="TextBox 26"/>
          <p:cNvSpPr txBox="1"/>
          <p:nvPr/>
        </p:nvSpPr>
        <p:spPr>
          <a:xfrm>
            <a:off x="1220709" y="1713237"/>
            <a:ext cx="7159109" cy="306705"/>
          </a:xfrm>
          <a:prstGeom prst="rect">
            <a:avLst/>
          </a:prstGeom>
        </p:spPr>
        <p:txBody>
          <a:bodyPr lIns="0" tIns="0" rIns="0" bIns="0" rtlCol="0" anchor="t">
            <a:spAutoFit/>
          </a:bodyPr>
          <a:lstStyle/>
          <a:p>
            <a:pPr algn="ctr">
              <a:lnSpc>
                <a:spcPts val="2520"/>
              </a:lnSpc>
              <a:spcBef>
                <a:spcPct val="0"/>
              </a:spcBef>
            </a:pPr>
            <a:r>
              <a:rPr lang="en-US" sz="1800" b="1">
                <a:solidFill>
                  <a:srgbClr val="FF751F"/>
                </a:solidFill>
                <a:latin typeface="Montserrat Bold"/>
                <a:ea typeface="Montserrat Bold"/>
                <a:cs typeface="Montserrat Bold"/>
                <a:sym typeface="Montserrat Bold"/>
              </a:rPr>
              <a:t>LOYAL BUT STRETCHED: </a:t>
            </a:r>
            <a:r>
              <a:rPr lang="en-US" sz="1800">
                <a:solidFill>
                  <a:srgbClr val="000000"/>
                </a:solidFill>
                <a:latin typeface="Montserrat"/>
                <a:ea typeface="Montserrat"/>
                <a:cs typeface="Montserrat"/>
                <a:sym typeface="Montserrat"/>
              </a:rPr>
              <a:t>Daily users who repeatedly run short</a:t>
            </a:r>
          </a:p>
        </p:txBody>
      </p:sp>
      <p:sp>
        <p:nvSpPr>
          <p:cNvPr id="27" name="TextBox 27"/>
          <p:cNvSpPr txBox="1"/>
          <p:nvPr/>
        </p:nvSpPr>
        <p:spPr>
          <a:xfrm>
            <a:off x="9625756" y="1713237"/>
            <a:ext cx="7880865" cy="306705"/>
          </a:xfrm>
          <a:prstGeom prst="rect">
            <a:avLst/>
          </a:prstGeom>
        </p:spPr>
        <p:txBody>
          <a:bodyPr lIns="0" tIns="0" rIns="0" bIns="0" rtlCol="0" anchor="t">
            <a:spAutoFit/>
          </a:bodyPr>
          <a:lstStyle/>
          <a:p>
            <a:pPr marL="0" lvl="0" indent="0" algn="ctr">
              <a:lnSpc>
                <a:spcPts val="2520"/>
              </a:lnSpc>
              <a:spcBef>
                <a:spcPct val="0"/>
              </a:spcBef>
            </a:pPr>
            <a:r>
              <a:rPr lang="en-US" sz="1800" b="1" u="none" strike="noStrike">
                <a:solidFill>
                  <a:srgbClr val="FF751F"/>
                </a:solidFill>
                <a:latin typeface="Montserrat Bold"/>
                <a:ea typeface="Montserrat Bold"/>
                <a:cs typeface="Montserrat Bold"/>
                <a:sym typeface="Montserrat Bold"/>
              </a:rPr>
              <a:t>HEALTHY BUT DRIFTING: </a:t>
            </a:r>
            <a:r>
              <a:rPr lang="en-US" sz="1800" u="none" strike="noStrike">
                <a:solidFill>
                  <a:srgbClr val="000000"/>
                </a:solidFill>
                <a:latin typeface="Montserrat"/>
                <a:ea typeface="Montserrat"/>
                <a:cs typeface="Montserrat"/>
                <a:sym typeface="Montserrat"/>
              </a:rPr>
              <a:t>Good customers who barely use their card</a:t>
            </a:r>
          </a:p>
        </p:txBody>
      </p:sp>
      <p:sp>
        <p:nvSpPr>
          <p:cNvPr id="28" name="TextBox 28"/>
          <p:cNvSpPr txBox="1"/>
          <p:nvPr/>
        </p:nvSpPr>
        <p:spPr>
          <a:xfrm>
            <a:off x="753300" y="6075442"/>
            <a:ext cx="7938773"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dirty="0">
                <a:solidFill>
                  <a:srgbClr val="000000"/>
                </a:solidFill>
                <a:latin typeface="Montserrat"/>
                <a:ea typeface="Montserrat"/>
                <a:cs typeface="Montserrat"/>
                <a:sym typeface="Montserrat"/>
              </a:rPr>
              <a:t>106</a:t>
            </a:r>
            <a:r>
              <a:rPr lang="en-US" sz="2000" u="none" strike="noStrike" dirty="0">
                <a:solidFill>
                  <a:srgbClr val="000000"/>
                </a:solidFill>
                <a:latin typeface="Montserrat"/>
                <a:ea typeface="Montserrat"/>
                <a:cs typeface="Montserrat"/>
                <a:sym typeface="Montserrat"/>
              </a:rPr>
              <a:t> customers (10.6%) drive 16.5% of spend; they make 240 transactions a month (vs 161) at 0.79 spend-to-income (vs 0.69)</a:t>
            </a:r>
          </a:p>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Younger (mean age 39 vs 51); their pressure comes from many small online purchases, not big trips</a:t>
            </a:r>
          </a:p>
        </p:txBody>
      </p:sp>
      <p:sp>
        <p:nvSpPr>
          <p:cNvPr id="29" name="TextBox 29"/>
          <p:cNvSpPr txBox="1"/>
          <p:nvPr/>
        </p:nvSpPr>
        <p:spPr>
          <a:xfrm>
            <a:off x="649208" y="8213725"/>
            <a:ext cx="8159443" cy="1044575"/>
          </a:xfrm>
          <a:prstGeom prst="rect">
            <a:avLst/>
          </a:prstGeom>
        </p:spPr>
        <p:txBody>
          <a:bodyPr lIns="0" tIns="0" rIns="0" bIns="0" rtlCol="0" anchor="t">
            <a:spAutoFit/>
          </a:bodyPr>
          <a:lstStyle/>
          <a:p>
            <a:pPr marL="0" lvl="0" indent="0" algn="just">
              <a:lnSpc>
                <a:spcPts val="2800"/>
              </a:lnSpc>
              <a:spcBef>
                <a:spcPct val="0"/>
              </a:spcBef>
            </a:pPr>
            <a:r>
              <a:rPr lang="en-US" sz="2000" b="1">
                <a:solidFill>
                  <a:srgbClr val="EE806B"/>
                </a:solidFill>
                <a:latin typeface="Montserrat Bold"/>
                <a:ea typeface="Montserrat Bold"/>
                <a:cs typeface="Montserrat Bold"/>
                <a:sym typeface="Montserrat Bold"/>
              </a:rPr>
              <a:t>Th</a:t>
            </a:r>
            <a:r>
              <a:rPr lang="en-US" sz="2000" b="1" u="none" strike="noStrike">
                <a:solidFill>
                  <a:srgbClr val="EE806B"/>
                </a:solidFill>
                <a:latin typeface="Montserrat Bold"/>
                <a:ea typeface="Montserrat Bold"/>
                <a:cs typeface="Montserrat Bold"/>
                <a:sym typeface="Montserrat Bold"/>
              </a:rPr>
              <a:t>is group's pressure comes from many small everyday transactions, especially online, unlike the crisis months in section 9 that are driven by large travel expenses.</a:t>
            </a:r>
          </a:p>
        </p:txBody>
      </p:sp>
      <p:grpSp>
        <p:nvGrpSpPr>
          <p:cNvPr id="30" name="Group 30"/>
          <p:cNvGrpSpPr/>
          <p:nvPr/>
        </p:nvGrpSpPr>
        <p:grpSpPr>
          <a:xfrm>
            <a:off x="9503749" y="6113542"/>
            <a:ext cx="104092" cy="1859065"/>
            <a:chOff x="0" y="0"/>
            <a:chExt cx="26598" cy="475035"/>
          </a:xfrm>
        </p:grpSpPr>
        <p:sp>
          <p:nvSpPr>
            <p:cNvPr id="31" name="Freeform 31"/>
            <p:cNvSpPr/>
            <p:nvPr/>
          </p:nvSpPr>
          <p:spPr>
            <a:xfrm>
              <a:off x="0" y="0"/>
              <a:ext cx="26598" cy="475035"/>
            </a:xfrm>
            <a:custGeom>
              <a:avLst/>
              <a:gdLst/>
              <a:ahLst/>
              <a:cxnLst/>
              <a:rect l="l" t="t" r="r" b="b"/>
              <a:pathLst>
                <a:path w="26598" h="475035">
                  <a:moveTo>
                    <a:pt x="13299" y="0"/>
                  </a:moveTo>
                  <a:lnTo>
                    <a:pt x="13299" y="0"/>
                  </a:lnTo>
                  <a:cubicBezTo>
                    <a:pt x="16826" y="0"/>
                    <a:pt x="20209" y="1401"/>
                    <a:pt x="22703" y="3895"/>
                  </a:cubicBezTo>
                  <a:cubicBezTo>
                    <a:pt x="25197" y="6389"/>
                    <a:pt x="26598" y="9772"/>
                    <a:pt x="26598" y="13299"/>
                  </a:cubicBezTo>
                  <a:lnTo>
                    <a:pt x="26598" y="461736"/>
                  </a:lnTo>
                  <a:cubicBezTo>
                    <a:pt x="26598" y="469080"/>
                    <a:pt x="20644" y="475035"/>
                    <a:pt x="13299" y="475035"/>
                  </a:cubicBezTo>
                  <a:lnTo>
                    <a:pt x="13299" y="475035"/>
                  </a:lnTo>
                  <a:cubicBezTo>
                    <a:pt x="5954" y="475035"/>
                    <a:pt x="0" y="469080"/>
                    <a:pt x="0" y="461736"/>
                  </a:cubicBezTo>
                  <a:lnTo>
                    <a:pt x="0" y="13299"/>
                  </a:lnTo>
                  <a:cubicBezTo>
                    <a:pt x="0" y="5954"/>
                    <a:pt x="5954" y="0"/>
                    <a:pt x="13299" y="0"/>
                  </a:cubicBezTo>
                  <a:close/>
                </a:path>
              </a:pathLst>
            </a:custGeom>
            <a:solidFill>
              <a:srgbClr val="FFEAB1"/>
            </a:solidFill>
            <a:ln cap="rnd">
              <a:noFill/>
              <a:prstDash val="sysDot"/>
              <a:round/>
            </a:ln>
          </p:spPr>
          <p:txBody>
            <a:bodyPr/>
            <a:lstStyle/>
            <a:p>
              <a:endParaRPr lang="en-US"/>
            </a:p>
          </p:txBody>
        </p:sp>
        <p:sp>
          <p:nvSpPr>
            <p:cNvPr id="32" name="TextBox 32"/>
            <p:cNvSpPr txBox="1"/>
            <p:nvPr/>
          </p:nvSpPr>
          <p:spPr>
            <a:xfrm>
              <a:off x="0" y="-19050"/>
              <a:ext cx="26598" cy="494085"/>
            </a:xfrm>
            <a:prstGeom prst="rect">
              <a:avLst/>
            </a:prstGeom>
          </p:spPr>
          <p:txBody>
            <a:bodyPr lIns="52604" tIns="52604" rIns="52604" bIns="52604" rtlCol="0" anchor="ctr"/>
            <a:lstStyle/>
            <a:p>
              <a:pPr algn="ctr">
                <a:lnSpc>
                  <a:spcPts val="1679"/>
                </a:lnSpc>
              </a:pPr>
              <a:endParaRPr/>
            </a:p>
          </p:txBody>
        </p:sp>
      </p:grpSp>
      <p:sp>
        <p:nvSpPr>
          <p:cNvPr id="33" name="TextBox 33"/>
          <p:cNvSpPr txBox="1"/>
          <p:nvPr/>
        </p:nvSpPr>
        <p:spPr>
          <a:xfrm>
            <a:off x="9607841" y="6149312"/>
            <a:ext cx="7938773" cy="1749425"/>
          </a:xfrm>
          <a:prstGeom prst="rect">
            <a:avLst/>
          </a:prstGeom>
        </p:spPr>
        <p:txBody>
          <a:bodyPr lIns="0" tIns="0" rIns="0" bIns="0" rtlCol="0" anchor="t">
            <a:spAutoFit/>
          </a:bodyPr>
          <a:lstStyle/>
          <a:p>
            <a:pPr marL="431801" lvl="1" indent="-215900" algn="just">
              <a:lnSpc>
                <a:spcPts val="2800"/>
              </a:lnSpc>
              <a:spcBef>
                <a:spcPct val="0"/>
              </a:spcBef>
              <a:buFont typeface="Arial"/>
              <a:buChar char="•"/>
            </a:pPr>
            <a:r>
              <a:rPr lang="en-US" sz="2000" dirty="0">
                <a:solidFill>
                  <a:srgbClr val="000000"/>
                </a:solidFill>
                <a:latin typeface="Montserrat"/>
                <a:ea typeface="Montserrat"/>
                <a:cs typeface="Montserrat"/>
                <a:sym typeface="Montserrat"/>
              </a:rPr>
              <a:t>85</a:t>
            </a:r>
            <a:r>
              <a:rPr lang="en-US" sz="2000" u="none" strike="noStrike" dirty="0">
                <a:solidFill>
                  <a:srgbClr val="000000"/>
                </a:solidFill>
                <a:latin typeface="Montserrat"/>
                <a:ea typeface="Montserrat"/>
                <a:cs typeface="Montserrat"/>
                <a:sym typeface="Montserrat"/>
              </a:rPr>
              <a:t> customers (8.5%), of whom 53 are active all year: health 71.5, but 63% fewer transactions and an 11% lower online share</a:t>
            </a:r>
          </a:p>
          <a:p>
            <a:pPr marL="431801" lvl="1" indent="-215900" algn="just">
              <a:lnSpc>
                <a:spcPts val="2800"/>
              </a:lnSpc>
              <a:spcBef>
                <a:spcPct val="0"/>
              </a:spcBef>
              <a:buFont typeface="Arial"/>
              <a:buChar char="•"/>
            </a:pPr>
            <a:r>
              <a:rPr lang="en-US" sz="2000" u="none" strike="noStrike" dirty="0">
                <a:solidFill>
                  <a:srgbClr val="000000"/>
                </a:solidFill>
                <a:latin typeface="Montserrat"/>
                <a:ea typeface="Montserrat"/>
                <a:cs typeface="Montserrat"/>
                <a:sym typeface="Montserrat"/>
              </a:rPr>
              <a:t>Older (59% aged 55+): a share-of-wallet problem that matches the age gap in digital use</a:t>
            </a:r>
          </a:p>
        </p:txBody>
      </p:sp>
      <p:sp>
        <p:nvSpPr>
          <p:cNvPr id="34" name="TextBox 34"/>
          <p:cNvSpPr txBox="1"/>
          <p:nvPr/>
        </p:nvSpPr>
        <p:spPr>
          <a:xfrm>
            <a:off x="9503749" y="8213725"/>
            <a:ext cx="8159443" cy="1044575"/>
          </a:xfrm>
          <a:prstGeom prst="rect">
            <a:avLst/>
          </a:prstGeom>
        </p:spPr>
        <p:txBody>
          <a:bodyPr lIns="0" tIns="0" rIns="0" bIns="0" rtlCol="0" anchor="t">
            <a:spAutoFit/>
          </a:bodyPr>
          <a:lstStyle/>
          <a:p>
            <a:pPr marL="0" lvl="0" indent="0" algn="just">
              <a:lnSpc>
                <a:spcPts val="2800"/>
              </a:lnSpc>
              <a:spcBef>
                <a:spcPct val="0"/>
              </a:spcBef>
            </a:pPr>
            <a:r>
              <a:rPr lang="en-US" sz="2000" b="1">
                <a:solidFill>
                  <a:srgbClr val="EE806B"/>
                </a:solidFill>
                <a:latin typeface="Montserrat Bold"/>
                <a:ea typeface="Montserrat Bold"/>
                <a:cs typeface="Montserrat Bold"/>
                <a:sym typeface="Montserrat Bold"/>
              </a:rPr>
              <a:t>The</a:t>
            </a:r>
            <a:r>
              <a:rPr lang="en-US" sz="2000" b="1" u="none" strike="noStrike">
                <a:solidFill>
                  <a:srgbClr val="EE806B"/>
                </a:solidFill>
                <a:latin typeface="Montserrat Bold"/>
                <a:ea typeface="Montserrat Bold"/>
                <a:cs typeface="Montserrat Bold"/>
                <a:sym typeface="Montserrat Bold"/>
              </a:rPr>
              <a:t>se are good customers who use their ITB card for only a small part of their spending. This is a share-of-wallet problem, and it matches section 6: digital use falls with age</a:t>
            </a:r>
          </a:p>
        </p:txBody>
      </p:sp>
      <p:sp>
        <p:nvSpPr>
          <p:cNvPr id="35" name="TextBox 35"/>
          <p:cNvSpPr txBox="1"/>
          <p:nvPr/>
        </p:nvSpPr>
        <p:spPr>
          <a:xfrm>
            <a:off x="2591407" y="5658672"/>
            <a:ext cx="4262557"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14. Stressed and highly engaged customers and their profile</a:t>
            </a:r>
          </a:p>
        </p:txBody>
      </p:sp>
      <p:sp>
        <p:nvSpPr>
          <p:cNvPr id="36" name="TextBox 36"/>
          <p:cNvSpPr txBox="1"/>
          <p:nvPr/>
        </p:nvSpPr>
        <p:spPr>
          <a:xfrm>
            <a:off x="10788996" y="5669887"/>
            <a:ext cx="5554385" cy="165100"/>
          </a:xfrm>
          <a:prstGeom prst="rect">
            <a:avLst/>
          </a:prstGeom>
        </p:spPr>
        <p:txBody>
          <a:bodyPr lIns="0" tIns="0" rIns="0" bIns="0" rtlCol="0" anchor="t">
            <a:spAutoFit/>
          </a:bodyPr>
          <a:lstStyle/>
          <a:p>
            <a:pPr algn="ctr">
              <a:lnSpc>
                <a:spcPts val="1399"/>
              </a:lnSpc>
              <a:spcBef>
                <a:spcPct val="0"/>
              </a:spcBef>
            </a:pPr>
            <a:r>
              <a:rPr lang="en-US" sz="999">
                <a:solidFill>
                  <a:srgbClr val="000000"/>
                </a:solidFill>
                <a:latin typeface="Montserrat"/>
                <a:ea typeface="Montserrat"/>
                <a:cs typeface="Montserrat"/>
                <a:sym typeface="Montserrat"/>
              </a:rPr>
              <a:t>Figure 15. Health vs engagement map and profile of healthy but disengaged customers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11182671"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6" name="TextBox 6"/>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7" name="TextBox 7"/>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8" name="TextBox 8"/>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202020"/>
                </a:solidFill>
                <a:latin typeface="Montserrat"/>
                <a:ea typeface="Montserrat"/>
                <a:cs typeface="Montserrat"/>
                <a:sym typeface="Montserrat"/>
              </a:rPr>
              <a:t>Detailed Analysis</a:t>
            </a:r>
          </a:p>
        </p:txBody>
      </p:sp>
      <p:sp>
        <p:nvSpPr>
          <p:cNvPr id="9" name="TextBox 9"/>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Modelling</a:t>
            </a:r>
          </a:p>
        </p:txBody>
      </p:sp>
      <p:sp>
        <p:nvSpPr>
          <p:cNvPr id="10" name="TextBox 10"/>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11" name="AutoShape 11"/>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12" name="Group 12"/>
          <p:cNvGrpSpPr/>
          <p:nvPr/>
        </p:nvGrpSpPr>
        <p:grpSpPr>
          <a:xfrm>
            <a:off x="967149" y="147997"/>
            <a:ext cx="16364245" cy="379415"/>
            <a:chOff x="0" y="0"/>
            <a:chExt cx="21818994" cy="505887"/>
          </a:xfrm>
        </p:grpSpPr>
        <p:sp>
          <p:nvSpPr>
            <p:cNvPr id="13" name="Freeform 13"/>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14" name="TextBox 14"/>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5" name="Group 15"/>
          <p:cNvGrpSpPr/>
          <p:nvPr/>
        </p:nvGrpSpPr>
        <p:grpSpPr>
          <a:xfrm>
            <a:off x="923268" y="147997"/>
            <a:ext cx="16364245" cy="1034066"/>
            <a:chOff x="0" y="0"/>
            <a:chExt cx="21818994" cy="1378755"/>
          </a:xfrm>
        </p:grpSpPr>
        <p:sp>
          <p:nvSpPr>
            <p:cNvPr id="16" name="Freeform 16"/>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7" name="TextBox 17"/>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Data preprocessing</a:t>
              </a:r>
            </a:p>
            <a:p>
              <a:pPr algn="l">
                <a:lnSpc>
                  <a:spcPts val="3500"/>
                </a:lnSpc>
              </a:pPr>
              <a:r>
                <a:rPr lang="en-US" sz="2500">
                  <a:solidFill>
                    <a:srgbClr val="000000"/>
                  </a:solidFill>
                  <a:latin typeface="Montserrat"/>
                  <a:ea typeface="Montserrat"/>
                  <a:cs typeface="Montserrat"/>
                  <a:sym typeface="Montserrat"/>
                </a:rPr>
                <a:t>Turning monthly records into clean, comparable behavioural features for segmentation (Task 4, Q1)</a:t>
              </a:r>
            </a:p>
          </p:txBody>
        </p:sp>
      </p:grpSp>
      <p:grpSp>
        <p:nvGrpSpPr>
          <p:cNvPr id="18" name="Group 18"/>
          <p:cNvGrpSpPr/>
          <p:nvPr/>
        </p:nvGrpSpPr>
        <p:grpSpPr>
          <a:xfrm>
            <a:off x="3" y="234756"/>
            <a:ext cx="734804" cy="442640"/>
            <a:chOff x="0" y="0"/>
            <a:chExt cx="626275" cy="377263"/>
          </a:xfrm>
        </p:grpSpPr>
        <p:sp>
          <p:nvSpPr>
            <p:cNvPr id="19" name="Freeform 19"/>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20" name="Group 20"/>
          <p:cNvGrpSpPr/>
          <p:nvPr/>
        </p:nvGrpSpPr>
        <p:grpSpPr>
          <a:xfrm>
            <a:off x="434035" y="1559817"/>
            <a:ext cx="3623306" cy="479180"/>
            <a:chOff x="0" y="0"/>
            <a:chExt cx="2449548" cy="323952"/>
          </a:xfrm>
        </p:grpSpPr>
        <p:sp>
          <p:nvSpPr>
            <p:cNvPr id="21" name="Freeform 21"/>
            <p:cNvSpPr/>
            <p:nvPr/>
          </p:nvSpPr>
          <p:spPr>
            <a:xfrm>
              <a:off x="0" y="0"/>
              <a:ext cx="2449548" cy="323952"/>
            </a:xfrm>
            <a:custGeom>
              <a:avLst/>
              <a:gdLst/>
              <a:ahLst/>
              <a:cxnLst/>
              <a:rect l="l" t="t" r="r" b="b"/>
              <a:pathLst>
                <a:path w="2449548" h="323952">
                  <a:moveTo>
                    <a:pt x="0" y="0"/>
                  </a:moveTo>
                  <a:lnTo>
                    <a:pt x="2246348" y="0"/>
                  </a:lnTo>
                  <a:lnTo>
                    <a:pt x="2449548" y="161976"/>
                  </a:lnTo>
                  <a:lnTo>
                    <a:pt x="2246348" y="323952"/>
                  </a:lnTo>
                  <a:lnTo>
                    <a:pt x="0" y="323952"/>
                  </a:lnTo>
                  <a:lnTo>
                    <a:pt x="203200" y="161976"/>
                  </a:lnTo>
                  <a:lnTo>
                    <a:pt x="0" y="0"/>
                  </a:lnTo>
                  <a:close/>
                </a:path>
              </a:pathLst>
            </a:custGeom>
            <a:solidFill>
              <a:srgbClr val="E15F4B"/>
            </a:solidFill>
          </p:spPr>
          <p:txBody>
            <a:bodyPr/>
            <a:lstStyle/>
            <a:p>
              <a:endParaRPr lang="en-US"/>
            </a:p>
          </p:txBody>
        </p:sp>
        <p:sp>
          <p:nvSpPr>
            <p:cNvPr id="22" name="TextBox 22"/>
            <p:cNvSpPr txBox="1"/>
            <p:nvPr/>
          </p:nvSpPr>
          <p:spPr>
            <a:xfrm>
              <a:off x="177800" y="-19050"/>
              <a:ext cx="2195548" cy="343002"/>
            </a:xfrm>
            <a:prstGeom prst="rect">
              <a:avLst/>
            </a:prstGeom>
          </p:spPr>
          <p:txBody>
            <a:bodyPr lIns="50800" tIns="50800" rIns="50800" bIns="50800" rtlCol="0" anchor="ctr"/>
            <a:lstStyle/>
            <a:p>
              <a:pPr algn="ctr">
                <a:lnSpc>
                  <a:spcPts val="1679"/>
                </a:lnSpc>
              </a:pPr>
              <a:endParaRPr/>
            </a:p>
          </p:txBody>
        </p:sp>
      </p:grpSp>
      <p:grpSp>
        <p:nvGrpSpPr>
          <p:cNvPr id="23" name="Group 23"/>
          <p:cNvGrpSpPr/>
          <p:nvPr/>
        </p:nvGrpSpPr>
        <p:grpSpPr>
          <a:xfrm>
            <a:off x="434035" y="2038997"/>
            <a:ext cx="3337244" cy="1381125"/>
            <a:chOff x="0" y="0"/>
            <a:chExt cx="847652" cy="350802"/>
          </a:xfrm>
        </p:grpSpPr>
        <p:sp>
          <p:nvSpPr>
            <p:cNvPr id="24" name="Freeform 24"/>
            <p:cNvSpPr/>
            <p:nvPr/>
          </p:nvSpPr>
          <p:spPr>
            <a:xfrm>
              <a:off x="0" y="0"/>
              <a:ext cx="847652" cy="350802"/>
            </a:xfrm>
            <a:custGeom>
              <a:avLst/>
              <a:gdLst/>
              <a:ahLst/>
              <a:cxnLst/>
              <a:rect l="l" t="t" r="r" b="b"/>
              <a:pathLst>
                <a:path w="847652" h="350802">
                  <a:moveTo>
                    <a:pt x="0" y="0"/>
                  </a:moveTo>
                  <a:lnTo>
                    <a:pt x="847652" y="0"/>
                  </a:lnTo>
                  <a:lnTo>
                    <a:pt x="847652" y="350802"/>
                  </a:lnTo>
                  <a:lnTo>
                    <a:pt x="0" y="350802"/>
                  </a:lnTo>
                  <a:close/>
                </a:path>
              </a:pathLst>
            </a:custGeom>
            <a:ln w="19050" cap="sq">
              <a:solidFill>
                <a:srgbClr val="CD4E4F"/>
              </a:solidFill>
              <a:prstDash val="solid"/>
              <a:miter/>
            </a:ln>
          </p:spPr>
          <p:txBody>
            <a:bodyPr/>
            <a:lstStyle/>
            <a:p>
              <a:endParaRPr lang="en-US"/>
            </a:p>
          </p:txBody>
        </p:sp>
        <p:sp>
          <p:nvSpPr>
            <p:cNvPr id="25" name="TextBox 25"/>
            <p:cNvSpPr txBox="1"/>
            <p:nvPr/>
          </p:nvSpPr>
          <p:spPr>
            <a:xfrm>
              <a:off x="0" y="-19050"/>
              <a:ext cx="847652" cy="369852"/>
            </a:xfrm>
            <a:prstGeom prst="rect">
              <a:avLst/>
            </a:prstGeom>
          </p:spPr>
          <p:txBody>
            <a:bodyPr lIns="50800" tIns="50800" rIns="50800" bIns="50800" rtlCol="0" anchor="ctr"/>
            <a:lstStyle/>
            <a:p>
              <a:pPr algn="ctr">
                <a:lnSpc>
                  <a:spcPts val="1679"/>
                </a:lnSpc>
              </a:pPr>
              <a:endParaRPr/>
            </a:p>
          </p:txBody>
        </p:sp>
      </p:grpSp>
      <p:grpSp>
        <p:nvGrpSpPr>
          <p:cNvPr id="26" name="Group 26"/>
          <p:cNvGrpSpPr/>
          <p:nvPr/>
        </p:nvGrpSpPr>
        <p:grpSpPr>
          <a:xfrm>
            <a:off x="3892432" y="2038997"/>
            <a:ext cx="3331540" cy="1381125"/>
            <a:chOff x="0" y="0"/>
            <a:chExt cx="846203" cy="350802"/>
          </a:xfrm>
        </p:grpSpPr>
        <p:sp>
          <p:nvSpPr>
            <p:cNvPr id="27" name="Freeform 27"/>
            <p:cNvSpPr/>
            <p:nvPr/>
          </p:nvSpPr>
          <p:spPr>
            <a:xfrm>
              <a:off x="0" y="0"/>
              <a:ext cx="846203" cy="350802"/>
            </a:xfrm>
            <a:custGeom>
              <a:avLst/>
              <a:gdLst/>
              <a:ahLst/>
              <a:cxnLst/>
              <a:rect l="l" t="t" r="r" b="b"/>
              <a:pathLst>
                <a:path w="846203" h="350802">
                  <a:moveTo>
                    <a:pt x="0" y="0"/>
                  </a:moveTo>
                  <a:lnTo>
                    <a:pt x="846203" y="0"/>
                  </a:lnTo>
                  <a:lnTo>
                    <a:pt x="846203" y="350802"/>
                  </a:lnTo>
                  <a:lnTo>
                    <a:pt x="0" y="350802"/>
                  </a:lnTo>
                  <a:close/>
                </a:path>
              </a:pathLst>
            </a:custGeom>
            <a:ln w="19050" cap="sq">
              <a:solidFill>
                <a:srgbClr val="CD4E4F"/>
              </a:solidFill>
              <a:prstDash val="solid"/>
              <a:miter/>
            </a:ln>
          </p:spPr>
          <p:txBody>
            <a:bodyPr/>
            <a:lstStyle/>
            <a:p>
              <a:endParaRPr lang="en-US"/>
            </a:p>
          </p:txBody>
        </p:sp>
        <p:sp>
          <p:nvSpPr>
            <p:cNvPr id="28" name="TextBox 28"/>
            <p:cNvSpPr txBox="1"/>
            <p:nvPr/>
          </p:nvSpPr>
          <p:spPr>
            <a:xfrm>
              <a:off x="0" y="-19050"/>
              <a:ext cx="846203" cy="369852"/>
            </a:xfrm>
            <a:prstGeom prst="rect">
              <a:avLst/>
            </a:prstGeom>
          </p:spPr>
          <p:txBody>
            <a:bodyPr lIns="50800" tIns="50800" rIns="50800" bIns="50800" rtlCol="0" anchor="ctr"/>
            <a:lstStyle/>
            <a:p>
              <a:pPr algn="ctr">
                <a:lnSpc>
                  <a:spcPts val="1679"/>
                </a:lnSpc>
              </a:pPr>
              <a:endParaRPr/>
            </a:p>
          </p:txBody>
        </p:sp>
      </p:grpSp>
      <p:grpSp>
        <p:nvGrpSpPr>
          <p:cNvPr id="29" name="Group 29"/>
          <p:cNvGrpSpPr/>
          <p:nvPr/>
        </p:nvGrpSpPr>
        <p:grpSpPr>
          <a:xfrm>
            <a:off x="3892432" y="1559817"/>
            <a:ext cx="3623306" cy="479180"/>
            <a:chOff x="0" y="0"/>
            <a:chExt cx="2449548" cy="323952"/>
          </a:xfrm>
        </p:grpSpPr>
        <p:sp>
          <p:nvSpPr>
            <p:cNvPr id="30" name="Freeform 30"/>
            <p:cNvSpPr/>
            <p:nvPr/>
          </p:nvSpPr>
          <p:spPr>
            <a:xfrm>
              <a:off x="0" y="0"/>
              <a:ext cx="2449548" cy="323952"/>
            </a:xfrm>
            <a:custGeom>
              <a:avLst/>
              <a:gdLst/>
              <a:ahLst/>
              <a:cxnLst/>
              <a:rect l="l" t="t" r="r" b="b"/>
              <a:pathLst>
                <a:path w="2449548" h="323952">
                  <a:moveTo>
                    <a:pt x="0" y="0"/>
                  </a:moveTo>
                  <a:lnTo>
                    <a:pt x="2246348" y="0"/>
                  </a:lnTo>
                  <a:lnTo>
                    <a:pt x="2449548" y="161976"/>
                  </a:lnTo>
                  <a:lnTo>
                    <a:pt x="2246348" y="323952"/>
                  </a:lnTo>
                  <a:lnTo>
                    <a:pt x="0" y="323952"/>
                  </a:lnTo>
                  <a:lnTo>
                    <a:pt x="203200" y="161976"/>
                  </a:lnTo>
                  <a:lnTo>
                    <a:pt x="0" y="0"/>
                  </a:lnTo>
                  <a:close/>
                </a:path>
              </a:pathLst>
            </a:custGeom>
            <a:solidFill>
              <a:srgbClr val="E15F4B"/>
            </a:solidFill>
          </p:spPr>
          <p:txBody>
            <a:bodyPr/>
            <a:lstStyle/>
            <a:p>
              <a:endParaRPr lang="en-US"/>
            </a:p>
          </p:txBody>
        </p:sp>
        <p:sp>
          <p:nvSpPr>
            <p:cNvPr id="31" name="TextBox 31"/>
            <p:cNvSpPr txBox="1"/>
            <p:nvPr/>
          </p:nvSpPr>
          <p:spPr>
            <a:xfrm>
              <a:off x="177800" y="-19050"/>
              <a:ext cx="2195548" cy="343002"/>
            </a:xfrm>
            <a:prstGeom prst="rect">
              <a:avLst/>
            </a:prstGeom>
          </p:spPr>
          <p:txBody>
            <a:bodyPr lIns="50800" tIns="50800" rIns="50800" bIns="50800" rtlCol="0" anchor="ctr"/>
            <a:lstStyle/>
            <a:p>
              <a:pPr algn="ctr">
                <a:lnSpc>
                  <a:spcPts val="1679"/>
                </a:lnSpc>
              </a:pPr>
              <a:endParaRPr/>
            </a:p>
          </p:txBody>
        </p:sp>
      </p:grpSp>
      <p:grpSp>
        <p:nvGrpSpPr>
          <p:cNvPr id="32" name="Group 32"/>
          <p:cNvGrpSpPr/>
          <p:nvPr/>
        </p:nvGrpSpPr>
        <p:grpSpPr>
          <a:xfrm>
            <a:off x="7350829" y="1559817"/>
            <a:ext cx="3623306" cy="479180"/>
            <a:chOff x="0" y="0"/>
            <a:chExt cx="2449548" cy="323952"/>
          </a:xfrm>
        </p:grpSpPr>
        <p:sp>
          <p:nvSpPr>
            <p:cNvPr id="33" name="Freeform 33"/>
            <p:cNvSpPr/>
            <p:nvPr/>
          </p:nvSpPr>
          <p:spPr>
            <a:xfrm>
              <a:off x="0" y="0"/>
              <a:ext cx="2449548" cy="323952"/>
            </a:xfrm>
            <a:custGeom>
              <a:avLst/>
              <a:gdLst/>
              <a:ahLst/>
              <a:cxnLst/>
              <a:rect l="l" t="t" r="r" b="b"/>
              <a:pathLst>
                <a:path w="2449548" h="323952">
                  <a:moveTo>
                    <a:pt x="0" y="0"/>
                  </a:moveTo>
                  <a:lnTo>
                    <a:pt x="2246348" y="0"/>
                  </a:lnTo>
                  <a:lnTo>
                    <a:pt x="2449548" y="161976"/>
                  </a:lnTo>
                  <a:lnTo>
                    <a:pt x="2246348" y="323952"/>
                  </a:lnTo>
                  <a:lnTo>
                    <a:pt x="0" y="323952"/>
                  </a:lnTo>
                  <a:lnTo>
                    <a:pt x="203200" y="161976"/>
                  </a:lnTo>
                  <a:lnTo>
                    <a:pt x="0" y="0"/>
                  </a:lnTo>
                  <a:close/>
                </a:path>
              </a:pathLst>
            </a:custGeom>
            <a:solidFill>
              <a:srgbClr val="E15F4B"/>
            </a:solidFill>
          </p:spPr>
          <p:txBody>
            <a:bodyPr/>
            <a:lstStyle/>
            <a:p>
              <a:endParaRPr lang="en-US"/>
            </a:p>
          </p:txBody>
        </p:sp>
        <p:sp>
          <p:nvSpPr>
            <p:cNvPr id="34" name="TextBox 34"/>
            <p:cNvSpPr txBox="1"/>
            <p:nvPr/>
          </p:nvSpPr>
          <p:spPr>
            <a:xfrm>
              <a:off x="177800" y="-19050"/>
              <a:ext cx="2195548" cy="343002"/>
            </a:xfrm>
            <a:prstGeom prst="rect">
              <a:avLst/>
            </a:prstGeom>
          </p:spPr>
          <p:txBody>
            <a:bodyPr lIns="50800" tIns="50800" rIns="50800" bIns="50800" rtlCol="0" anchor="ctr"/>
            <a:lstStyle/>
            <a:p>
              <a:pPr algn="ctr">
                <a:lnSpc>
                  <a:spcPts val="1679"/>
                </a:lnSpc>
              </a:pPr>
              <a:endParaRPr/>
            </a:p>
          </p:txBody>
        </p:sp>
      </p:grpSp>
      <p:grpSp>
        <p:nvGrpSpPr>
          <p:cNvPr id="35" name="Group 35"/>
          <p:cNvGrpSpPr/>
          <p:nvPr/>
        </p:nvGrpSpPr>
        <p:grpSpPr>
          <a:xfrm>
            <a:off x="10780815" y="1559817"/>
            <a:ext cx="3623306" cy="479180"/>
            <a:chOff x="0" y="0"/>
            <a:chExt cx="2449548" cy="323952"/>
          </a:xfrm>
        </p:grpSpPr>
        <p:sp>
          <p:nvSpPr>
            <p:cNvPr id="36" name="Freeform 36"/>
            <p:cNvSpPr/>
            <p:nvPr/>
          </p:nvSpPr>
          <p:spPr>
            <a:xfrm>
              <a:off x="0" y="0"/>
              <a:ext cx="2449548" cy="323952"/>
            </a:xfrm>
            <a:custGeom>
              <a:avLst/>
              <a:gdLst/>
              <a:ahLst/>
              <a:cxnLst/>
              <a:rect l="l" t="t" r="r" b="b"/>
              <a:pathLst>
                <a:path w="2449548" h="323952">
                  <a:moveTo>
                    <a:pt x="0" y="0"/>
                  </a:moveTo>
                  <a:lnTo>
                    <a:pt x="2246348" y="0"/>
                  </a:lnTo>
                  <a:lnTo>
                    <a:pt x="2449548" y="161976"/>
                  </a:lnTo>
                  <a:lnTo>
                    <a:pt x="2246348" y="323952"/>
                  </a:lnTo>
                  <a:lnTo>
                    <a:pt x="0" y="323952"/>
                  </a:lnTo>
                  <a:lnTo>
                    <a:pt x="203200" y="161976"/>
                  </a:lnTo>
                  <a:lnTo>
                    <a:pt x="0" y="0"/>
                  </a:lnTo>
                  <a:close/>
                </a:path>
              </a:pathLst>
            </a:custGeom>
            <a:solidFill>
              <a:srgbClr val="E15F4B"/>
            </a:solidFill>
          </p:spPr>
          <p:txBody>
            <a:bodyPr/>
            <a:lstStyle/>
            <a:p>
              <a:endParaRPr lang="en-US"/>
            </a:p>
          </p:txBody>
        </p:sp>
        <p:sp>
          <p:nvSpPr>
            <p:cNvPr id="37" name="TextBox 37"/>
            <p:cNvSpPr txBox="1"/>
            <p:nvPr/>
          </p:nvSpPr>
          <p:spPr>
            <a:xfrm>
              <a:off x="177800" y="-19050"/>
              <a:ext cx="2195548" cy="343002"/>
            </a:xfrm>
            <a:prstGeom prst="rect">
              <a:avLst/>
            </a:prstGeom>
          </p:spPr>
          <p:txBody>
            <a:bodyPr lIns="50800" tIns="50800" rIns="50800" bIns="50800" rtlCol="0" anchor="ctr"/>
            <a:lstStyle/>
            <a:p>
              <a:pPr algn="ctr">
                <a:lnSpc>
                  <a:spcPts val="1679"/>
                </a:lnSpc>
              </a:pPr>
              <a:endParaRPr/>
            </a:p>
          </p:txBody>
        </p:sp>
      </p:grpSp>
      <p:grpSp>
        <p:nvGrpSpPr>
          <p:cNvPr id="38" name="Group 38"/>
          <p:cNvGrpSpPr/>
          <p:nvPr/>
        </p:nvGrpSpPr>
        <p:grpSpPr>
          <a:xfrm>
            <a:off x="14241204" y="1559817"/>
            <a:ext cx="3623306" cy="479180"/>
            <a:chOff x="0" y="0"/>
            <a:chExt cx="2449548" cy="323952"/>
          </a:xfrm>
        </p:grpSpPr>
        <p:sp>
          <p:nvSpPr>
            <p:cNvPr id="39" name="Freeform 39"/>
            <p:cNvSpPr/>
            <p:nvPr/>
          </p:nvSpPr>
          <p:spPr>
            <a:xfrm>
              <a:off x="0" y="0"/>
              <a:ext cx="2449548" cy="323952"/>
            </a:xfrm>
            <a:custGeom>
              <a:avLst/>
              <a:gdLst/>
              <a:ahLst/>
              <a:cxnLst/>
              <a:rect l="l" t="t" r="r" b="b"/>
              <a:pathLst>
                <a:path w="2449548" h="323952">
                  <a:moveTo>
                    <a:pt x="0" y="0"/>
                  </a:moveTo>
                  <a:lnTo>
                    <a:pt x="2246348" y="0"/>
                  </a:lnTo>
                  <a:lnTo>
                    <a:pt x="2449548" y="161976"/>
                  </a:lnTo>
                  <a:lnTo>
                    <a:pt x="2246348" y="323952"/>
                  </a:lnTo>
                  <a:lnTo>
                    <a:pt x="0" y="323952"/>
                  </a:lnTo>
                  <a:lnTo>
                    <a:pt x="203200" y="161976"/>
                  </a:lnTo>
                  <a:lnTo>
                    <a:pt x="0" y="0"/>
                  </a:lnTo>
                  <a:close/>
                </a:path>
              </a:pathLst>
            </a:custGeom>
            <a:solidFill>
              <a:srgbClr val="E15F4B"/>
            </a:solidFill>
          </p:spPr>
          <p:txBody>
            <a:bodyPr/>
            <a:lstStyle/>
            <a:p>
              <a:endParaRPr lang="en-US"/>
            </a:p>
          </p:txBody>
        </p:sp>
        <p:sp>
          <p:nvSpPr>
            <p:cNvPr id="40" name="TextBox 40"/>
            <p:cNvSpPr txBox="1"/>
            <p:nvPr/>
          </p:nvSpPr>
          <p:spPr>
            <a:xfrm>
              <a:off x="177800" y="-19050"/>
              <a:ext cx="2195548" cy="343002"/>
            </a:xfrm>
            <a:prstGeom prst="rect">
              <a:avLst/>
            </a:prstGeom>
          </p:spPr>
          <p:txBody>
            <a:bodyPr lIns="50800" tIns="50800" rIns="50800" bIns="50800" rtlCol="0" anchor="ctr"/>
            <a:lstStyle/>
            <a:p>
              <a:pPr algn="ctr">
                <a:lnSpc>
                  <a:spcPts val="1679"/>
                </a:lnSpc>
              </a:pPr>
              <a:endParaRPr/>
            </a:p>
          </p:txBody>
        </p:sp>
      </p:grpSp>
      <p:grpSp>
        <p:nvGrpSpPr>
          <p:cNvPr id="41" name="Group 41"/>
          <p:cNvGrpSpPr/>
          <p:nvPr/>
        </p:nvGrpSpPr>
        <p:grpSpPr>
          <a:xfrm>
            <a:off x="7347797" y="2038997"/>
            <a:ext cx="3331540" cy="1381125"/>
            <a:chOff x="0" y="0"/>
            <a:chExt cx="846203" cy="350802"/>
          </a:xfrm>
        </p:grpSpPr>
        <p:sp>
          <p:nvSpPr>
            <p:cNvPr id="42" name="Freeform 42"/>
            <p:cNvSpPr/>
            <p:nvPr/>
          </p:nvSpPr>
          <p:spPr>
            <a:xfrm>
              <a:off x="0" y="0"/>
              <a:ext cx="846203" cy="350802"/>
            </a:xfrm>
            <a:custGeom>
              <a:avLst/>
              <a:gdLst/>
              <a:ahLst/>
              <a:cxnLst/>
              <a:rect l="l" t="t" r="r" b="b"/>
              <a:pathLst>
                <a:path w="846203" h="350802">
                  <a:moveTo>
                    <a:pt x="0" y="0"/>
                  </a:moveTo>
                  <a:lnTo>
                    <a:pt x="846203" y="0"/>
                  </a:lnTo>
                  <a:lnTo>
                    <a:pt x="846203" y="350802"/>
                  </a:lnTo>
                  <a:lnTo>
                    <a:pt x="0" y="350802"/>
                  </a:lnTo>
                  <a:close/>
                </a:path>
              </a:pathLst>
            </a:custGeom>
            <a:ln w="19050" cap="sq">
              <a:solidFill>
                <a:srgbClr val="CD4E4F"/>
              </a:solidFill>
              <a:prstDash val="solid"/>
              <a:miter/>
            </a:ln>
          </p:spPr>
          <p:txBody>
            <a:bodyPr/>
            <a:lstStyle/>
            <a:p>
              <a:endParaRPr lang="en-US"/>
            </a:p>
          </p:txBody>
        </p:sp>
        <p:sp>
          <p:nvSpPr>
            <p:cNvPr id="43" name="TextBox 43"/>
            <p:cNvSpPr txBox="1"/>
            <p:nvPr/>
          </p:nvSpPr>
          <p:spPr>
            <a:xfrm>
              <a:off x="0" y="-19050"/>
              <a:ext cx="846203" cy="369852"/>
            </a:xfrm>
            <a:prstGeom prst="rect">
              <a:avLst/>
            </a:prstGeom>
          </p:spPr>
          <p:txBody>
            <a:bodyPr lIns="50800" tIns="50800" rIns="50800" bIns="50800" rtlCol="0" anchor="ctr"/>
            <a:lstStyle/>
            <a:p>
              <a:pPr algn="ctr">
                <a:lnSpc>
                  <a:spcPts val="1679"/>
                </a:lnSpc>
              </a:pPr>
              <a:endParaRPr/>
            </a:p>
          </p:txBody>
        </p:sp>
      </p:grpSp>
      <p:grpSp>
        <p:nvGrpSpPr>
          <p:cNvPr id="44" name="Group 44"/>
          <p:cNvGrpSpPr/>
          <p:nvPr/>
        </p:nvGrpSpPr>
        <p:grpSpPr>
          <a:xfrm>
            <a:off x="10780815" y="2038997"/>
            <a:ext cx="3331540" cy="1381125"/>
            <a:chOff x="0" y="0"/>
            <a:chExt cx="846203" cy="350802"/>
          </a:xfrm>
        </p:grpSpPr>
        <p:sp>
          <p:nvSpPr>
            <p:cNvPr id="45" name="Freeform 45"/>
            <p:cNvSpPr/>
            <p:nvPr/>
          </p:nvSpPr>
          <p:spPr>
            <a:xfrm>
              <a:off x="0" y="0"/>
              <a:ext cx="846203" cy="350802"/>
            </a:xfrm>
            <a:custGeom>
              <a:avLst/>
              <a:gdLst/>
              <a:ahLst/>
              <a:cxnLst/>
              <a:rect l="l" t="t" r="r" b="b"/>
              <a:pathLst>
                <a:path w="846203" h="350802">
                  <a:moveTo>
                    <a:pt x="0" y="0"/>
                  </a:moveTo>
                  <a:lnTo>
                    <a:pt x="846203" y="0"/>
                  </a:lnTo>
                  <a:lnTo>
                    <a:pt x="846203" y="350802"/>
                  </a:lnTo>
                  <a:lnTo>
                    <a:pt x="0" y="350802"/>
                  </a:lnTo>
                  <a:close/>
                </a:path>
              </a:pathLst>
            </a:custGeom>
            <a:ln w="19050" cap="sq">
              <a:solidFill>
                <a:srgbClr val="CD4E4F"/>
              </a:solidFill>
              <a:prstDash val="solid"/>
              <a:miter/>
            </a:ln>
          </p:spPr>
          <p:txBody>
            <a:bodyPr/>
            <a:lstStyle/>
            <a:p>
              <a:endParaRPr lang="en-US"/>
            </a:p>
          </p:txBody>
        </p:sp>
        <p:sp>
          <p:nvSpPr>
            <p:cNvPr id="46" name="TextBox 46"/>
            <p:cNvSpPr txBox="1"/>
            <p:nvPr/>
          </p:nvSpPr>
          <p:spPr>
            <a:xfrm>
              <a:off x="0" y="-19050"/>
              <a:ext cx="846203" cy="369852"/>
            </a:xfrm>
            <a:prstGeom prst="rect">
              <a:avLst/>
            </a:prstGeom>
          </p:spPr>
          <p:txBody>
            <a:bodyPr lIns="50800" tIns="50800" rIns="50800" bIns="50800" rtlCol="0" anchor="ctr"/>
            <a:lstStyle/>
            <a:p>
              <a:pPr algn="ctr">
                <a:lnSpc>
                  <a:spcPts val="1679"/>
                </a:lnSpc>
              </a:pPr>
              <a:endParaRPr/>
            </a:p>
          </p:txBody>
        </p:sp>
      </p:grpSp>
      <p:grpSp>
        <p:nvGrpSpPr>
          <p:cNvPr id="47" name="Group 47"/>
          <p:cNvGrpSpPr/>
          <p:nvPr/>
        </p:nvGrpSpPr>
        <p:grpSpPr>
          <a:xfrm>
            <a:off x="14241204" y="2038997"/>
            <a:ext cx="3331540" cy="1381125"/>
            <a:chOff x="0" y="0"/>
            <a:chExt cx="846203" cy="350802"/>
          </a:xfrm>
        </p:grpSpPr>
        <p:sp>
          <p:nvSpPr>
            <p:cNvPr id="48" name="Freeform 48"/>
            <p:cNvSpPr/>
            <p:nvPr/>
          </p:nvSpPr>
          <p:spPr>
            <a:xfrm>
              <a:off x="0" y="0"/>
              <a:ext cx="846203" cy="350802"/>
            </a:xfrm>
            <a:custGeom>
              <a:avLst/>
              <a:gdLst/>
              <a:ahLst/>
              <a:cxnLst/>
              <a:rect l="l" t="t" r="r" b="b"/>
              <a:pathLst>
                <a:path w="846203" h="350802">
                  <a:moveTo>
                    <a:pt x="0" y="0"/>
                  </a:moveTo>
                  <a:lnTo>
                    <a:pt x="846203" y="0"/>
                  </a:lnTo>
                  <a:lnTo>
                    <a:pt x="846203" y="350802"/>
                  </a:lnTo>
                  <a:lnTo>
                    <a:pt x="0" y="350802"/>
                  </a:lnTo>
                  <a:close/>
                </a:path>
              </a:pathLst>
            </a:custGeom>
            <a:ln w="19050" cap="sq">
              <a:solidFill>
                <a:srgbClr val="CD4E4F"/>
              </a:solidFill>
              <a:prstDash val="solid"/>
              <a:miter/>
            </a:ln>
          </p:spPr>
          <p:txBody>
            <a:bodyPr/>
            <a:lstStyle/>
            <a:p>
              <a:endParaRPr lang="en-US"/>
            </a:p>
          </p:txBody>
        </p:sp>
        <p:sp>
          <p:nvSpPr>
            <p:cNvPr id="49" name="TextBox 49"/>
            <p:cNvSpPr txBox="1"/>
            <p:nvPr/>
          </p:nvSpPr>
          <p:spPr>
            <a:xfrm>
              <a:off x="0" y="-19050"/>
              <a:ext cx="846203" cy="369852"/>
            </a:xfrm>
            <a:prstGeom prst="rect">
              <a:avLst/>
            </a:prstGeom>
          </p:spPr>
          <p:txBody>
            <a:bodyPr lIns="50800" tIns="50800" rIns="50800" bIns="50800" rtlCol="0" anchor="ctr"/>
            <a:lstStyle/>
            <a:p>
              <a:pPr algn="ctr">
                <a:lnSpc>
                  <a:spcPts val="1679"/>
                </a:lnSpc>
              </a:pPr>
              <a:endParaRPr/>
            </a:p>
          </p:txBody>
        </p:sp>
      </p:grpSp>
      <p:graphicFrame>
        <p:nvGraphicFramePr>
          <p:cNvPr id="50" name="Table 50"/>
          <p:cNvGraphicFramePr>
            <a:graphicFrameLocks noGrp="1"/>
          </p:cNvGraphicFramePr>
          <p:nvPr/>
        </p:nvGraphicFramePr>
        <p:xfrm>
          <a:off x="434035" y="3591572"/>
          <a:ext cx="7862306" cy="5868568"/>
        </p:xfrm>
        <a:graphic>
          <a:graphicData uri="http://schemas.openxmlformats.org/drawingml/2006/table">
            <a:tbl>
              <a:tblPr/>
              <a:tblGrid>
                <a:gridCol w="2546469">
                  <a:extLst>
                    <a:ext uri="{9D8B030D-6E8A-4147-A177-3AD203B41FA5}">
                      <a16:colId xmlns:a16="http://schemas.microsoft.com/office/drawing/2014/main" val="20000"/>
                    </a:ext>
                  </a:extLst>
                </a:gridCol>
                <a:gridCol w="5315837">
                  <a:extLst>
                    <a:ext uri="{9D8B030D-6E8A-4147-A177-3AD203B41FA5}">
                      <a16:colId xmlns:a16="http://schemas.microsoft.com/office/drawing/2014/main" val="20001"/>
                    </a:ext>
                  </a:extLst>
                </a:gridCol>
              </a:tblGrid>
              <a:tr h="659672">
                <a:tc gridSpan="2">
                  <a:txBody>
                    <a:bodyPr/>
                    <a:lstStyle/>
                    <a:p>
                      <a:pPr algn="ctr">
                        <a:lnSpc>
                          <a:spcPts val="2800"/>
                        </a:lnSpc>
                        <a:defRPr/>
                      </a:pPr>
                      <a:r>
                        <a:rPr lang="en-US" sz="2000" b="1">
                          <a:solidFill>
                            <a:srgbClr val="FFFFFF"/>
                          </a:solidFill>
                          <a:latin typeface="Montserrat Bold"/>
                          <a:ea typeface="Montserrat Bold"/>
                          <a:cs typeface="Montserrat Bold"/>
                          <a:sym typeface="Montserrat Bold"/>
                        </a:rPr>
                        <a:t>Model features</a:t>
                      </a:r>
                      <a:endParaRPr lang="en-US" sz="1100"/>
                    </a:p>
                  </a:txBody>
                  <a:tcPr marL="76200" marR="76200" marT="76200" marB="76200" anchor="ctr">
                    <a:lnL w="12668" cap="flat" cmpd="sng" algn="ctr">
                      <a:solidFill>
                        <a:srgbClr val="2B6CB0"/>
                      </a:solidFill>
                      <a:prstDash val="solid"/>
                      <a:round/>
                      <a:headEnd type="none" w="med" len="med"/>
                      <a:tailEnd type="none" w="med" len="med"/>
                    </a:lnL>
                    <a:lnR w="12668" cap="flat" cmpd="sng" algn="ctr">
                      <a:solidFill>
                        <a:srgbClr val="2B6CB0"/>
                      </a:solidFill>
                      <a:prstDash val="solid"/>
                      <a:round/>
                      <a:headEnd type="none" w="med" len="med"/>
                      <a:tailEnd type="none" w="med" len="med"/>
                    </a:lnR>
                    <a:lnT w="12668" cap="flat" cmpd="sng" algn="ctr">
                      <a:solidFill>
                        <a:srgbClr val="2B6CB0"/>
                      </a:solidFill>
                      <a:prstDash val="solid"/>
                      <a:round/>
                      <a:headEnd type="none" w="med" len="med"/>
                      <a:tailEnd type="none" w="med" len="med"/>
                    </a:lnT>
                    <a:lnB w="12668" cap="flat" cmpd="sng" algn="ctr">
                      <a:solidFill>
                        <a:srgbClr val="2B6CB0"/>
                      </a:solidFill>
                      <a:prstDash val="solid"/>
                      <a:round/>
                      <a:headEnd type="none" w="med" len="med"/>
                      <a:tailEnd type="none" w="med" len="med"/>
                    </a:lnB>
                    <a:solidFill>
                      <a:srgbClr val="EE806B"/>
                    </a:solidFill>
                  </a:tcPr>
                </a:tc>
                <a:tc hMerge="1">
                  <a:txBody>
                    <a:bodyPr/>
                    <a:lstStyle/>
                    <a:p>
                      <a:pPr algn="ctr">
                        <a:lnSpc>
                          <a:spcPts val="2800"/>
                        </a:lnSpc>
                        <a:defRPr/>
                      </a:pPr>
                      <a:r>
                        <a:rPr lang="en-US" sz="2000" b="1">
                          <a:solidFill>
                            <a:srgbClr val="FFFFFF"/>
                          </a:solidFill>
                          <a:latin typeface="Montserrat Bold"/>
                          <a:ea typeface="Montserrat Bold"/>
                          <a:cs typeface="Montserrat Bold"/>
                          <a:sym typeface="Montserrat Bold"/>
                        </a:rPr>
                        <a:t>Model features</a:t>
                      </a:r>
                      <a:endParaRPr lang="en-US" sz="1100"/>
                    </a:p>
                  </a:txBody>
                  <a:tcPr marL="76200" marR="76200" marT="76200" marB="76200" anchor="ctr">
                    <a:lnL w="12668" cap="flat" cmpd="sng" algn="ctr">
                      <a:solidFill>
                        <a:srgbClr val="2B6CB0"/>
                      </a:solidFill>
                      <a:prstDash val="solid"/>
                      <a:round/>
                      <a:headEnd type="none" w="med" len="med"/>
                      <a:tailEnd type="none" w="med" len="med"/>
                    </a:lnL>
                    <a:lnR w="12668" cap="flat" cmpd="sng" algn="ctr">
                      <a:solidFill>
                        <a:srgbClr val="2B6CB0"/>
                      </a:solidFill>
                      <a:prstDash val="solid"/>
                      <a:round/>
                      <a:headEnd type="none" w="med" len="med"/>
                      <a:tailEnd type="none" w="med" len="med"/>
                    </a:lnR>
                    <a:lnT w="12668" cap="flat" cmpd="sng" algn="ctr">
                      <a:solidFill>
                        <a:srgbClr val="2B6CB0"/>
                      </a:solidFill>
                      <a:prstDash val="solid"/>
                      <a:round/>
                      <a:headEnd type="none" w="med" len="med"/>
                      <a:tailEnd type="none" w="med" len="med"/>
                    </a:lnT>
                    <a:lnB w="12668" cap="flat" cmpd="sng" algn="ctr">
                      <a:solidFill>
                        <a:srgbClr val="2B6CB0"/>
                      </a:solidFill>
                      <a:prstDash val="solid"/>
                      <a:round/>
                      <a:headEnd type="none" w="med" len="med"/>
                      <a:tailEnd type="none" w="med" len="med"/>
                    </a:lnB>
                    <a:solidFill>
                      <a:srgbClr val="EE806B"/>
                    </a:solidFill>
                  </a:tcPr>
                </a:tc>
                <a:extLst>
                  <a:ext uri="{0D108BD9-81ED-4DB2-BD59-A6C34878D82A}">
                    <a16:rowId xmlns:a16="http://schemas.microsoft.com/office/drawing/2014/main" val="10000"/>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spend_to_income</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2B6CB0"/>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Monthly spend/income; above 1 means overspending</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2B6CB0"/>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credit_utilization</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Balance / credit limit; reliance on credit</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essential_ratio</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Share of spend on essentials; spending discipline</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spending_volatility</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How erratic monthly spending is</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txn_count</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Transactions per month; usage frequency</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active_days</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Days with at least one transaction; regularity</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online_ratio (log)</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Share of spend made online; digital adoption</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651112">
                <a:tc>
                  <a:txBody>
                    <a:bodyPr/>
                    <a:lstStyle/>
                    <a:p>
                      <a:pPr algn="l">
                        <a:lnSpc>
                          <a:spcPts val="2100"/>
                        </a:lnSpc>
                        <a:defRPr/>
                      </a:pPr>
                      <a:r>
                        <a:rPr lang="en-US" sz="1500">
                          <a:solidFill>
                            <a:srgbClr val="000000"/>
                          </a:solidFill>
                          <a:latin typeface="Montserrat"/>
                          <a:ea typeface="Montserrat"/>
                          <a:cs typeface="Montserrat"/>
                          <a:sym typeface="Montserrat"/>
                        </a:rPr>
                        <a:t>recency (log)</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tc>
                  <a:txBody>
                    <a:bodyPr/>
                    <a:lstStyle/>
                    <a:p>
                      <a:pPr algn="l">
                        <a:lnSpc>
                          <a:spcPts val="2100"/>
                        </a:lnSpc>
                        <a:defRPr/>
                      </a:pPr>
                      <a:r>
                        <a:rPr lang="en-US" sz="1500">
                          <a:solidFill>
                            <a:srgbClr val="000000"/>
                          </a:solidFill>
                          <a:latin typeface="Montserrat"/>
                          <a:ea typeface="Montserrat"/>
                          <a:cs typeface="Montserrat"/>
                          <a:sym typeface="Montserrat"/>
                        </a:rPr>
                        <a:t>Days since last transaction; signs of going quiet</a:t>
                      </a:r>
                      <a:endParaRPr lang="en-US" sz="1100"/>
                    </a:p>
                  </a:txBody>
                  <a:tcPr marL="76200" marR="76200" marT="76200" marB="76200" anchor="ctr">
                    <a:lnL w="12668" cap="flat" cmpd="sng" algn="ctr">
                      <a:solidFill>
                        <a:srgbClr val="CCCCCC"/>
                      </a:solidFill>
                      <a:prstDash val="solid"/>
                      <a:round/>
                      <a:headEnd type="none" w="med" len="med"/>
                      <a:tailEnd type="none" w="med" len="med"/>
                    </a:lnL>
                    <a:lnR w="12668" cap="flat" cmpd="sng" algn="ctr">
                      <a:solidFill>
                        <a:srgbClr val="CCCCCC"/>
                      </a:solidFill>
                      <a:prstDash val="solid"/>
                      <a:round/>
                      <a:headEnd type="none" w="med" len="med"/>
                      <a:tailEnd type="none" w="med" len="med"/>
                    </a:lnR>
                    <a:lnT w="12668" cap="flat" cmpd="sng" algn="ctr">
                      <a:solidFill>
                        <a:srgbClr val="CCCCCC"/>
                      </a:solidFill>
                      <a:prstDash val="solid"/>
                      <a:round/>
                      <a:headEnd type="none" w="med" len="med"/>
                      <a:tailEnd type="none" w="med" len="med"/>
                    </a:lnT>
                    <a:lnB w="12668"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1" name="TextBox 51"/>
          <p:cNvSpPr txBox="1"/>
          <p:nvPr/>
        </p:nvSpPr>
        <p:spPr>
          <a:xfrm>
            <a:off x="543996" y="2177110"/>
            <a:ext cx="3117322" cy="10668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Customer-months → 1 row per customer</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Mean of monthly ratios</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Total spend kept for profiling</a:t>
            </a:r>
          </a:p>
        </p:txBody>
      </p:sp>
      <p:sp>
        <p:nvSpPr>
          <p:cNvPr id="52" name="TextBox 52"/>
          <p:cNvSpPr txBox="1"/>
          <p:nvPr/>
        </p:nvSpPr>
        <p:spPr>
          <a:xfrm>
            <a:off x="1496915" y="1610494"/>
            <a:ext cx="1425059" cy="339725"/>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Montserrat Bold"/>
                <a:ea typeface="Montserrat Bold"/>
                <a:cs typeface="Montserrat Bold"/>
                <a:sym typeface="Montserrat Bold"/>
              </a:rPr>
              <a:t>A</a:t>
            </a:r>
            <a:r>
              <a:rPr lang="en-US" sz="2000" b="1" u="none" strike="noStrike">
                <a:solidFill>
                  <a:srgbClr val="FFFFFF"/>
                </a:solidFill>
                <a:latin typeface="Montserrat Bold"/>
                <a:ea typeface="Montserrat Bold"/>
                <a:cs typeface="Montserrat Bold"/>
                <a:sym typeface="Montserrat Bold"/>
              </a:rPr>
              <a:t>ggregate</a:t>
            </a:r>
          </a:p>
        </p:txBody>
      </p:sp>
      <p:sp>
        <p:nvSpPr>
          <p:cNvPr id="53" name="TextBox 53"/>
          <p:cNvSpPr txBox="1"/>
          <p:nvPr/>
        </p:nvSpPr>
        <p:spPr>
          <a:xfrm>
            <a:off x="4531361" y="1610494"/>
            <a:ext cx="2216360" cy="339725"/>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Montserrat Bold"/>
                <a:ea typeface="Montserrat Bold"/>
                <a:cs typeface="Montserrat Bold"/>
                <a:sym typeface="Montserrat Bold"/>
              </a:rPr>
              <a:t>Population split</a:t>
            </a:r>
          </a:p>
        </p:txBody>
      </p:sp>
      <p:sp>
        <p:nvSpPr>
          <p:cNvPr id="54" name="TextBox 54"/>
          <p:cNvSpPr txBox="1"/>
          <p:nvPr/>
        </p:nvSpPr>
        <p:spPr>
          <a:xfrm>
            <a:off x="11437363" y="1610494"/>
            <a:ext cx="2301359" cy="339725"/>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Montserrat Bold"/>
                <a:ea typeface="Montserrat Bold"/>
                <a:cs typeface="Montserrat Bold"/>
                <a:sym typeface="Montserrat Bold"/>
              </a:rPr>
              <a:t>Feature engineer</a:t>
            </a:r>
          </a:p>
        </p:txBody>
      </p:sp>
      <p:sp>
        <p:nvSpPr>
          <p:cNvPr id="55" name="TextBox 55"/>
          <p:cNvSpPr txBox="1"/>
          <p:nvPr/>
        </p:nvSpPr>
        <p:spPr>
          <a:xfrm>
            <a:off x="15360525" y="1610494"/>
            <a:ext cx="1374100" cy="339725"/>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Montserrat Bold"/>
                <a:ea typeface="Montserrat Bold"/>
                <a:cs typeface="Montserrat Bold"/>
                <a:sym typeface="Montserrat Bold"/>
              </a:rPr>
              <a:t>Transform</a:t>
            </a:r>
          </a:p>
        </p:txBody>
      </p:sp>
      <p:sp>
        <p:nvSpPr>
          <p:cNvPr id="56" name="TextBox 56"/>
          <p:cNvSpPr txBox="1"/>
          <p:nvPr/>
        </p:nvSpPr>
        <p:spPr>
          <a:xfrm>
            <a:off x="8244331" y="1610494"/>
            <a:ext cx="1836301" cy="339725"/>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FFFFFF"/>
                </a:solidFill>
                <a:latin typeface="Montserrat Bold"/>
                <a:ea typeface="Montserrat Bold"/>
                <a:cs typeface="Montserrat Bold"/>
                <a:sym typeface="Montserrat Bold"/>
              </a:rPr>
              <a:t>Quality check</a:t>
            </a:r>
          </a:p>
        </p:txBody>
      </p:sp>
      <p:sp>
        <p:nvSpPr>
          <p:cNvPr id="57" name="TextBox 57"/>
          <p:cNvSpPr txBox="1"/>
          <p:nvPr/>
        </p:nvSpPr>
        <p:spPr>
          <a:xfrm>
            <a:off x="4130557" y="2153297"/>
            <a:ext cx="2988640" cy="10668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908 full-year customers </a:t>
            </a:r>
          </a:p>
          <a:p>
            <a:pPr algn="l">
              <a:lnSpc>
                <a:spcPts val="2100"/>
              </a:lnSpc>
            </a:pPr>
            <a:r>
              <a:rPr lang="en-US" sz="1500">
                <a:solidFill>
                  <a:srgbClr val="000000"/>
                </a:solidFill>
                <a:latin typeface="Montserrat"/>
                <a:ea typeface="Montserrat"/>
                <a:cs typeface="Montserrat"/>
                <a:sym typeface="Montserrat"/>
              </a:rPr>
              <a:t> → modelled</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91 with 1–2 months </a:t>
            </a:r>
          </a:p>
          <a:p>
            <a:pPr algn="l">
              <a:lnSpc>
                <a:spcPts val="2100"/>
              </a:lnSpc>
            </a:pPr>
            <a:r>
              <a:rPr lang="en-US" sz="1500">
                <a:solidFill>
                  <a:srgbClr val="000000"/>
                </a:solidFill>
                <a:latin typeface="Montserrat"/>
                <a:ea typeface="Montserrat"/>
                <a:cs typeface="Montserrat"/>
                <a:sym typeface="Montserrat"/>
              </a:rPr>
              <a:t>→ rule-based New / Low-history</a:t>
            </a:r>
          </a:p>
        </p:txBody>
      </p:sp>
      <p:sp>
        <p:nvSpPr>
          <p:cNvPr id="58" name="TextBox 58"/>
          <p:cNvSpPr txBox="1"/>
          <p:nvPr/>
        </p:nvSpPr>
        <p:spPr>
          <a:xfrm>
            <a:off x="7452572" y="2153297"/>
            <a:ext cx="3041001" cy="10668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No imputation needed</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Full transaction file verified</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Near-duplicate feature dropped</a:t>
            </a:r>
          </a:p>
        </p:txBody>
      </p:sp>
      <p:sp>
        <p:nvSpPr>
          <p:cNvPr id="59" name="TextBox 59"/>
          <p:cNvSpPr txBox="1"/>
          <p:nvPr/>
        </p:nvSpPr>
        <p:spPr>
          <a:xfrm>
            <a:off x="10873082" y="2062810"/>
            <a:ext cx="2994868" cy="10668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Financial features</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Engagement features</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Validation features</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Composite indices</a:t>
            </a:r>
          </a:p>
        </p:txBody>
      </p:sp>
      <p:sp>
        <p:nvSpPr>
          <p:cNvPr id="60" name="TextBox 60"/>
          <p:cNvSpPr txBox="1"/>
          <p:nvPr/>
        </p:nvSpPr>
        <p:spPr>
          <a:xfrm>
            <a:off x="14338583" y="2086622"/>
            <a:ext cx="2994868" cy="10668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Winsorize p99</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Log1p</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Z-score scaling</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PCA per block</a:t>
            </a:r>
          </a:p>
        </p:txBody>
      </p:sp>
      <p:grpSp>
        <p:nvGrpSpPr>
          <p:cNvPr id="61" name="Group 61"/>
          <p:cNvGrpSpPr/>
          <p:nvPr/>
        </p:nvGrpSpPr>
        <p:grpSpPr>
          <a:xfrm>
            <a:off x="10469955" y="3658247"/>
            <a:ext cx="5078722" cy="494982"/>
            <a:chOff x="0" y="0"/>
            <a:chExt cx="6771630" cy="659977"/>
          </a:xfrm>
        </p:grpSpPr>
        <p:sp>
          <p:nvSpPr>
            <p:cNvPr id="62" name="Freeform 62"/>
            <p:cNvSpPr/>
            <p:nvPr/>
          </p:nvSpPr>
          <p:spPr>
            <a:xfrm>
              <a:off x="0" y="0"/>
              <a:ext cx="6771629" cy="659975"/>
            </a:xfrm>
            <a:custGeom>
              <a:avLst/>
              <a:gdLst/>
              <a:ahLst/>
              <a:cxnLst/>
              <a:rect l="l" t="t" r="r" b="b"/>
              <a:pathLst>
                <a:path w="6771629" h="659975">
                  <a:moveTo>
                    <a:pt x="0" y="0"/>
                  </a:moveTo>
                  <a:lnTo>
                    <a:pt x="6771629" y="0"/>
                  </a:lnTo>
                  <a:lnTo>
                    <a:pt x="6771629" y="659975"/>
                  </a:lnTo>
                  <a:lnTo>
                    <a:pt x="0" y="659975"/>
                  </a:lnTo>
                  <a:close/>
                </a:path>
              </a:pathLst>
            </a:custGeom>
            <a:blipFill>
              <a:blip r:embed="rId2">
                <a:alphaModFix amt="0"/>
              </a:blip>
              <a:stretch>
                <a:fillRect t="-554243" r="-222211" b="-634119"/>
              </a:stretch>
            </a:blipFill>
          </p:spPr>
          <p:txBody>
            <a:bodyPr/>
            <a:lstStyle/>
            <a:p>
              <a:endParaRPr lang="en-US"/>
            </a:p>
          </p:txBody>
        </p:sp>
        <p:sp>
          <p:nvSpPr>
            <p:cNvPr id="63" name="TextBox 63"/>
            <p:cNvSpPr txBox="1"/>
            <p:nvPr/>
          </p:nvSpPr>
          <p:spPr>
            <a:xfrm>
              <a:off x="0" y="-38100"/>
              <a:ext cx="6771630"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Feature selection &amp; PCA</a:t>
              </a:r>
            </a:p>
          </p:txBody>
        </p:sp>
      </p:grpSp>
      <p:grpSp>
        <p:nvGrpSpPr>
          <p:cNvPr id="64" name="Group 64"/>
          <p:cNvGrpSpPr/>
          <p:nvPr/>
        </p:nvGrpSpPr>
        <p:grpSpPr>
          <a:xfrm>
            <a:off x="8454505" y="7804415"/>
            <a:ext cx="9118239" cy="1655727"/>
            <a:chOff x="0" y="0"/>
            <a:chExt cx="2401512" cy="436076"/>
          </a:xfrm>
        </p:grpSpPr>
        <p:sp>
          <p:nvSpPr>
            <p:cNvPr id="65" name="Freeform 65"/>
            <p:cNvSpPr/>
            <p:nvPr/>
          </p:nvSpPr>
          <p:spPr>
            <a:xfrm>
              <a:off x="0" y="0"/>
              <a:ext cx="2401512" cy="436076"/>
            </a:xfrm>
            <a:custGeom>
              <a:avLst/>
              <a:gdLst/>
              <a:ahLst/>
              <a:cxnLst/>
              <a:rect l="l" t="t" r="r" b="b"/>
              <a:pathLst>
                <a:path w="2401512" h="436076">
                  <a:moveTo>
                    <a:pt x="16981" y="0"/>
                  </a:moveTo>
                  <a:lnTo>
                    <a:pt x="2384530" y="0"/>
                  </a:lnTo>
                  <a:cubicBezTo>
                    <a:pt x="2389034" y="0"/>
                    <a:pt x="2393353" y="1789"/>
                    <a:pt x="2396538" y="4974"/>
                  </a:cubicBezTo>
                  <a:cubicBezTo>
                    <a:pt x="2399723" y="8158"/>
                    <a:pt x="2401512" y="12477"/>
                    <a:pt x="2401512" y="16981"/>
                  </a:cubicBezTo>
                  <a:lnTo>
                    <a:pt x="2401512" y="419095"/>
                  </a:lnTo>
                  <a:cubicBezTo>
                    <a:pt x="2401512" y="428474"/>
                    <a:pt x="2393909" y="436076"/>
                    <a:pt x="2384530" y="436076"/>
                  </a:cubicBezTo>
                  <a:lnTo>
                    <a:pt x="16981" y="436076"/>
                  </a:lnTo>
                  <a:cubicBezTo>
                    <a:pt x="12477" y="436076"/>
                    <a:pt x="8158" y="434287"/>
                    <a:pt x="4974" y="431103"/>
                  </a:cubicBezTo>
                  <a:cubicBezTo>
                    <a:pt x="1789" y="427918"/>
                    <a:pt x="0" y="423599"/>
                    <a:pt x="0" y="419095"/>
                  </a:cubicBezTo>
                  <a:lnTo>
                    <a:pt x="0" y="16981"/>
                  </a:lnTo>
                  <a:cubicBezTo>
                    <a:pt x="0" y="12477"/>
                    <a:pt x="1789" y="8158"/>
                    <a:pt x="4974" y="4974"/>
                  </a:cubicBezTo>
                  <a:cubicBezTo>
                    <a:pt x="8158" y="1789"/>
                    <a:pt x="12477" y="0"/>
                    <a:pt x="16981" y="0"/>
                  </a:cubicBezTo>
                  <a:close/>
                </a:path>
              </a:pathLst>
            </a:custGeom>
            <a:solidFill>
              <a:srgbClr val="FFF3F6"/>
            </a:solidFill>
          </p:spPr>
          <p:txBody>
            <a:bodyPr/>
            <a:lstStyle/>
            <a:p>
              <a:endParaRPr lang="en-US"/>
            </a:p>
          </p:txBody>
        </p:sp>
        <p:sp>
          <p:nvSpPr>
            <p:cNvPr id="66" name="TextBox 66"/>
            <p:cNvSpPr txBox="1"/>
            <p:nvPr/>
          </p:nvSpPr>
          <p:spPr>
            <a:xfrm>
              <a:off x="0" y="-38100"/>
              <a:ext cx="2401512" cy="474176"/>
            </a:xfrm>
            <a:prstGeom prst="rect">
              <a:avLst/>
            </a:prstGeom>
          </p:spPr>
          <p:txBody>
            <a:bodyPr lIns="50800" tIns="50800" rIns="50800" bIns="50800" rtlCol="0" anchor="ctr"/>
            <a:lstStyle/>
            <a:p>
              <a:pPr algn="ctr">
                <a:lnSpc>
                  <a:spcPts val="2100"/>
                </a:lnSpc>
              </a:pPr>
              <a:endParaRPr/>
            </a:p>
          </p:txBody>
        </p:sp>
      </p:grpSp>
      <p:grpSp>
        <p:nvGrpSpPr>
          <p:cNvPr id="67" name="Group 67"/>
          <p:cNvGrpSpPr/>
          <p:nvPr/>
        </p:nvGrpSpPr>
        <p:grpSpPr>
          <a:xfrm>
            <a:off x="10679337" y="4258322"/>
            <a:ext cx="3345057" cy="737238"/>
            <a:chOff x="0" y="0"/>
            <a:chExt cx="881003" cy="194170"/>
          </a:xfrm>
        </p:grpSpPr>
        <p:sp>
          <p:nvSpPr>
            <p:cNvPr id="68" name="Freeform 68"/>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69" name="TextBox 69"/>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70" name="Group 70"/>
          <p:cNvGrpSpPr/>
          <p:nvPr/>
        </p:nvGrpSpPr>
        <p:grpSpPr>
          <a:xfrm>
            <a:off x="8566618" y="4258322"/>
            <a:ext cx="1998244" cy="737238"/>
            <a:chOff x="0" y="0"/>
            <a:chExt cx="526286" cy="194170"/>
          </a:xfrm>
        </p:grpSpPr>
        <p:sp>
          <p:nvSpPr>
            <p:cNvPr id="71" name="Freeform 71"/>
            <p:cNvSpPr/>
            <p:nvPr/>
          </p:nvSpPr>
          <p:spPr>
            <a:xfrm>
              <a:off x="0" y="0"/>
              <a:ext cx="526286" cy="194170"/>
            </a:xfrm>
            <a:custGeom>
              <a:avLst/>
              <a:gdLst/>
              <a:ahLst/>
              <a:cxnLst/>
              <a:rect l="l" t="t" r="r" b="b"/>
              <a:pathLst>
                <a:path w="526286" h="194170">
                  <a:moveTo>
                    <a:pt x="77487" y="0"/>
                  </a:moveTo>
                  <a:lnTo>
                    <a:pt x="448799" y="0"/>
                  </a:lnTo>
                  <a:cubicBezTo>
                    <a:pt x="469350" y="0"/>
                    <a:pt x="489059" y="8164"/>
                    <a:pt x="503591" y="22695"/>
                  </a:cubicBezTo>
                  <a:cubicBezTo>
                    <a:pt x="518123" y="37227"/>
                    <a:pt x="526286" y="56936"/>
                    <a:pt x="526286" y="77487"/>
                  </a:cubicBezTo>
                  <a:lnTo>
                    <a:pt x="526286" y="116683"/>
                  </a:lnTo>
                  <a:cubicBezTo>
                    <a:pt x="526286" y="137233"/>
                    <a:pt x="518123" y="156943"/>
                    <a:pt x="503591" y="171474"/>
                  </a:cubicBezTo>
                  <a:cubicBezTo>
                    <a:pt x="489059" y="186006"/>
                    <a:pt x="469350" y="194170"/>
                    <a:pt x="448799" y="194170"/>
                  </a:cubicBezTo>
                  <a:lnTo>
                    <a:pt x="77487" y="194170"/>
                  </a:lnTo>
                  <a:cubicBezTo>
                    <a:pt x="56936" y="194170"/>
                    <a:pt x="37227" y="186006"/>
                    <a:pt x="22695" y="171474"/>
                  </a:cubicBezTo>
                  <a:cubicBezTo>
                    <a:pt x="8164" y="156943"/>
                    <a:pt x="0" y="137233"/>
                    <a:pt x="0" y="116683"/>
                  </a:cubicBezTo>
                  <a:lnTo>
                    <a:pt x="0" y="77487"/>
                  </a:lnTo>
                  <a:cubicBezTo>
                    <a:pt x="0" y="56936"/>
                    <a:pt x="8164" y="37227"/>
                    <a:pt x="22695" y="22695"/>
                  </a:cubicBezTo>
                  <a:cubicBezTo>
                    <a:pt x="37227" y="8164"/>
                    <a:pt x="56936" y="0"/>
                    <a:pt x="77487" y="0"/>
                  </a:cubicBezTo>
                  <a:close/>
                </a:path>
              </a:pathLst>
            </a:custGeom>
            <a:solidFill>
              <a:srgbClr val="FFEAB1">
                <a:alpha val="69804"/>
              </a:srgbClr>
            </a:solidFill>
          </p:spPr>
          <p:txBody>
            <a:bodyPr/>
            <a:lstStyle/>
            <a:p>
              <a:endParaRPr lang="en-US"/>
            </a:p>
          </p:txBody>
        </p:sp>
        <p:sp>
          <p:nvSpPr>
            <p:cNvPr id="72" name="TextBox 72"/>
            <p:cNvSpPr txBox="1"/>
            <p:nvPr/>
          </p:nvSpPr>
          <p:spPr>
            <a:xfrm>
              <a:off x="0" y="-38100"/>
              <a:ext cx="526286" cy="232270"/>
            </a:xfrm>
            <a:prstGeom prst="rect">
              <a:avLst/>
            </a:prstGeom>
          </p:spPr>
          <p:txBody>
            <a:bodyPr lIns="50800" tIns="50800" rIns="50800" bIns="50800" rtlCol="0" anchor="ctr"/>
            <a:lstStyle/>
            <a:p>
              <a:pPr algn="ctr">
                <a:lnSpc>
                  <a:spcPts val="2800"/>
                </a:lnSpc>
              </a:pPr>
              <a:endParaRPr/>
            </a:p>
          </p:txBody>
        </p:sp>
      </p:grpSp>
      <p:grpSp>
        <p:nvGrpSpPr>
          <p:cNvPr id="73" name="Group 73"/>
          <p:cNvGrpSpPr/>
          <p:nvPr/>
        </p:nvGrpSpPr>
        <p:grpSpPr>
          <a:xfrm>
            <a:off x="14138694" y="4258322"/>
            <a:ext cx="3345057" cy="737238"/>
            <a:chOff x="0" y="0"/>
            <a:chExt cx="881003" cy="194170"/>
          </a:xfrm>
        </p:grpSpPr>
        <p:sp>
          <p:nvSpPr>
            <p:cNvPr id="74" name="Freeform 74"/>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75" name="TextBox 75"/>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76" name="Group 76"/>
          <p:cNvGrpSpPr/>
          <p:nvPr/>
        </p:nvGrpSpPr>
        <p:grpSpPr>
          <a:xfrm>
            <a:off x="10679512" y="5087875"/>
            <a:ext cx="3345057" cy="737238"/>
            <a:chOff x="0" y="0"/>
            <a:chExt cx="881003" cy="194170"/>
          </a:xfrm>
        </p:grpSpPr>
        <p:sp>
          <p:nvSpPr>
            <p:cNvPr id="77" name="Freeform 77"/>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78" name="TextBox 78"/>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79" name="Group 79"/>
          <p:cNvGrpSpPr/>
          <p:nvPr/>
        </p:nvGrpSpPr>
        <p:grpSpPr>
          <a:xfrm>
            <a:off x="8566793" y="5087875"/>
            <a:ext cx="1998244" cy="737238"/>
            <a:chOff x="0" y="0"/>
            <a:chExt cx="526286" cy="194170"/>
          </a:xfrm>
        </p:grpSpPr>
        <p:sp>
          <p:nvSpPr>
            <p:cNvPr id="80" name="Freeform 80"/>
            <p:cNvSpPr/>
            <p:nvPr/>
          </p:nvSpPr>
          <p:spPr>
            <a:xfrm>
              <a:off x="0" y="0"/>
              <a:ext cx="526286" cy="194170"/>
            </a:xfrm>
            <a:custGeom>
              <a:avLst/>
              <a:gdLst/>
              <a:ahLst/>
              <a:cxnLst/>
              <a:rect l="l" t="t" r="r" b="b"/>
              <a:pathLst>
                <a:path w="526286" h="194170">
                  <a:moveTo>
                    <a:pt x="77487" y="0"/>
                  </a:moveTo>
                  <a:lnTo>
                    <a:pt x="448799" y="0"/>
                  </a:lnTo>
                  <a:cubicBezTo>
                    <a:pt x="469350" y="0"/>
                    <a:pt x="489059" y="8164"/>
                    <a:pt x="503591" y="22695"/>
                  </a:cubicBezTo>
                  <a:cubicBezTo>
                    <a:pt x="518123" y="37227"/>
                    <a:pt x="526286" y="56936"/>
                    <a:pt x="526286" y="77487"/>
                  </a:cubicBezTo>
                  <a:lnTo>
                    <a:pt x="526286" y="116683"/>
                  </a:lnTo>
                  <a:cubicBezTo>
                    <a:pt x="526286" y="137233"/>
                    <a:pt x="518123" y="156943"/>
                    <a:pt x="503591" y="171474"/>
                  </a:cubicBezTo>
                  <a:cubicBezTo>
                    <a:pt x="489059" y="186006"/>
                    <a:pt x="469350" y="194170"/>
                    <a:pt x="448799" y="194170"/>
                  </a:cubicBezTo>
                  <a:lnTo>
                    <a:pt x="77487" y="194170"/>
                  </a:lnTo>
                  <a:cubicBezTo>
                    <a:pt x="56936" y="194170"/>
                    <a:pt x="37227" y="186006"/>
                    <a:pt x="22695" y="171474"/>
                  </a:cubicBezTo>
                  <a:cubicBezTo>
                    <a:pt x="8164" y="156943"/>
                    <a:pt x="0" y="137233"/>
                    <a:pt x="0" y="116683"/>
                  </a:cubicBezTo>
                  <a:lnTo>
                    <a:pt x="0" y="77487"/>
                  </a:lnTo>
                  <a:cubicBezTo>
                    <a:pt x="0" y="56936"/>
                    <a:pt x="8164" y="37227"/>
                    <a:pt x="22695" y="22695"/>
                  </a:cubicBezTo>
                  <a:cubicBezTo>
                    <a:pt x="37227" y="8164"/>
                    <a:pt x="56936" y="0"/>
                    <a:pt x="77487" y="0"/>
                  </a:cubicBezTo>
                  <a:close/>
                </a:path>
              </a:pathLst>
            </a:custGeom>
            <a:solidFill>
              <a:srgbClr val="FFEAB1">
                <a:alpha val="69804"/>
              </a:srgbClr>
            </a:solidFill>
          </p:spPr>
          <p:txBody>
            <a:bodyPr/>
            <a:lstStyle/>
            <a:p>
              <a:endParaRPr lang="en-US"/>
            </a:p>
          </p:txBody>
        </p:sp>
        <p:sp>
          <p:nvSpPr>
            <p:cNvPr id="81" name="TextBox 81"/>
            <p:cNvSpPr txBox="1"/>
            <p:nvPr/>
          </p:nvSpPr>
          <p:spPr>
            <a:xfrm>
              <a:off x="0" y="-38100"/>
              <a:ext cx="526286" cy="232270"/>
            </a:xfrm>
            <a:prstGeom prst="rect">
              <a:avLst/>
            </a:prstGeom>
          </p:spPr>
          <p:txBody>
            <a:bodyPr lIns="50800" tIns="50800" rIns="50800" bIns="50800" rtlCol="0" anchor="ctr"/>
            <a:lstStyle/>
            <a:p>
              <a:pPr algn="ctr">
                <a:lnSpc>
                  <a:spcPts val="2800"/>
                </a:lnSpc>
              </a:pPr>
              <a:endParaRPr/>
            </a:p>
          </p:txBody>
        </p:sp>
      </p:grpSp>
      <p:grpSp>
        <p:nvGrpSpPr>
          <p:cNvPr id="82" name="Group 82"/>
          <p:cNvGrpSpPr/>
          <p:nvPr/>
        </p:nvGrpSpPr>
        <p:grpSpPr>
          <a:xfrm>
            <a:off x="14138870" y="5087875"/>
            <a:ext cx="3345057" cy="737238"/>
            <a:chOff x="0" y="0"/>
            <a:chExt cx="881003" cy="194170"/>
          </a:xfrm>
        </p:grpSpPr>
        <p:sp>
          <p:nvSpPr>
            <p:cNvPr id="83" name="Freeform 83"/>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84" name="TextBox 84"/>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85" name="Group 85"/>
          <p:cNvGrpSpPr/>
          <p:nvPr/>
        </p:nvGrpSpPr>
        <p:grpSpPr>
          <a:xfrm>
            <a:off x="10679337" y="5920363"/>
            <a:ext cx="3345057" cy="737238"/>
            <a:chOff x="0" y="0"/>
            <a:chExt cx="881003" cy="194170"/>
          </a:xfrm>
        </p:grpSpPr>
        <p:sp>
          <p:nvSpPr>
            <p:cNvPr id="86" name="Freeform 86"/>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87" name="TextBox 87"/>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88" name="Group 88"/>
          <p:cNvGrpSpPr/>
          <p:nvPr/>
        </p:nvGrpSpPr>
        <p:grpSpPr>
          <a:xfrm>
            <a:off x="8566618" y="5920363"/>
            <a:ext cx="1998244" cy="737238"/>
            <a:chOff x="0" y="0"/>
            <a:chExt cx="526286" cy="194170"/>
          </a:xfrm>
        </p:grpSpPr>
        <p:sp>
          <p:nvSpPr>
            <p:cNvPr id="89" name="Freeform 89"/>
            <p:cNvSpPr/>
            <p:nvPr/>
          </p:nvSpPr>
          <p:spPr>
            <a:xfrm>
              <a:off x="0" y="0"/>
              <a:ext cx="526286" cy="194170"/>
            </a:xfrm>
            <a:custGeom>
              <a:avLst/>
              <a:gdLst/>
              <a:ahLst/>
              <a:cxnLst/>
              <a:rect l="l" t="t" r="r" b="b"/>
              <a:pathLst>
                <a:path w="526286" h="194170">
                  <a:moveTo>
                    <a:pt x="77487" y="0"/>
                  </a:moveTo>
                  <a:lnTo>
                    <a:pt x="448799" y="0"/>
                  </a:lnTo>
                  <a:cubicBezTo>
                    <a:pt x="469350" y="0"/>
                    <a:pt x="489059" y="8164"/>
                    <a:pt x="503591" y="22695"/>
                  </a:cubicBezTo>
                  <a:cubicBezTo>
                    <a:pt x="518123" y="37227"/>
                    <a:pt x="526286" y="56936"/>
                    <a:pt x="526286" y="77487"/>
                  </a:cubicBezTo>
                  <a:lnTo>
                    <a:pt x="526286" y="116683"/>
                  </a:lnTo>
                  <a:cubicBezTo>
                    <a:pt x="526286" y="137233"/>
                    <a:pt x="518123" y="156943"/>
                    <a:pt x="503591" y="171474"/>
                  </a:cubicBezTo>
                  <a:cubicBezTo>
                    <a:pt x="489059" y="186006"/>
                    <a:pt x="469350" y="194170"/>
                    <a:pt x="448799" y="194170"/>
                  </a:cubicBezTo>
                  <a:lnTo>
                    <a:pt x="77487" y="194170"/>
                  </a:lnTo>
                  <a:cubicBezTo>
                    <a:pt x="56936" y="194170"/>
                    <a:pt x="37227" y="186006"/>
                    <a:pt x="22695" y="171474"/>
                  </a:cubicBezTo>
                  <a:cubicBezTo>
                    <a:pt x="8164" y="156943"/>
                    <a:pt x="0" y="137233"/>
                    <a:pt x="0" y="116683"/>
                  </a:cubicBezTo>
                  <a:lnTo>
                    <a:pt x="0" y="77487"/>
                  </a:lnTo>
                  <a:cubicBezTo>
                    <a:pt x="0" y="56936"/>
                    <a:pt x="8164" y="37227"/>
                    <a:pt x="22695" y="22695"/>
                  </a:cubicBezTo>
                  <a:cubicBezTo>
                    <a:pt x="37227" y="8164"/>
                    <a:pt x="56936" y="0"/>
                    <a:pt x="77487" y="0"/>
                  </a:cubicBezTo>
                  <a:close/>
                </a:path>
              </a:pathLst>
            </a:custGeom>
            <a:solidFill>
              <a:srgbClr val="FFEAB1">
                <a:alpha val="69804"/>
              </a:srgbClr>
            </a:solidFill>
          </p:spPr>
          <p:txBody>
            <a:bodyPr/>
            <a:lstStyle/>
            <a:p>
              <a:endParaRPr lang="en-US"/>
            </a:p>
          </p:txBody>
        </p:sp>
        <p:sp>
          <p:nvSpPr>
            <p:cNvPr id="90" name="TextBox 90"/>
            <p:cNvSpPr txBox="1"/>
            <p:nvPr/>
          </p:nvSpPr>
          <p:spPr>
            <a:xfrm>
              <a:off x="0" y="-38100"/>
              <a:ext cx="526286" cy="232270"/>
            </a:xfrm>
            <a:prstGeom prst="rect">
              <a:avLst/>
            </a:prstGeom>
          </p:spPr>
          <p:txBody>
            <a:bodyPr lIns="50800" tIns="50800" rIns="50800" bIns="50800" rtlCol="0" anchor="ctr"/>
            <a:lstStyle/>
            <a:p>
              <a:pPr algn="ctr">
                <a:lnSpc>
                  <a:spcPts val="2800"/>
                </a:lnSpc>
              </a:pPr>
              <a:endParaRPr/>
            </a:p>
          </p:txBody>
        </p:sp>
      </p:grpSp>
      <p:grpSp>
        <p:nvGrpSpPr>
          <p:cNvPr id="91" name="Group 91"/>
          <p:cNvGrpSpPr/>
          <p:nvPr/>
        </p:nvGrpSpPr>
        <p:grpSpPr>
          <a:xfrm>
            <a:off x="14138694" y="5920363"/>
            <a:ext cx="3345057" cy="737238"/>
            <a:chOff x="0" y="0"/>
            <a:chExt cx="881003" cy="194170"/>
          </a:xfrm>
        </p:grpSpPr>
        <p:sp>
          <p:nvSpPr>
            <p:cNvPr id="92" name="Freeform 92"/>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93" name="TextBox 93"/>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94" name="Group 94"/>
          <p:cNvGrpSpPr/>
          <p:nvPr/>
        </p:nvGrpSpPr>
        <p:grpSpPr>
          <a:xfrm>
            <a:off x="10679512" y="6752852"/>
            <a:ext cx="3345057" cy="737238"/>
            <a:chOff x="0" y="0"/>
            <a:chExt cx="881003" cy="194170"/>
          </a:xfrm>
        </p:grpSpPr>
        <p:sp>
          <p:nvSpPr>
            <p:cNvPr id="95" name="Freeform 95"/>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96" name="TextBox 96"/>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grpSp>
        <p:nvGrpSpPr>
          <p:cNvPr id="97" name="Group 97"/>
          <p:cNvGrpSpPr/>
          <p:nvPr/>
        </p:nvGrpSpPr>
        <p:grpSpPr>
          <a:xfrm>
            <a:off x="8566793" y="6752852"/>
            <a:ext cx="1998244" cy="737238"/>
            <a:chOff x="0" y="0"/>
            <a:chExt cx="526286" cy="194170"/>
          </a:xfrm>
        </p:grpSpPr>
        <p:sp>
          <p:nvSpPr>
            <p:cNvPr id="98" name="Freeform 98"/>
            <p:cNvSpPr/>
            <p:nvPr/>
          </p:nvSpPr>
          <p:spPr>
            <a:xfrm>
              <a:off x="0" y="0"/>
              <a:ext cx="526286" cy="194170"/>
            </a:xfrm>
            <a:custGeom>
              <a:avLst/>
              <a:gdLst/>
              <a:ahLst/>
              <a:cxnLst/>
              <a:rect l="l" t="t" r="r" b="b"/>
              <a:pathLst>
                <a:path w="526286" h="194170">
                  <a:moveTo>
                    <a:pt x="77487" y="0"/>
                  </a:moveTo>
                  <a:lnTo>
                    <a:pt x="448799" y="0"/>
                  </a:lnTo>
                  <a:cubicBezTo>
                    <a:pt x="469350" y="0"/>
                    <a:pt x="489059" y="8164"/>
                    <a:pt x="503591" y="22695"/>
                  </a:cubicBezTo>
                  <a:cubicBezTo>
                    <a:pt x="518123" y="37227"/>
                    <a:pt x="526286" y="56936"/>
                    <a:pt x="526286" y="77487"/>
                  </a:cubicBezTo>
                  <a:lnTo>
                    <a:pt x="526286" y="116683"/>
                  </a:lnTo>
                  <a:cubicBezTo>
                    <a:pt x="526286" y="137233"/>
                    <a:pt x="518123" y="156943"/>
                    <a:pt x="503591" y="171474"/>
                  </a:cubicBezTo>
                  <a:cubicBezTo>
                    <a:pt x="489059" y="186006"/>
                    <a:pt x="469350" y="194170"/>
                    <a:pt x="448799" y="194170"/>
                  </a:cubicBezTo>
                  <a:lnTo>
                    <a:pt x="77487" y="194170"/>
                  </a:lnTo>
                  <a:cubicBezTo>
                    <a:pt x="56936" y="194170"/>
                    <a:pt x="37227" y="186006"/>
                    <a:pt x="22695" y="171474"/>
                  </a:cubicBezTo>
                  <a:cubicBezTo>
                    <a:pt x="8164" y="156943"/>
                    <a:pt x="0" y="137233"/>
                    <a:pt x="0" y="116683"/>
                  </a:cubicBezTo>
                  <a:lnTo>
                    <a:pt x="0" y="77487"/>
                  </a:lnTo>
                  <a:cubicBezTo>
                    <a:pt x="0" y="56936"/>
                    <a:pt x="8164" y="37227"/>
                    <a:pt x="22695" y="22695"/>
                  </a:cubicBezTo>
                  <a:cubicBezTo>
                    <a:pt x="37227" y="8164"/>
                    <a:pt x="56936" y="0"/>
                    <a:pt x="77487" y="0"/>
                  </a:cubicBezTo>
                  <a:close/>
                </a:path>
              </a:pathLst>
            </a:custGeom>
            <a:solidFill>
              <a:srgbClr val="FFEAB1">
                <a:alpha val="69804"/>
              </a:srgbClr>
            </a:solidFill>
          </p:spPr>
          <p:txBody>
            <a:bodyPr/>
            <a:lstStyle/>
            <a:p>
              <a:endParaRPr lang="en-US"/>
            </a:p>
          </p:txBody>
        </p:sp>
        <p:sp>
          <p:nvSpPr>
            <p:cNvPr id="99" name="TextBox 99"/>
            <p:cNvSpPr txBox="1"/>
            <p:nvPr/>
          </p:nvSpPr>
          <p:spPr>
            <a:xfrm>
              <a:off x="0" y="-38100"/>
              <a:ext cx="526286" cy="232270"/>
            </a:xfrm>
            <a:prstGeom prst="rect">
              <a:avLst/>
            </a:prstGeom>
          </p:spPr>
          <p:txBody>
            <a:bodyPr lIns="50800" tIns="50800" rIns="50800" bIns="50800" rtlCol="0" anchor="ctr"/>
            <a:lstStyle/>
            <a:p>
              <a:pPr algn="ctr">
                <a:lnSpc>
                  <a:spcPts val="2800"/>
                </a:lnSpc>
              </a:pPr>
              <a:endParaRPr/>
            </a:p>
          </p:txBody>
        </p:sp>
      </p:grpSp>
      <p:grpSp>
        <p:nvGrpSpPr>
          <p:cNvPr id="100" name="Group 100"/>
          <p:cNvGrpSpPr/>
          <p:nvPr/>
        </p:nvGrpSpPr>
        <p:grpSpPr>
          <a:xfrm>
            <a:off x="14138870" y="6752852"/>
            <a:ext cx="3345057" cy="737238"/>
            <a:chOff x="0" y="0"/>
            <a:chExt cx="881003" cy="194170"/>
          </a:xfrm>
        </p:grpSpPr>
        <p:sp>
          <p:nvSpPr>
            <p:cNvPr id="101" name="Freeform 101"/>
            <p:cNvSpPr/>
            <p:nvPr/>
          </p:nvSpPr>
          <p:spPr>
            <a:xfrm>
              <a:off x="0" y="0"/>
              <a:ext cx="881003" cy="194170"/>
            </a:xfrm>
            <a:custGeom>
              <a:avLst/>
              <a:gdLst/>
              <a:ahLst/>
              <a:cxnLst/>
              <a:rect l="l" t="t" r="r" b="b"/>
              <a:pathLst>
                <a:path w="881003" h="194170">
                  <a:moveTo>
                    <a:pt x="46289" y="0"/>
                  </a:moveTo>
                  <a:lnTo>
                    <a:pt x="834714" y="0"/>
                  </a:lnTo>
                  <a:cubicBezTo>
                    <a:pt x="846991" y="0"/>
                    <a:pt x="858764" y="4877"/>
                    <a:pt x="867445" y="13558"/>
                  </a:cubicBezTo>
                  <a:cubicBezTo>
                    <a:pt x="876126" y="22238"/>
                    <a:pt x="881003" y="34012"/>
                    <a:pt x="881003" y="46289"/>
                  </a:cubicBezTo>
                  <a:lnTo>
                    <a:pt x="881003" y="147881"/>
                  </a:lnTo>
                  <a:cubicBezTo>
                    <a:pt x="881003" y="160158"/>
                    <a:pt x="876126" y="171931"/>
                    <a:pt x="867445" y="180612"/>
                  </a:cubicBezTo>
                  <a:cubicBezTo>
                    <a:pt x="858764" y="189293"/>
                    <a:pt x="846991" y="194170"/>
                    <a:pt x="834714" y="194170"/>
                  </a:cubicBezTo>
                  <a:lnTo>
                    <a:pt x="46289" y="194170"/>
                  </a:lnTo>
                  <a:cubicBezTo>
                    <a:pt x="34012" y="194170"/>
                    <a:pt x="22238" y="189293"/>
                    <a:pt x="13558" y="180612"/>
                  </a:cubicBezTo>
                  <a:cubicBezTo>
                    <a:pt x="4877" y="171931"/>
                    <a:pt x="0" y="160158"/>
                    <a:pt x="0" y="147881"/>
                  </a:cubicBezTo>
                  <a:lnTo>
                    <a:pt x="0" y="46289"/>
                  </a:lnTo>
                  <a:cubicBezTo>
                    <a:pt x="0" y="34012"/>
                    <a:pt x="4877" y="22238"/>
                    <a:pt x="13558" y="13558"/>
                  </a:cubicBezTo>
                  <a:cubicBezTo>
                    <a:pt x="22238" y="4877"/>
                    <a:pt x="34012" y="0"/>
                    <a:pt x="46289" y="0"/>
                  </a:cubicBezTo>
                  <a:close/>
                </a:path>
              </a:pathLst>
            </a:custGeom>
            <a:ln w="9525" cap="sq">
              <a:solidFill>
                <a:srgbClr val="E15F4B"/>
              </a:solidFill>
              <a:prstDash val="lgDash"/>
              <a:miter/>
            </a:ln>
          </p:spPr>
          <p:txBody>
            <a:bodyPr/>
            <a:lstStyle/>
            <a:p>
              <a:endParaRPr lang="en-US"/>
            </a:p>
          </p:txBody>
        </p:sp>
        <p:sp>
          <p:nvSpPr>
            <p:cNvPr id="102" name="TextBox 102"/>
            <p:cNvSpPr txBox="1"/>
            <p:nvPr/>
          </p:nvSpPr>
          <p:spPr>
            <a:xfrm>
              <a:off x="0" y="-38100"/>
              <a:ext cx="881003" cy="232270"/>
            </a:xfrm>
            <a:prstGeom prst="rect">
              <a:avLst/>
            </a:prstGeom>
          </p:spPr>
          <p:txBody>
            <a:bodyPr lIns="50800" tIns="50800" rIns="50800" bIns="50800" rtlCol="0" anchor="ctr"/>
            <a:lstStyle/>
            <a:p>
              <a:pPr algn="ctr">
                <a:lnSpc>
                  <a:spcPts val="2800"/>
                </a:lnSpc>
              </a:pPr>
              <a:endParaRPr/>
            </a:p>
          </p:txBody>
        </p:sp>
      </p:grpSp>
      <p:sp>
        <p:nvSpPr>
          <p:cNvPr id="103" name="TextBox 103"/>
          <p:cNvSpPr txBox="1"/>
          <p:nvPr/>
        </p:nvSpPr>
        <p:spPr>
          <a:xfrm>
            <a:off x="8934292" y="4341191"/>
            <a:ext cx="1262896" cy="533400"/>
          </a:xfrm>
          <a:prstGeom prst="rect">
            <a:avLst/>
          </a:prstGeom>
        </p:spPr>
        <p:txBody>
          <a:bodyPr lIns="0" tIns="0" rIns="0" bIns="0" rtlCol="0" anchor="t">
            <a:spAutoFit/>
          </a:bodyPr>
          <a:lstStyle/>
          <a:p>
            <a:pPr algn="ctr">
              <a:lnSpc>
                <a:spcPts val="2100"/>
              </a:lnSpc>
              <a:spcBef>
                <a:spcPct val="0"/>
              </a:spcBef>
            </a:pPr>
            <a:r>
              <a:rPr lang="en-US" sz="1500" b="1">
                <a:solidFill>
                  <a:srgbClr val="DF1A34"/>
                </a:solidFill>
                <a:latin typeface="Montserrat Bold"/>
                <a:ea typeface="Montserrat Bold"/>
                <a:cs typeface="Montserrat Bold"/>
                <a:sym typeface="Montserrat Bold"/>
              </a:rPr>
              <a:t>Redundancy</a:t>
            </a:r>
          </a:p>
          <a:p>
            <a:pPr algn="ctr">
              <a:lnSpc>
                <a:spcPts val="2100"/>
              </a:lnSpc>
              <a:spcBef>
                <a:spcPct val="0"/>
              </a:spcBef>
            </a:pPr>
            <a:r>
              <a:rPr lang="en-US" sz="1500" b="1">
                <a:solidFill>
                  <a:srgbClr val="DF1A34"/>
                </a:solidFill>
                <a:latin typeface="Montserrat Bold"/>
                <a:ea typeface="Montserrat Bold"/>
                <a:cs typeface="Montserrat Bold"/>
                <a:sym typeface="Montserrat Bold"/>
              </a:rPr>
              <a:t>check</a:t>
            </a:r>
          </a:p>
        </p:txBody>
      </p:sp>
      <p:sp>
        <p:nvSpPr>
          <p:cNvPr id="104" name="TextBox 104"/>
          <p:cNvSpPr txBox="1"/>
          <p:nvPr/>
        </p:nvSpPr>
        <p:spPr>
          <a:xfrm>
            <a:off x="8934292" y="5304094"/>
            <a:ext cx="1262896" cy="266700"/>
          </a:xfrm>
          <a:prstGeom prst="rect">
            <a:avLst/>
          </a:prstGeom>
        </p:spPr>
        <p:txBody>
          <a:bodyPr lIns="0" tIns="0" rIns="0" bIns="0" rtlCol="0" anchor="t">
            <a:spAutoFit/>
          </a:bodyPr>
          <a:lstStyle/>
          <a:p>
            <a:pPr marL="0" lvl="0" indent="0" algn="ctr">
              <a:lnSpc>
                <a:spcPts val="2100"/>
              </a:lnSpc>
              <a:spcBef>
                <a:spcPct val="0"/>
              </a:spcBef>
            </a:pPr>
            <a:r>
              <a:rPr lang="en-US" sz="1500" b="1" u="none" strike="noStrike">
                <a:solidFill>
                  <a:srgbClr val="DF1A34"/>
                </a:solidFill>
                <a:latin typeface="Montserrat Bold"/>
                <a:ea typeface="Montserrat Bold"/>
                <a:cs typeface="Montserrat Bold"/>
                <a:sym typeface="Montserrat Bold"/>
              </a:rPr>
              <a:t>Block PCA</a:t>
            </a:r>
          </a:p>
        </p:txBody>
      </p:sp>
      <p:sp>
        <p:nvSpPr>
          <p:cNvPr id="105" name="TextBox 105"/>
          <p:cNvSpPr txBox="1"/>
          <p:nvPr/>
        </p:nvSpPr>
        <p:spPr>
          <a:xfrm>
            <a:off x="8934292" y="6003233"/>
            <a:ext cx="1262896" cy="533400"/>
          </a:xfrm>
          <a:prstGeom prst="rect">
            <a:avLst/>
          </a:prstGeom>
        </p:spPr>
        <p:txBody>
          <a:bodyPr lIns="0" tIns="0" rIns="0" bIns="0" rtlCol="0" anchor="t">
            <a:spAutoFit/>
          </a:bodyPr>
          <a:lstStyle/>
          <a:p>
            <a:pPr marL="0" lvl="0" indent="0" algn="ctr">
              <a:lnSpc>
                <a:spcPts val="2100"/>
              </a:lnSpc>
              <a:spcBef>
                <a:spcPct val="0"/>
              </a:spcBef>
            </a:pPr>
            <a:r>
              <a:rPr lang="en-US" sz="1500" b="1" u="none" strike="noStrike">
                <a:solidFill>
                  <a:srgbClr val="DF1A34"/>
                </a:solidFill>
                <a:latin typeface="Montserrat Bold"/>
                <a:ea typeface="Montserrat Bold"/>
                <a:cs typeface="Montserrat Bold"/>
                <a:sym typeface="Montserrat Bold"/>
              </a:rPr>
              <a:t>Block weighting</a:t>
            </a:r>
          </a:p>
        </p:txBody>
      </p:sp>
      <p:sp>
        <p:nvSpPr>
          <p:cNvPr id="106" name="TextBox 106"/>
          <p:cNvSpPr txBox="1"/>
          <p:nvPr/>
        </p:nvSpPr>
        <p:spPr>
          <a:xfrm>
            <a:off x="8934292" y="6876677"/>
            <a:ext cx="1262896" cy="533400"/>
          </a:xfrm>
          <a:prstGeom prst="rect">
            <a:avLst/>
          </a:prstGeom>
        </p:spPr>
        <p:txBody>
          <a:bodyPr lIns="0" tIns="0" rIns="0" bIns="0" rtlCol="0" anchor="t">
            <a:spAutoFit/>
          </a:bodyPr>
          <a:lstStyle/>
          <a:p>
            <a:pPr marL="0" lvl="0" indent="0" algn="ctr">
              <a:lnSpc>
                <a:spcPts val="2100"/>
              </a:lnSpc>
              <a:spcBef>
                <a:spcPct val="0"/>
              </a:spcBef>
            </a:pPr>
            <a:r>
              <a:rPr lang="en-US" sz="1500" b="1" u="none" strike="noStrike">
                <a:solidFill>
                  <a:srgbClr val="DF1A34"/>
                </a:solidFill>
                <a:latin typeface="Montserrat Bold"/>
                <a:ea typeface="Montserrat Bold"/>
                <a:cs typeface="Montserrat Bold"/>
                <a:sym typeface="Montserrat Bold"/>
              </a:rPr>
              <a:t>Candidate test</a:t>
            </a:r>
          </a:p>
        </p:txBody>
      </p:sp>
      <p:sp>
        <p:nvSpPr>
          <p:cNvPr id="107" name="TextBox 107"/>
          <p:cNvSpPr txBox="1"/>
          <p:nvPr/>
        </p:nvSpPr>
        <p:spPr>
          <a:xfrm>
            <a:off x="10831562" y="4341191"/>
            <a:ext cx="3036388" cy="533400"/>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Montserrat"/>
                <a:ea typeface="Montserrat"/>
                <a:cs typeface="Montserrat"/>
                <a:sym typeface="Montserrat"/>
              </a:rPr>
              <a:t>Pairwise correlation between candidate features</a:t>
            </a:r>
          </a:p>
        </p:txBody>
      </p:sp>
      <p:sp>
        <p:nvSpPr>
          <p:cNvPr id="108" name="TextBox 108"/>
          <p:cNvSpPr txBox="1"/>
          <p:nvPr/>
        </p:nvSpPr>
        <p:spPr>
          <a:xfrm>
            <a:off x="10831562" y="5172212"/>
            <a:ext cx="3036388" cy="533400"/>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Montserrat"/>
                <a:ea typeface="Montserrat"/>
                <a:cs typeface="Montserrat"/>
                <a:sym typeface="Montserrat"/>
              </a:rPr>
              <a:t>PCA on standardised features within each block</a:t>
            </a:r>
          </a:p>
        </p:txBody>
      </p:sp>
      <p:sp>
        <p:nvSpPr>
          <p:cNvPr id="109" name="TextBox 109"/>
          <p:cNvSpPr txBox="1"/>
          <p:nvPr/>
        </p:nvSpPr>
        <p:spPr>
          <a:xfrm>
            <a:off x="10831562" y="6015613"/>
            <a:ext cx="3036388" cy="533400"/>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Montserrat"/>
                <a:ea typeface="Montserrat"/>
                <a:cs typeface="Montserrat"/>
                <a:sym typeface="Montserrat"/>
              </a:rPr>
              <a:t>Standardise PCs, divide by √(number of PCs)</a:t>
            </a:r>
          </a:p>
        </p:txBody>
      </p:sp>
      <p:sp>
        <p:nvSpPr>
          <p:cNvPr id="110" name="TextBox 110"/>
          <p:cNvSpPr txBox="1"/>
          <p:nvPr/>
        </p:nvSpPr>
        <p:spPr>
          <a:xfrm>
            <a:off x="10831562" y="6848102"/>
            <a:ext cx="3036388" cy="533400"/>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Montserrat"/>
                <a:ea typeface="Montserrat"/>
                <a:cs typeface="Montserrat"/>
                <a:sym typeface="Montserrat"/>
              </a:rPr>
              <a:t>Transaction-rhythm block (weekend, night, hour)</a:t>
            </a:r>
          </a:p>
        </p:txBody>
      </p:sp>
      <p:sp>
        <p:nvSpPr>
          <p:cNvPr id="111" name="TextBox 111"/>
          <p:cNvSpPr txBox="1"/>
          <p:nvPr/>
        </p:nvSpPr>
        <p:spPr>
          <a:xfrm>
            <a:off x="14291094" y="4381829"/>
            <a:ext cx="3036388" cy="466725"/>
          </a:xfrm>
          <a:prstGeom prst="rect">
            <a:avLst/>
          </a:prstGeom>
        </p:spPr>
        <p:txBody>
          <a:bodyPr lIns="0" tIns="0" rIns="0" bIns="0" rtlCol="0" anchor="t">
            <a:spAutoFit/>
          </a:bodyPr>
          <a:lstStyle/>
          <a:p>
            <a:pPr algn="l">
              <a:lnSpc>
                <a:spcPts val="1800"/>
              </a:lnSpc>
            </a:pPr>
            <a:r>
              <a:rPr lang="en-US" sz="1500">
                <a:solidFill>
                  <a:srgbClr val="000000"/>
                </a:solidFill>
                <a:latin typeface="Montserrat"/>
                <a:ea typeface="Montserrat"/>
                <a:cs typeface="Montserrat"/>
                <a:sym typeface="Montserrat"/>
              </a:rPr>
              <a:t>|r| &gt; 0.95 → drop (balance trend vs spend-to-income, r = −0.998)</a:t>
            </a:r>
          </a:p>
        </p:txBody>
      </p:sp>
      <p:sp>
        <p:nvSpPr>
          <p:cNvPr id="112" name="TextBox 112"/>
          <p:cNvSpPr txBox="1"/>
          <p:nvPr/>
        </p:nvSpPr>
        <p:spPr>
          <a:xfrm>
            <a:off x="14291094" y="5200787"/>
            <a:ext cx="3160920" cy="466725"/>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000000"/>
                </a:solidFill>
                <a:latin typeface="Montserrat"/>
                <a:ea typeface="Montserrat"/>
                <a:cs typeface="Montserrat"/>
                <a:sym typeface="Montserrat"/>
              </a:rPr>
              <a:t>Eigenvalue &gt; 1 (Kaiser): Financial 2 PCs, Engagement 2 PCs</a:t>
            </a:r>
          </a:p>
        </p:txBody>
      </p:sp>
      <p:sp>
        <p:nvSpPr>
          <p:cNvPr id="113" name="TextBox 113"/>
          <p:cNvSpPr txBox="1"/>
          <p:nvPr/>
        </p:nvSpPr>
        <p:spPr>
          <a:xfrm>
            <a:off x="14291094" y="6063238"/>
            <a:ext cx="2644556" cy="466725"/>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000000"/>
                </a:solidFill>
                <a:latin typeface="Montserrat"/>
                <a:ea typeface="Montserrat"/>
                <a:cs typeface="Montserrat"/>
                <a:sym typeface="Montserrat"/>
              </a:rPr>
              <a:t>Each block contributes equal variance</a:t>
            </a:r>
          </a:p>
        </p:txBody>
      </p:sp>
      <p:sp>
        <p:nvSpPr>
          <p:cNvPr id="114" name="TextBox 114"/>
          <p:cNvSpPr txBox="1"/>
          <p:nvPr/>
        </p:nvSpPr>
        <p:spPr>
          <a:xfrm>
            <a:off x="14294368" y="6876677"/>
            <a:ext cx="3039083" cy="466725"/>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000000"/>
                </a:solidFill>
                <a:latin typeface="Montserrat"/>
                <a:ea typeface="Montserrat"/>
                <a:cs typeface="Montserrat"/>
                <a:sym typeface="Montserrat"/>
              </a:rPr>
              <a:t>Not adopted: hours are fixed by category in synthetic data</a:t>
            </a:r>
          </a:p>
        </p:txBody>
      </p:sp>
      <p:sp>
        <p:nvSpPr>
          <p:cNvPr id="115" name="TextBox 115"/>
          <p:cNvSpPr txBox="1"/>
          <p:nvPr/>
        </p:nvSpPr>
        <p:spPr>
          <a:xfrm>
            <a:off x="8640248" y="7956815"/>
            <a:ext cx="8693203" cy="1333500"/>
          </a:xfrm>
          <a:prstGeom prst="rect">
            <a:avLst/>
          </a:prstGeom>
        </p:spPr>
        <p:txBody>
          <a:bodyPr lIns="0" tIns="0" rIns="0" bIns="0" rtlCol="0" anchor="t">
            <a:spAutoFit/>
          </a:bodyPr>
          <a:lstStyle/>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Not used as model inputs: </a:t>
            </a:r>
            <a:r>
              <a:rPr lang="en-US" sz="1500" b="1">
                <a:solidFill>
                  <a:srgbClr val="FF751F"/>
                </a:solidFill>
                <a:latin typeface="Montserrat Bold"/>
                <a:ea typeface="Montserrat Bold"/>
                <a:cs typeface="Montserrat Bold"/>
                <a:sym typeface="Montserrat Bold"/>
              </a:rPr>
              <a:t>financial_health_score, engagement_score</a:t>
            </a:r>
          </a:p>
          <a:p>
            <a:pPr algn="l">
              <a:lnSpc>
                <a:spcPts val="2100"/>
              </a:lnSpc>
            </a:pPr>
            <a:r>
              <a:rPr lang="en-US" sz="1500">
                <a:solidFill>
                  <a:srgbClr val="000000"/>
                </a:solidFill>
                <a:latin typeface="Montserrat"/>
                <a:ea typeface="Montserrat"/>
                <a:cs typeface="Montserrat"/>
                <a:sym typeface="Montserrat"/>
              </a:rPr>
              <a:t>→ Kept as independent benchmarks: our Health Index matches the given score at r = 0.89, and the Engagement Index at r = 0.94</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Demographics: used for description only, never for clustering</a:t>
            </a:r>
          </a:p>
          <a:p>
            <a:pPr marL="323850" lvl="1" indent="-161925" algn="l">
              <a:lnSpc>
                <a:spcPts val="2100"/>
              </a:lnSpc>
              <a:buFont typeface="Arial"/>
              <a:buChar char="•"/>
            </a:pPr>
            <a:r>
              <a:rPr lang="en-US" sz="1500">
                <a:solidFill>
                  <a:srgbClr val="000000"/>
                </a:solidFill>
                <a:latin typeface="Montserrat"/>
                <a:ea typeface="Montserrat"/>
                <a:cs typeface="Montserrat"/>
                <a:sym typeface="Montserrat"/>
              </a:rPr>
              <a:t>Validation features: share of months below 60, next-month crisis rate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11155271" y="9839056"/>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967149" y="147997"/>
            <a:ext cx="16364245" cy="379415"/>
            <a:chOff x="0" y="0"/>
            <a:chExt cx="21818994" cy="505887"/>
          </a:xfrm>
        </p:grpSpPr>
        <p:sp>
          <p:nvSpPr>
            <p:cNvPr id="7" name="Freeform 7"/>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8" name="TextBox 8"/>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9" name="Group 9"/>
          <p:cNvGrpSpPr/>
          <p:nvPr/>
        </p:nvGrpSpPr>
        <p:grpSpPr>
          <a:xfrm>
            <a:off x="923268" y="147997"/>
            <a:ext cx="17364732" cy="1034066"/>
            <a:chOff x="0" y="0"/>
            <a:chExt cx="23152975" cy="1378755"/>
          </a:xfrm>
        </p:grpSpPr>
        <p:sp>
          <p:nvSpPr>
            <p:cNvPr id="10" name="Freeform 10"/>
            <p:cNvSpPr/>
            <p:nvPr/>
          </p:nvSpPr>
          <p:spPr>
            <a:xfrm>
              <a:off x="0" y="0"/>
              <a:ext cx="23152973" cy="1378752"/>
            </a:xfrm>
            <a:custGeom>
              <a:avLst/>
              <a:gdLst/>
              <a:ahLst/>
              <a:cxnLst/>
              <a:rect l="l" t="t" r="r" b="b"/>
              <a:pathLst>
                <a:path w="23152973" h="1378752">
                  <a:moveTo>
                    <a:pt x="0" y="0"/>
                  </a:moveTo>
                  <a:lnTo>
                    <a:pt x="23152973" y="0"/>
                  </a:lnTo>
                  <a:lnTo>
                    <a:pt x="23152973" y="1378752"/>
                  </a:lnTo>
                  <a:lnTo>
                    <a:pt x="0" y="1378752"/>
                  </a:lnTo>
                  <a:close/>
                </a:path>
              </a:pathLst>
            </a:custGeom>
            <a:blipFill>
              <a:blip r:embed="rId2">
                <a:alphaModFix amt="0"/>
              </a:blip>
              <a:stretch>
                <a:fillRect t="-265303" r="5761" b="-251405"/>
              </a:stretch>
            </a:blipFill>
          </p:spPr>
          <p:txBody>
            <a:bodyPr/>
            <a:lstStyle/>
            <a:p>
              <a:endParaRPr lang="en-US"/>
            </a:p>
          </p:txBody>
        </p:sp>
        <p:sp>
          <p:nvSpPr>
            <p:cNvPr id="11" name="TextBox 11"/>
            <p:cNvSpPr txBox="1"/>
            <p:nvPr/>
          </p:nvSpPr>
          <p:spPr>
            <a:xfrm>
              <a:off x="0" y="-57150"/>
              <a:ext cx="23152975"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Customer Segmentation</a:t>
              </a:r>
            </a:p>
            <a:p>
              <a:pPr algn="l">
                <a:lnSpc>
                  <a:spcPts val="3500"/>
                </a:lnSpc>
              </a:pPr>
              <a:r>
                <a:rPr lang="en-US" sz="2500">
                  <a:solidFill>
                    <a:srgbClr val="000000"/>
                  </a:solidFill>
                  <a:latin typeface="Montserrat"/>
                  <a:ea typeface="Montserrat"/>
                  <a:cs typeface="Montserrat"/>
                  <a:sym typeface="Montserrat"/>
                </a:rPr>
                <a:t>Using K-Means algorithm to group customers into 5 segments (4 K-Means clusters + 1 rule-based group) </a:t>
              </a:r>
            </a:p>
          </p:txBody>
        </p:sp>
      </p:grpSp>
      <p:grpSp>
        <p:nvGrpSpPr>
          <p:cNvPr id="12" name="Group 12"/>
          <p:cNvGrpSpPr/>
          <p:nvPr/>
        </p:nvGrpSpPr>
        <p:grpSpPr>
          <a:xfrm>
            <a:off x="3" y="234756"/>
            <a:ext cx="734804" cy="442640"/>
            <a:chOff x="0" y="0"/>
            <a:chExt cx="626275" cy="377263"/>
          </a:xfrm>
        </p:grpSpPr>
        <p:sp>
          <p:nvSpPr>
            <p:cNvPr id="13" name="Freeform 13"/>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14" name="Group 14"/>
          <p:cNvGrpSpPr/>
          <p:nvPr/>
        </p:nvGrpSpPr>
        <p:grpSpPr>
          <a:xfrm>
            <a:off x="377054" y="1696950"/>
            <a:ext cx="3609874" cy="503797"/>
            <a:chOff x="0" y="0"/>
            <a:chExt cx="992235" cy="138477"/>
          </a:xfrm>
        </p:grpSpPr>
        <p:sp>
          <p:nvSpPr>
            <p:cNvPr id="15" name="Freeform 15"/>
            <p:cNvSpPr/>
            <p:nvPr/>
          </p:nvSpPr>
          <p:spPr>
            <a:xfrm>
              <a:off x="0" y="0"/>
              <a:ext cx="992235" cy="138477"/>
            </a:xfrm>
            <a:custGeom>
              <a:avLst/>
              <a:gdLst/>
              <a:ahLst/>
              <a:cxnLst/>
              <a:rect l="l" t="t" r="r" b="b"/>
              <a:pathLst>
                <a:path w="992235" h="138477">
                  <a:moveTo>
                    <a:pt x="0" y="0"/>
                  </a:moveTo>
                  <a:lnTo>
                    <a:pt x="992235" y="0"/>
                  </a:lnTo>
                  <a:lnTo>
                    <a:pt x="992235" y="138477"/>
                  </a:lnTo>
                  <a:lnTo>
                    <a:pt x="0" y="138477"/>
                  </a:lnTo>
                  <a:close/>
                </a:path>
              </a:pathLst>
            </a:custGeom>
            <a:solidFill>
              <a:srgbClr val="E15F4B"/>
            </a:solidFill>
          </p:spPr>
          <p:txBody>
            <a:bodyPr/>
            <a:lstStyle/>
            <a:p>
              <a:endParaRPr lang="en-US"/>
            </a:p>
          </p:txBody>
        </p:sp>
        <p:sp>
          <p:nvSpPr>
            <p:cNvPr id="16" name="TextBox 16"/>
            <p:cNvSpPr txBox="1"/>
            <p:nvPr/>
          </p:nvSpPr>
          <p:spPr>
            <a:xfrm>
              <a:off x="0" y="-19050"/>
              <a:ext cx="992235" cy="157527"/>
            </a:xfrm>
            <a:prstGeom prst="rect">
              <a:avLst/>
            </a:prstGeom>
          </p:spPr>
          <p:txBody>
            <a:bodyPr lIns="73014" tIns="73014" rIns="73014" bIns="73014" rtlCol="0" anchor="ctr"/>
            <a:lstStyle/>
            <a:p>
              <a:pPr algn="ctr">
                <a:lnSpc>
                  <a:spcPts val="1679"/>
                </a:lnSpc>
              </a:pPr>
              <a:endParaRPr/>
            </a:p>
          </p:txBody>
        </p:sp>
      </p:grpSp>
      <p:grpSp>
        <p:nvGrpSpPr>
          <p:cNvPr id="17" name="Group 17"/>
          <p:cNvGrpSpPr/>
          <p:nvPr/>
        </p:nvGrpSpPr>
        <p:grpSpPr>
          <a:xfrm>
            <a:off x="377054" y="2191222"/>
            <a:ext cx="3619524" cy="942857"/>
            <a:chOff x="0" y="0"/>
            <a:chExt cx="953290" cy="248324"/>
          </a:xfrm>
        </p:grpSpPr>
        <p:sp>
          <p:nvSpPr>
            <p:cNvPr id="18" name="Freeform 18"/>
            <p:cNvSpPr/>
            <p:nvPr/>
          </p:nvSpPr>
          <p:spPr>
            <a:xfrm>
              <a:off x="0" y="0"/>
              <a:ext cx="953290" cy="248324"/>
            </a:xfrm>
            <a:custGeom>
              <a:avLst/>
              <a:gdLst/>
              <a:ahLst/>
              <a:cxnLst/>
              <a:rect l="l" t="t" r="r" b="b"/>
              <a:pathLst>
                <a:path w="953290" h="248324">
                  <a:moveTo>
                    <a:pt x="0" y="0"/>
                  </a:moveTo>
                  <a:lnTo>
                    <a:pt x="953290" y="0"/>
                  </a:lnTo>
                  <a:lnTo>
                    <a:pt x="953290" y="248324"/>
                  </a:lnTo>
                  <a:lnTo>
                    <a:pt x="0" y="248324"/>
                  </a:lnTo>
                  <a:close/>
                </a:path>
              </a:pathLst>
            </a:custGeom>
            <a:solidFill>
              <a:srgbClr val="FFEAB1">
                <a:alpha val="40000"/>
              </a:srgbClr>
            </a:solidFill>
          </p:spPr>
          <p:txBody>
            <a:bodyPr/>
            <a:lstStyle/>
            <a:p>
              <a:endParaRPr lang="en-US"/>
            </a:p>
          </p:txBody>
        </p:sp>
        <p:sp>
          <p:nvSpPr>
            <p:cNvPr id="19" name="TextBox 19"/>
            <p:cNvSpPr txBox="1"/>
            <p:nvPr/>
          </p:nvSpPr>
          <p:spPr>
            <a:xfrm>
              <a:off x="0" y="-38100"/>
              <a:ext cx="953290" cy="286424"/>
            </a:xfrm>
            <a:prstGeom prst="rect">
              <a:avLst/>
            </a:prstGeom>
          </p:spPr>
          <p:txBody>
            <a:bodyPr lIns="50800" tIns="50800" rIns="50800" bIns="50800" rtlCol="0" anchor="ctr"/>
            <a:lstStyle/>
            <a:p>
              <a:pPr algn="ctr">
                <a:lnSpc>
                  <a:spcPts val="2800"/>
                </a:lnSpc>
              </a:pPr>
              <a:endParaRPr/>
            </a:p>
          </p:txBody>
        </p:sp>
      </p:grpSp>
      <p:grpSp>
        <p:nvGrpSpPr>
          <p:cNvPr id="20" name="Group 20"/>
          <p:cNvGrpSpPr/>
          <p:nvPr/>
        </p:nvGrpSpPr>
        <p:grpSpPr>
          <a:xfrm>
            <a:off x="377054" y="3121497"/>
            <a:ext cx="3609874" cy="503797"/>
            <a:chOff x="0" y="0"/>
            <a:chExt cx="992235" cy="138477"/>
          </a:xfrm>
        </p:grpSpPr>
        <p:sp>
          <p:nvSpPr>
            <p:cNvPr id="21" name="Freeform 21"/>
            <p:cNvSpPr/>
            <p:nvPr/>
          </p:nvSpPr>
          <p:spPr>
            <a:xfrm>
              <a:off x="0" y="0"/>
              <a:ext cx="992235" cy="138477"/>
            </a:xfrm>
            <a:custGeom>
              <a:avLst/>
              <a:gdLst/>
              <a:ahLst/>
              <a:cxnLst/>
              <a:rect l="l" t="t" r="r" b="b"/>
              <a:pathLst>
                <a:path w="992235" h="138477">
                  <a:moveTo>
                    <a:pt x="0" y="0"/>
                  </a:moveTo>
                  <a:lnTo>
                    <a:pt x="992235" y="0"/>
                  </a:lnTo>
                  <a:lnTo>
                    <a:pt x="992235" y="138477"/>
                  </a:lnTo>
                  <a:lnTo>
                    <a:pt x="0" y="138477"/>
                  </a:lnTo>
                  <a:close/>
                </a:path>
              </a:pathLst>
            </a:custGeom>
            <a:solidFill>
              <a:srgbClr val="E15F4B"/>
            </a:solidFill>
          </p:spPr>
          <p:txBody>
            <a:bodyPr/>
            <a:lstStyle/>
            <a:p>
              <a:endParaRPr lang="en-US"/>
            </a:p>
          </p:txBody>
        </p:sp>
        <p:sp>
          <p:nvSpPr>
            <p:cNvPr id="22" name="TextBox 22"/>
            <p:cNvSpPr txBox="1"/>
            <p:nvPr/>
          </p:nvSpPr>
          <p:spPr>
            <a:xfrm>
              <a:off x="0" y="-19050"/>
              <a:ext cx="992235" cy="157527"/>
            </a:xfrm>
            <a:prstGeom prst="rect">
              <a:avLst/>
            </a:prstGeom>
          </p:spPr>
          <p:txBody>
            <a:bodyPr lIns="73014" tIns="73014" rIns="73014" bIns="73014" rtlCol="0" anchor="ctr"/>
            <a:lstStyle/>
            <a:p>
              <a:pPr algn="ctr">
                <a:lnSpc>
                  <a:spcPts val="1679"/>
                </a:lnSpc>
              </a:pPr>
              <a:endParaRPr/>
            </a:p>
          </p:txBody>
        </p:sp>
      </p:grpSp>
      <p:grpSp>
        <p:nvGrpSpPr>
          <p:cNvPr id="23" name="Group 23"/>
          <p:cNvGrpSpPr/>
          <p:nvPr/>
        </p:nvGrpSpPr>
        <p:grpSpPr>
          <a:xfrm>
            <a:off x="367405" y="3623029"/>
            <a:ext cx="3619524" cy="612893"/>
            <a:chOff x="0" y="0"/>
            <a:chExt cx="953290" cy="161420"/>
          </a:xfrm>
        </p:grpSpPr>
        <p:sp>
          <p:nvSpPr>
            <p:cNvPr id="24" name="Freeform 24"/>
            <p:cNvSpPr/>
            <p:nvPr/>
          </p:nvSpPr>
          <p:spPr>
            <a:xfrm>
              <a:off x="0" y="0"/>
              <a:ext cx="953290" cy="161420"/>
            </a:xfrm>
            <a:custGeom>
              <a:avLst/>
              <a:gdLst/>
              <a:ahLst/>
              <a:cxnLst/>
              <a:rect l="l" t="t" r="r" b="b"/>
              <a:pathLst>
                <a:path w="953290" h="161420">
                  <a:moveTo>
                    <a:pt x="0" y="0"/>
                  </a:moveTo>
                  <a:lnTo>
                    <a:pt x="953290" y="0"/>
                  </a:lnTo>
                  <a:lnTo>
                    <a:pt x="953290" y="161420"/>
                  </a:lnTo>
                  <a:lnTo>
                    <a:pt x="0" y="161420"/>
                  </a:lnTo>
                  <a:close/>
                </a:path>
              </a:pathLst>
            </a:custGeom>
            <a:solidFill>
              <a:srgbClr val="FFEAB1">
                <a:alpha val="40000"/>
              </a:srgbClr>
            </a:solidFill>
          </p:spPr>
          <p:txBody>
            <a:bodyPr/>
            <a:lstStyle/>
            <a:p>
              <a:endParaRPr lang="en-US"/>
            </a:p>
          </p:txBody>
        </p:sp>
        <p:sp>
          <p:nvSpPr>
            <p:cNvPr id="25" name="TextBox 25"/>
            <p:cNvSpPr txBox="1"/>
            <p:nvPr/>
          </p:nvSpPr>
          <p:spPr>
            <a:xfrm>
              <a:off x="0" y="-38100"/>
              <a:ext cx="953290" cy="199520"/>
            </a:xfrm>
            <a:prstGeom prst="rect">
              <a:avLst/>
            </a:prstGeom>
          </p:spPr>
          <p:txBody>
            <a:bodyPr lIns="50800" tIns="50800" rIns="50800" bIns="50800" rtlCol="0" anchor="ctr"/>
            <a:lstStyle/>
            <a:p>
              <a:pPr algn="ctr">
                <a:lnSpc>
                  <a:spcPts val="2800"/>
                </a:lnSpc>
              </a:pPr>
              <a:endParaRPr/>
            </a:p>
          </p:txBody>
        </p:sp>
      </p:grpSp>
      <p:grpSp>
        <p:nvGrpSpPr>
          <p:cNvPr id="26" name="Group 26"/>
          <p:cNvGrpSpPr/>
          <p:nvPr/>
        </p:nvGrpSpPr>
        <p:grpSpPr>
          <a:xfrm>
            <a:off x="377054" y="4235922"/>
            <a:ext cx="3609874" cy="503797"/>
            <a:chOff x="0" y="0"/>
            <a:chExt cx="992235" cy="138477"/>
          </a:xfrm>
        </p:grpSpPr>
        <p:sp>
          <p:nvSpPr>
            <p:cNvPr id="27" name="Freeform 27"/>
            <p:cNvSpPr/>
            <p:nvPr/>
          </p:nvSpPr>
          <p:spPr>
            <a:xfrm>
              <a:off x="0" y="0"/>
              <a:ext cx="992235" cy="138477"/>
            </a:xfrm>
            <a:custGeom>
              <a:avLst/>
              <a:gdLst/>
              <a:ahLst/>
              <a:cxnLst/>
              <a:rect l="l" t="t" r="r" b="b"/>
              <a:pathLst>
                <a:path w="992235" h="138477">
                  <a:moveTo>
                    <a:pt x="0" y="0"/>
                  </a:moveTo>
                  <a:lnTo>
                    <a:pt x="992235" y="0"/>
                  </a:lnTo>
                  <a:lnTo>
                    <a:pt x="992235" y="138477"/>
                  </a:lnTo>
                  <a:lnTo>
                    <a:pt x="0" y="138477"/>
                  </a:lnTo>
                  <a:close/>
                </a:path>
              </a:pathLst>
            </a:custGeom>
            <a:solidFill>
              <a:srgbClr val="E15F4B"/>
            </a:solidFill>
          </p:spPr>
          <p:txBody>
            <a:bodyPr/>
            <a:lstStyle/>
            <a:p>
              <a:endParaRPr lang="en-US"/>
            </a:p>
          </p:txBody>
        </p:sp>
        <p:sp>
          <p:nvSpPr>
            <p:cNvPr id="28" name="TextBox 28"/>
            <p:cNvSpPr txBox="1"/>
            <p:nvPr/>
          </p:nvSpPr>
          <p:spPr>
            <a:xfrm>
              <a:off x="0" y="-19050"/>
              <a:ext cx="992235" cy="157527"/>
            </a:xfrm>
            <a:prstGeom prst="rect">
              <a:avLst/>
            </a:prstGeom>
          </p:spPr>
          <p:txBody>
            <a:bodyPr lIns="73014" tIns="73014" rIns="73014" bIns="73014" rtlCol="0" anchor="ctr"/>
            <a:lstStyle/>
            <a:p>
              <a:pPr algn="ctr">
                <a:lnSpc>
                  <a:spcPts val="1679"/>
                </a:lnSpc>
              </a:pPr>
              <a:endParaRPr/>
            </a:p>
          </p:txBody>
        </p:sp>
      </p:grpSp>
      <p:grpSp>
        <p:nvGrpSpPr>
          <p:cNvPr id="29" name="Group 29"/>
          <p:cNvGrpSpPr/>
          <p:nvPr/>
        </p:nvGrpSpPr>
        <p:grpSpPr>
          <a:xfrm>
            <a:off x="367405" y="4737454"/>
            <a:ext cx="3629173" cy="3752956"/>
            <a:chOff x="0" y="0"/>
            <a:chExt cx="955832" cy="988433"/>
          </a:xfrm>
        </p:grpSpPr>
        <p:sp>
          <p:nvSpPr>
            <p:cNvPr id="30" name="Freeform 30"/>
            <p:cNvSpPr/>
            <p:nvPr/>
          </p:nvSpPr>
          <p:spPr>
            <a:xfrm>
              <a:off x="0" y="0"/>
              <a:ext cx="955832" cy="988433"/>
            </a:xfrm>
            <a:custGeom>
              <a:avLst/>
              <a:gdLst/>
              <a:ahLst/>
              <a:cxnLst/>
              <a:rect l="l" t="t" r="r" b="b"/>
              <a:pathLst>
                <a:path w="955832" h="988433">
                  <a:moveTo>
                    <a:pt x="0" y="0"/>
                  </a:moveTo>
                  <a:lnTo>
                    <a:pt x="955832" y="0"/>
                  </a:lnTo>
                  <a:lnTo>
                    <a:pt x="955832" y="988433"/>
                  </a:lnTo>
                  <a:lnTo>
                    <a:pt x="0" y="988433"/>
                  </a:lnTo>
                  <a:close/>
                </a:path>
              </a:pathLst>
            </a:custGeom>
            <a:solidFill>
              <a:srgbClr val="FFEAB1">
                <a:alpha val="40000"/>
              </a:srgbClr>
            </a:solidFill>
          </p:spPr>
          <p:txBody>
            <a:bodyPr/>
            <a:lstStyle/>
            <a:p>
              <a:endParaRPr lang="en-US"/>
            </a:p>
          </p:txBody>
        </p:sp>
        <p:sp>
          <p:nvSpPr>
            <p:cNvPr id="31" name="TextBox 31"/>
            <p:cNvSpPr txBox="1"/>
            <p:nvPr/>
          </p:nvSpPr>
          <p:spPr>
            <a:xfrm>
              <a:off x="0" y="-38100"/>
              <a:ext cx="955832" cy="1026533"/>
            </a:xfrm>
            <a:prstGeom prst="rect">
              <a:avLst/>
            </a:prstGeom>
          </p:spPr>
          <p:txBody>
            <a:bodyPr lIns="50800" tIns="50800" rIns="50800" bIns="50800" rtlCol="0" anchor="ctr"/>
            <a:lstStyle/>
            <a:p>
              <a:pPr algn="ctr">
                <a:lnSpc>
                  <a:spcPts val="2800"/>
                </a:lnSpc>
              </a:pPr>
              <a:endParaRPr/>
            </a:p>
          </p:txBody>
        </p:sp>
      </p:grpSp>
      <p:grpSp>
        <p:nvGrpSpPr>
          <p:cNvPr id="32" name="Group 32"/>
          <p:cNvGrpSpPr/>
          <p:nvPr/>
        </p:nvGrpSpPr>
        <p:grpSpPr>
          <a:xfrm>
            <a:off x="377054" y="8473518"/>
            <a:ext cx="3609874" cy="503797"/>
            <a:chOff x="0" y="0"/>
            <a:chExt cx="992235" cy="138477"/>
          </a:xfrm>
        </p:grpSpPr>
        <p:sp>
          <p:nvSpPr>
            <p:cNvPr id="33" name="Freeform 33"/>
            <p:cNvSpPr/>
            <p:nvPr/>
          </p:nvSpPr>
          <p:spPr>
            <a:xfrm>
              <a:off x="0" y="0"/>
              <a:ext cx="992235" cy="138477"/>
            </a:xfrm>
            <a:custGeom>
              <a:avLst/>
              <a:gdLst/>
              <a:ahLst/>
              <a:cxnLst/>
              <a:rect l="l" t="t" r="r" b="b"/>
              <a:pathLst>
                <a:path w="992235" h="138477">
                  <a:moveTo>
                    <a:pt x="0" y="0"/>
                  </a:moveTo>
                  <a:lnTo>
                    <a:pt x="992235" y="0"/>
                  </a:lnTo>
                  <a:lnTo>
                    <a:pt x="992235" y="138477"/>
                  </a:lnTo>
                  <a:lnTo>
                    <a:pt x="0" y="138477"/>
                  </a:lnTo>
                  <a:close/>
                </a:path>
              </a:pathLst>
            </a:custGeom>
            <a:solidFill>
              <a:srgbClr val="E15F4B"/>
            </a:solidFill>
          </p:spPr>
          <p:txBody>
            <a:bodyPr/>
            <a:lstStyle/>
            <a:p>
              <a:endParaRPr lang="en-US"/>
            </a:p>
          </p:txBody>
        </p:sp>
        <p:sp>
          <p:nvSpPr>
            <p:cNvPr id="34" name="TextBox 34"/>
            <p:cNvSpPr txBox="1"/>
            <p:nvPr/>
          </p:nvSpPr>
          <p:spPr>
            <a:xfrm>
              <a:off x="0" y="-19050"/>
              <a:ext cx="992235" cy="157527"/>
            </a:xfrm>
            <a:prstGeom prst="rect">
              <a:avLst/>
            </a:prstGeom>
          </p:spPr>
          <p:txBody>
            <a:bodyPr lIns="73014" tIns="73014" rIns="73014" bIns="73014" rtlCol="0" anchor="ctr"/>
            <a:lstStyle/>
            <a:p>
              <a:pPr algn="ctr">
                <a:lnSpc>
                  <a:spcPts val="1679"/>
                </a:lnSpc>
              </a:pPr>
              <a:endParaRPr/>
            </a:p>
          </p:txBody>
        </p:sp>
      </p:grpSp>
      <p:grpSp>
        <p:nvGrpSpPr>
          <p:cNvPr id="35" name="Group 35"/>
          <p:cNvGrpSpPr/>
          <p:nvPr/>
        </p:nvGrpSpPr>
        <p:grpSpPr>
          <a:xfrm>
            <a:off x="367405" y="8975050"/>
            <a:ext cx="3619524" cy="612893"/>
            <a:chOff x="0" y="0"/>
            <a:chExt cx="953290" cy="161420"/>
          </a:xfrm>
        </p:grpSpPr>
        <p:sp>
          <p:nvSpPr>
            <p:cNvPr id="36" name="Freeform 36"/>
            <p:cNvSpPr/>
            <p:nvPr/>
          </p:nvSpPr>
          <p:spPr>
            <a:xfrm>
              <a:off x="0" y="0"/>
              <a:ext cx="953290" cy="161420"/>
            </a:xfrm>
            <a:custGeom>
              <a:avLst/>
              <a:gdLst/>
              <a:ahLst/>
              <a:cxnLst/>
              <a:rect l="l" t="t" r="r" b="b"/>
              <a:pathLst>
                <a:path w="953290" h="161420">
                  <a:moveTo>
                    <a:pt x="0" y="0"/>
                  </a:moveTo>
                  <a:lnTo>
                    <a:pt x="953290" y="0"/>
                  </a:lnTo>
                  <a:lnTo>
                    <a:pt x="953290" y="161420"/>
                  </a:lnTo>
                  <a:lnTo>
                    <a:pt x="0" y="161420"/>
                  </a:lnTo>
                  <a:close/>
                </a:path>
              </a:pathLst>
            </a:custGeom>
            <a:solidFill>
              <a:srgbClr val="FFEAB1">
                <a:alpha val="40000"/>
              </a:srgbClr>
            </a:solidFill>
          </p:spPr>
          <p:txBody>
            <a:bodyPr/>
            <a:lstStyle/>
            <a:p>
              <a:endParaRPr lang="en-US"/>
            </a:p>
          </p:txBody>
        </p:sp>
        <p:sp>
          <p:nvSpPr>
            <p:cNvPr id="37" name="TextBox 37"/>
            <p:cNvSpPr txBox="1"/>
            <p:nvPr/>
          </p:nvSpPr>
          <p:spPr>
            <a:xfrm>
              <a:off x="0" y="-38100"/>
              <a:ext cx="953290" cy="199520"/>
            </a:xfrm>
            <a:prstGeom prst="rect">
              <a:avLst/>
            </a:prstGeom>
          </p:spPr>
          <p:txBody>
            <a:bodyPr lIns="50800" tIns="50800" rIns="50800" bIns="50800" rtlCol="0" anchor="ctr"/>
            <a:lstStyle/>
            <a:p>
              <a:pPr algn="ctr">
                <a:lnSpc>
                  <a:spcPts val="2800"/>
                </a:lnSpc>
              </a:pPr>
              <a:endParaRPr/>
            </a:p>
          </p:txBody>
        </p:sp>
      </p:grpSp>
      <p:grpSp>
        <p:nvGrpSpPr>
          <p:cNvPr id="38" name="Group 38"/>
          <p:cNvGrpSpPr/>
          <p:nvPr/>
        </p:nvGrpSpPr>
        <p:grpSpPr>
          <a:xfrm>
            <a:off x="4311174" y="5027395"/>
            <a:ext cx="9680807" cy="3488138"/>
            <a:chOff x="0" y="0"/>
            <a:chExt cx="12907743" cy="4650850"/>
          </a:xfrm>
        </p:grpSpPr>
        <p:sp>
          <p:nvSpPr>
            <p:cNvPr id="39" name="Freeform 39"/>
            <p:cNvSpPr/>
            <p:nvPr/>
          </p:nvSpPr>
          <p:spPr>
            <a:xfrm>
              <a:off x="0" y="0"/>
              <a:ext cx="6863902" cy="4650850"/>
            </a:xfrm>
            <a:custGeom>
              <a:avLst/>
              <a:gdLst/>
              <a:ahLst/>
              <a:cxnLst/>
              <a:rect l="l" t="t" r="r" b="b"/>
              <a:pathLst>
                <a:path w="6863902" h="4650850">
                  <a:moveTo>
                    <a:pt x="0" y="0"/>
                  </a:moveTo>
                  <a:lnTo>
                    <a:pt x="6863902" y="0"/>
                  </a:lnTo>
                  <a:lnTo>
                    <a:pt x="6863902" y="4650850"/>
                  </a:lnTo>
                  <a:lnTo>
                    <a:pt x="0" y="4650850"/>
                  </a:lnTo>
                  <a:lnTo>
                    <a:pt x="0" y="0"/>
                  </a:lnTo>
                  <a:close/>
                </a:path>
              </a:pathLst>
            </a:custGeom>
            <a:blipFill>
              <a:blip r:embed="rId3"/>
              <a:stretch>
                <a:fillRect l="-980" r="-980"/>
              </a:stretch>
            </a:blipFill>
          </p:spPr>
          <p:txBody>
            <a:bodyPr/>
            <a:lstStyle/>
            <a:p>
              <a:endParaRPr lang="en-US"/>
            </a:p>
          </p:txBody>
        </p:sp>
        <p:sp>
          <p:nvSpPr>
            <p:cNvPr id="40" name="Freeform 40"/>
            <p:cNvSpPr/>
            <p:nvPr/>
          </p:nvSpPr>
          <p:spPr>
            <a:xfrm>
              <a:off x="6863902" y="0"/>
              <a:ext cx="6043841" cy="4650850"/>
            </a:xfrm>
            <a:custGeom>
              <a:avLst/>
              <a:gdLst/>
              <a:ahLst/>
              <a:cxnLst/>
              <a:rect l="l" t="t" r="r" b="b"/>
              <a:pathLst>
                <a:path w="6043841" h="4650850">
                  <a:moveTo>
                    <a:pt x="0" y="0"/>
                  </a:moveTo>
                  <a:lnTo>
                    <a:pt x="6043841" y="0"/>
                  </a:lnTo>
                  <a:lnTo>
                    <a:pt x="6043841" y="4650850"/>
                  </a:lnTo>
                  <a:lnTo>
                    <a:pt x="0" y="4650850"/>
                  </a:lnTo>
                  <a:lnTo>
                    <a:pt x="0" y="0"/>
                  </a:lnTo>
                  <a:close/>
                </a:path>
              </a:pathLst>
            </a:custGeom>
            <a:blipFill>
              <a:blip r:embed="rId4"/>
              <a:stretch>
                <a:fillRect l="-343" r="-343"/>
              </a:stretch>
            </a:blipFill>
          </p:spPr>
          <p:txBody>
            <a:bodyPr/>
            <a:lstStyle/>
            <a:p>
              <a:endParaRPr lang="en-US"/>
            </a:p>
          </p:txBody>
        </p:sp>
      </p:grpSp>
      <p:sp>
        <p:nvSpPr>
          <p:cNvPr id="41" name="Freeform 41"/>
          <p:cNvSpPr/>
          <p:nvPr/>
        </p:nvSpPr>
        <p:spPr>
          <a:xfrm>
            <a:off x="14105628" y="4985381"/>
            <a:ext cx="3704070" cy="3488138"/>
          </a:xfrm>
          <a:custGeom>
            <a:avLst/>
            <a:gdLst/>
            <a:ahLst/>
            <a:cxnLst/>
            <a:rect l="l" t="t" r="r" b="b"/>
            <a:pathLst>
              <a:path w="3704070" h="3488138">
                <a:moveTo>
                  <a:pt x="0" y="0"/>
                </a:moveTo>
                <a:lnTo>
                  <a:pt x="3704069" y="0"/>
                </a:lnTo>
                <a:lnTo>
                  <a:pt x="3704069" y="3488137"/>
                </a:lnTo>
                <a:lnTo>
                  <a:pt x="0" y="3488137"/>
                </a:lnTo>
                <a:lnTo>
                  <a:pt x="0" y="0"/>
                </a:lnTo>
                <a:close/>
              </a:path>
            </a:pathLst>
          </a:custGeom>
          <a:blipFill>
            <a:blip r:embed="rId5"/>
            <a:stretch>
              <a:fillRect/>
            </a:stretch>
          </a:blipFill>
        </p:spPr>
        <p:txBody>
          <a:bodyPr/>
          <a:lstStyle/>
          <a:p>
            <a:endParaRPr lang="en-US"/>
          </a:p>
        </p:txBody>
      </p:sp>
      <p:sp>
        <p:nvSpPr>
          <p:cNvPr id="42" name="TextBox 42"/>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43" name="TextBox 43"/>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44" name="TextBox 44"/>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45" name="TextBox 45"/>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Modelling</a:t>
            </a:r>
          </a:p>
        </p:txBody>
      </p:sp>
      <p:sp>
        <p:nvSpPr>
          <p:cNvPr id="46" name="TextBox 46"/>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47" name="TextBox 47"/>
          <p:cNvSpPr txBox="1"/>
          <p:nvPr/>
        </p:nvSpPr>
        <p:spPr>
          <a:xfrm>
            <a:off x="617917" y="1723424"/>
            <a:ext cx="3178945"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Model Chosen</a:t>
            </a:r>
          </a:p>
        </p:txBody>
      </p:sp>
      <p:sp>
        <p:nvSpPr>
          <p:cNvPr id="48" name="TextBox 48"/>
          <p:cNvSpPr txBox="1"/>
          <p:nvPr/>
        </p:nvSpPr>
        <p:spPr>
          <a:xfrm>
            <a:off x="617917" y="2295997"/>
            <a:ext cx="3178945" cy="692150"/>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K-means Clustering with Optimal K </a:t>
            </a:r>
          </a:p>
        </p:txBody>
      </p:sp>
      <p:sp>
        <p:nvSpPr>
          <p:cNvPr id="49" name="TextBox 49"/>
          <p:cNvSpPr txBox="1"/>
          <p:nvPr/>
        </p:nvSpPr>
        <p:spPr>
          <a:xfrm>
            <a:off x="617917" y="3153129"/>
            <a:ext cx="3178945"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Metrics</a:t>
            </a:r>
          </a:p>
        </p:txBody>
      </p:sp>
      <p:sp>
        <p:nvSpPr>
          <p:cNvPr id="50" name="TextBox 50"/>
          <p:cNvSpPr txBox="1"/>
          <p:nvPr/>
        </p:nvSpPr>
        <p:spPr>
          <a:xfrm>
            <a:off x="347041" y="3769197"/>
            <a:ext cx="3649537" cy="266700"/>
          </a:xfrm>
          <a:prstGeom prst="rect">
            <a:avLst/>
          </a:prstGeom>
        </p:spPr>
        <p:txBody>
          <a:bodyPr lIns="0" tIns="0" rIns="0" bIns="0" rtlCol="0" anchor="t">
            <a:spAutoFit/>
          </a:bodyPr>
          <a:lstStyle/>
          <a:p>
            <a:pPr algn="ctr">
              <a:lnSpc>
                <a:spcPts val="2160"/>
              </a:lnSpc>
            </a:pPr>
            <a:r>
              <a:rPr lang="en-US" sz="1800">
                <a:solidFill>
                  <a:srgbClr val="000000"/>
                </a:solidFill>
                <a:latin typeface="Montserrat"/>
                <a:ea typeface="Montserrat"/>
                <a:cs typeface="Montserrat"/>
                <a:sym typeface="Montserrat"/>
              </a:rPr>
              <a:t>Silhouette score, Inertia (Elbow)</a:t>
            </a:r>
          </a:p>
        </p:txBody>
      </p:sp>
      <p:sp>
        <p:nvSpPr>
          <p:cNvPr id="51" name="TextBox 51"/>
          <p:cNvSpPr txBox="1"/>
          <p:nvPr/>
        </p:nvSpPr>
        <p:spPr>
          <a:xfrm>
            <a:off x="617917" y="4262395"/>
            <a:ext cx="3178945"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Input variables</a:t>
            </a:r>
          </a:p>
        </p:txBody>
      </p:sp>
      <p:sp>
        <p:nvSpPr>
          <p:cNvPr id="52" name="TextBox 52"/>
          <p:cNvSpPr txBox="1"/>
          <p:nvPr/>
        </p:nvSpPr>
        <p:spPr>
          <a:xfrm>
            <a:off x="572711" y="4834968"/>
            <a:ext cx="3208911" cy="3511550"/>
          </a:xfrm>
          <a:prstGeom prst="rect">
            <a:avLst/>
          </a:prstGeom>
        </p:spPr>
        <p:txBody>
          <a:bodyPr lIns="0" tIns="0" rIns="0" bIns="0" rtlCol="0" anchor="t">
            <a:spAutoFit/>
          </a:bodyPr>
          <a:lstStyle/>
          <a:p>
            <a:pPr algn="l">
              <a:lnSpc>
                <a:spcPts val="2800"/>
              </a:lnSpc>
            </a:pPr>
            <a:r>
              <a:rPr lang="en-US" sz="2000" b="1">
                <a:solidFill>
                  <a:srgbClr val="E15F4B"/>
                </a:solidFill>
                <a:latin typeface="Montserrat Bold"/>
                <a:ea typeface="Montserrat Bold"/>
                <a:cs typeface="Montserrat Bold"/>
                <a:sym typeface="Montserrat Bold"/>
              </a:rPr>
              <a:t>Financial Health: </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Spend_to_Income</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Credit_Utilization</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 Essential_Ratio</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Spending_Volatility</a:t>
            </a:r>
          </a:p>
          <a:p>
            <a:pPr algn="l">
              <a:lnSpc>
                <a:spcPts val="2800"/>
              </a:lnSpc>
            </a:pPr>
            <a:r>
              <a:rPr lang="en-US" sz="2000" b="1">
                <a:solidFill>
                  <a:srgbClr val="E15F4B"/>
                </a:solidFill>
                <a:latin typeface="Montserrat Bold"/>
                <a:ea typeface="Montserrat Bold"/>
                <a:cs typeface="Montserrat Bold"/>
                <a:sym typeface="Montserrat Bold"/>
              </a:rPr>
              <a:t>Engagement: </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Txn_Count</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Active_Days</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Online_Ratio</a:t>
            </a:r>
          </a:p>
          <a:p>
            <a:pPr marL="431801" lvl="1" indent="-215900" algn="l">
              <a:lnSpc>
                <a:spcPts val="2800"/>
              </a:lnSpc>
              <a:buFont typeface="Arial"/>
              <a:buChar char="•"/>
            </a:pPr>
            <a:r>
              <a:rPr lang="en-US" sz="2000">
                <a:solidFill>
                  <a:srgbClr val="000000"/>
                </a:solidFill>
                <a:latin typeface="Montserrat"/>
                <a:ea typeface="Montserrat"/>
                <a:cs typeface="Montserrat"/>
                <a:sym typeface="Montserrat"/>
              </a:rPr>
              <a:t>Recency</a:t>
            </a:r>
          </a:p>
        </p:txBody>
      </p:sp>
      <p:sp>
        <p:nvSpPr>
          <p:cNvPr id="53" name="TextBox 53"/>
          <p:cNvSpPr txBox="1"/>
          <p:nvPr/>
        </p:nvSpPr>
        <p:spPr>
          <a:xfrm>
            <a:off x="617917" y="8505150"/>
            <a:ext cx="3178945" cy="412750"/>
          </a:xfrm>
          <a:prstGeom prst="rect">
            <a:avLst/>
          </a:prstGeom>
        </p:spPr>
        <p:txBody>
          <a:bodyPr lIns="0" tIns="0" rIns="0" bIns="0" rtlCol="0" anchor="t">
            <a:spAutoFit/>
          </a:bodyPr>
          <a:lstStyle/>
          <a:p>
            <a:pPr algn="ctr">
              <a:lnSpc>
                <a:spcPts val="3499"/>
              </a:lnSpc>
            </a:pPr>
            <a:r>
              <a:rPr lang="en-US" sz="2499" b="1">
                <a:solidFill>
                  <a:srgbClr val="FFFFFF"/>
                </a:solidFill>
                <a:latin typeface="Montserrat Bold"/>
                <a:ea typeface="Montserrat Bold"/>
                <a:cs typeface="Montserrat Bold"/>
                <a:sym typeface="Montserrat Bold"/>
              </a:rPr>
              <a:t>Standardization</a:t>
            </a:r>
          </a:p>
        </p:txBody>
      </p:sp>
      <p:sp>
        <p:nvSpPr>
          <p:cNvPr id="54" name="TextBox 54"/>
          <p:cNvSpPr txBox="1"/>
          <p:nvPr/>
        </p:nvSpPr>
        <p:spPr>
          <a:xfrm>
            <a:off x="617917" y="9072565"/>
            <a:ext cx="3178945"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Z-score scaling</a:t>
            </a:r>
          </a:p>
        </p:txBody>
      </p:sp>
      <p:sp>
        <p:nvSpPr>
          <p:cNvPr id="55" name="TextBox 55"/>
          <p:cNvSpPr txBox="1"/>
          <p:nvPr/>
        </p:nvSpPr>
        <p:spPr>
          <a:xfrm>
            <a:off x="5757311" y="4298907"/>
            <a:ext cx="6773378" cy="339725"/>
          </a:xfrm>
          <a:prstGeom prst="rect">
            <a:avLst/>
          </a:prstGeom>
        </p:spPr>
        <p:txBody>
          <a:bodyPr lIns="0" tIns="0" rIns="0" bIns="0" rtlCol="0" anchor="t">
            <a:spAutoFit/>
          </a:bodyPr>
          <a:lstStyle/>
          <a:p>
            <a:pPr algn="ctr">
              <a:lnSpc>
                <a:spcPts val="2800"/>
              </a:lnSpc>
              <a:spcBef>
                <a:spcPct val="0"/>
              </a:spcBef>
            </a:pPr>
            <a:r>
              <a:rPr lang="en-US" sz="2000" b="1">
                <a:solidFill>
                  <a:srgbClr val="EE806B"/>
                </a:solidFill>
                <a:latin typeface="Montserrat Bold"/>
                <a:ea typeface="Montserrat Bold"/>
                <a:cs typeface="Montserrat Bold"/>
                <a:sym typeface="Montserrat Bold"/>
              </a:rPr>
              <a:t>Determining the number of clusters (K=4)</a:t>
            </a:r>
          </a:p>
        </p:txBody>
      </p:sp>
      <p:sp>
        <p:nvSpPr>
          <p:cNvPr id="56" name="TextBox 56"/>
          <p:cNvSpPr txBox="1"/>
          <p:nvPr/>
        </p:nvSpPr>
        <p:spPr>
          <a:xfrm>
            <a:off x="14492839" y="4335420"/>
            <a:ext cx="3101217" cy="339725"/>
          </a:xfrm>
          <a:prstGeom prst="rect">
            <a:avLst/>
          </a:prstGeom>
        </p:spPr>
        <p:txBody>
          <a:bodyPr lIns="0" tIns="0" rIns="0" bIns="0" rtlCol="0" anchor="t">
            <a:spAutoFit/>
          </a:bodyPr>
          <a:lstStyle/>
          <a:p>
            <a:pPr algn="ctr">
              <a:lnSpc>
                <a:spcPts val="2800"/>
              </a:lnSpc>
              <a:spcBef>
                <a:spcPct val="0"/>
              </a:spcBef>
            </a:pPr>
            <a:r>
              <a:rPr lang="en-US" sz="2000" b="1">
                <a:solidFill>
                  <a:srgbClr val="EE806B"/>
                </a:solidFill>
                <a:latin typeface="Montserrat Bold"/>
                <a:ea typeface="Montserrat Bold"/>
                <a:cs typeface="Montserrat Bold"/>
                <a:sym typeface="Montserrat Bold"/>
              </a:rPr>
              <a:t>K-means clustering</a:t>
            </a:r>
          </a:p>
        </p:txBody>
      </p:sp>
      <p:grpSp>
        <p:nvGrpSpPr>
          <p:cNvPr id="57" name="Group 57"/>
          <p:cNvGrpSpPr/>
          <p:nvPr/>
        </p:nvGrpSpPr>
        <p:grpSpPr>
          <a:xfrm>
            <a:off x="5131708" y="2081874"/>
            <a:ext cx="2861404" cy="844862"/>
            <a:chOff x="0" y="0"/>
            <a:chExt cx="3815206" cy="1126483"/>
          </a:xfrm>
        </p:grpSpPr>
        <p:sp>
          <p:nvSpPr>
            <p:cNvPr id="58" name="TextBox 58"/>
            <p:cNvSpPr txBox="1"/>
            <p:nvPr/>
          </p:nvSpPr>
          <p:spPr>
            <a:xfrm>
              <a:off x="552126" y="402375"/>
              <a:ext cx="2710954" cy="359833"/>
            </a:xfrm>
            <a:prstGeom prst="rect">
              <a:avLst/>
            </a:prstGeom>
          </p:spPr>
          <p:txBody>
            <a:bodyPr lIns="0" tIns="0" rIns="0" bIns="0" rtlCol="0" anchor="t">
              <a:spAutoFit/>
            </a:bodyPr>
            <a:lstStyle/>
            <a:p>
              <a:pPr algn="ctr">
                <a:lnSpc>
                  <a:spcPts val="2000"/>
                </a:lnSpc>
                <a:spcBef>
                  <a:spcPct val="0"/>
                </a:spcBef>
              </a:pPr>
              <a:r>
                <a:rPr lang="en-US" sz="2000" b="1">
                  <a:solidFill>
                    <a:srgbClr val="CD4E4F"/>
                  </a:solidFill>
                  <a:latin typeface="Montserrat Bold"/>
                  <a:ea typeface="Montserrat Bold"/>
                  <a:cs typeface="Montserrat Bold"/>
                  <a:sym typeface="Montserrat Bold"/>
                </a:rPr>
                <a:t>999 customers </a:t>
              </a:r>
            </a:p>
          </p:txBody>
        </p:sp>
        <p:grpSp>
          <p:nvGrpSpPr>
            <p:cNvPr id="59" name="Group 59"/>
            <p:cNvGrpSpPr/>
            <p:nvPr/>
          </p:nvGrpSpPr>
          <p:grpSpPr>
            <a:xfrm>
              <a:off x="0" y="0"/>
              <a:ext cx="3815206" cy="1126483"/>
              <a:chOff x="0" y="0"/>
              <a:chExt cx="753621" cy="222515"/>
            </a:xfrm>
          </p:grpSpPr>
          <p:sp>
            <p:nvSpPr>
              <p:cNvPr id="60" name="Freeform 60"/>
              <p:cNvSpPr/>
              <p:nvPr/>
            </p:nvSpPr>
            <p:spPr>
              <a:xfrm>
                <a:off x="0" y="0"/>
                <a:ext cx="753621" cy="222515"/>
              </a:xfrm>
              <a:custGeom>
                <a:avLst/>
                <a:gdLst/>
                <a:ahLst/>
                <a:cxnLst/>
                <a:rect l="l" t="t" r="r" b="b"/>
                <a:pathLst>
                  <a:path w="753621" h="222515">
                    <a:moveTo>
                      <a:pt x="54113" y="0"/>
                    </a:moveTo>
                    <a:lnTo>
                      <a:pt x="699508" y="0"/>
                    </a:lnTo>
                    <a:cubicBezTo>
                      <a:pt x="729394" y="0"/>
                      <a:pt x="753621" y="24227"/>
                      <a:pt x="753621" y="54113"/>
                    </a:cubicBezTo>
                    <a:lnTo>
                      <a:pt x="753621" y="168402"/>
                    </a:lnTo>
                    <a:cubicBezTo>
                      <a:pt x="753621" y="198288"/>
                      <a:pt x="729394" y="222515"/>
                      <a:pt x="699508" y="222515"/>
                    </a:cubicBezTo>
                    <a:lnTo>
                      <a:pt x="54113" y="222515"/>
                    </a:lnTo>
                    <a:cubicBezTo>
                      <a:pt x="24227" y="222515"/>
                      <a:pt x="0" y="198288"/>
                      <a:pt x="0" y="168402"/>
                    </a:cubicBezTo>
                    <a:lnTo>
                      <a:pt x="0" y="54113"/>
                    </a:lnTo>
                    <a:cubicBezTo>
                      <a:pt x="0" y="24227"/>
                      <a:pt x="24227" y="0"/>
                      <a:pt x="54113" y="0"/>
                    </a:cubicBezTo>
                    <a:close/>
                  </a:path>
                </a:pathLst>
              </a:custGeom>
              <a:ln w="19050" cap="sq">
                <a:solidFill>
                  <a:srgbClr val="EF9655"/>
                </a:solidFill>
                <a:prstDash val="lgDash"/>
                <a:miter/>
              </a:ln>
            </p:spPr>
            <p:txBody>
              <a:bodyPr/>
              <a:lstStyle/>
              <a:p>
                <a:endParaRPr lang="en-US"/>
              </a:p>
            </p:txBody>
          </p:sp>
          <p:sp>
            <p:nvSpPr>
              <p:cNvPr id="61" name="TextBox 61"/>
              <p:cNvSpPr txBox="1"/>
              <p:nvPr/>
            </p:nvSpPr>
            <p:spPr>
              <a:xfrm>
                <a:off x="0" y="-38100"/>
                <a:ext cx="753621" cy="260615"/>
              </a:xfrm>
              <a:prstGeom prst="rect">
                <a:avLst/>
              </a:prstGeom>
            </p:spPr>
            <p:txBody>
              <a:bodyPr lIns="50800" tIns="50800" rIns="50800" bIns="50800" rtlCol="0" anchor="ctr"/>
              <a:lstStyle/>
              <a:p>
                <a:pPr algn="ctr">
                  <a:lnSpc>
                    <a:spcPts val="2800"/>
                  </a:lnSpc>
                </a:pPr>
                <a:endParaRPr/>
              </a:p>
            </p:txBody>
          </p:sp>
        </p:grpSp>
      </p:grpSp>
      <p:grpSp>
        <p:nvGrpSpPr>
          <p:cNvPr id="62" name="Group 62"/>
          <p:cNvGrpSpPr/>
          <p:nvPr/>
        </p:nvGrpSpPr>
        <p:grpSpPr>
          <a:xfrm>
            <a:off x="9859392" y="1598019"/>
            <a:ext cx="7124207" cy="873300"/>
            <a:chOff x="0" y="0"/>
            <a:chExt cx="1876334" cy="230005"/>
          </a:xfrm>
        </p:grpSpPr>
        <p:sp>
          <p:nvSpPr>
            <p:cNvPr id="63" name="Freeform 63"/>
            <p:cNvSpPr/>
            <p:nvPr/>
          </p:nvSpPr>
          <p:spPr>
            <a:xfrm>
              <a:off x="0" y="0"/>
              <a:ext cx="1876335" cy="230005"/>
            </a:xfrm>
            <a:custGeom>
              <a:avLst/>
              <a:gdLst/>
              <a:ahLst/>
              <a:cxnLst/>
              <a:rect l="l" t="t" r="r" b="b"/>
              <a:pathLst>
                <a:path w="1876335" h="230005">
                  <a:moveTo>
                    <a:pt x="21734" y="0"/>
                  </a:moveTo>
                  <a:lnTo>
                    <a:pt x="1854600" y="0"/>
                  </a:lnTo>
                  <a:cubicBezTo>
                    <a:pt x="1860365" y="0"/>
                    <a:pt x="1865893" y="2290"/>
                    <a:pt x="1869969" y="6366"/>
                  </a:cubicBezTo>
                  <a:cubicBezTo>
                    <a:pt x="1874045" y="10442"/>
                    <a:pt x="1876335" y="15970"/>
                    <a:pt x="1876335" y="21734"/>
                  </a:cubicBezTo>
                  <a:lnTo>
                    <a:pt x="1876335" y="208271"/>
                  </a:lnTo>
                  <a:cubicBezTo>
                    <a:pt x="1876335" y="214035"/>
                    <a:pt x="1874045" y="219563"/>
                    <a:pt x="1869969" y="223639"/>
                  </a:cubicBezTo>
                  <a:cubicBezTo>
                    <a:pt x="1865893" y="227715"/>
                    <a:pt x="1860365" y="230005"/>
                    <a:pt x="1854600" y="230005"/>
                  </a:cubicBezTo>
                  <a:lnTo>
                    <a:pt x="21734" y="230005"/>
                  </a:lnTo>
                  <a:cubicBezTo>
                    <a:pt x="15970" y="230005"/>
                    <a:pt x="10442" y="227715"/>
                    <a:pt x="6366" y="223639"/>
                  </a:cubicBezTo>
                  <a:cubicBezTo>
                    <a:pt x="2290" y="219563"/>
                    <a:pt x="0" y="214035"/>
                    <a:pt x="0" y="208271"/>
                  </a:cubicBezTo>
                  <a:lnTo>
                    <a:pt x="0" y="21734"/>
                  </a:lnTo>
                  <a:cubicBezTo>
                    <a:pt x="0" y="15970"/>
                    <a:pt x="2290" y="10442"/>
                    <a:pt x="6366" y="6366"/>
                  </a:cubicBezTo>
                  <a:cubicBezTo>
                    <a:pt x="10442" y="2290"/>
                    <a:pt x="15970" y="0"/>
                    <a:pt x="21734" y="0"/>
                  </a:cubicBezTo>
                  <a:close/>
                </a:path>
              </a:pathLst>
            </a:custGeom>
            <a:ln w="19050" cap="sq">
              <a:solidFill>
                <a:srgbClr val="EF9655"/>
              </a:solidFill>
              <a:prstDash val="lgDash"/>
              <a:miter/>
            </a:ln>
          </p:spPr>
          <p:txBody>
            <a:bodyPr/>
            <a:lstStyle/>
            <a:p>
              <a:endParaRPr lang="en-US"/>
            </a:p>
          </p:txBody>
        </p:sp>
        <p:sp>
          <p:nvSpPr>
            <p:cNvPr id="64" name="TextBox 64"/>
            <p:cNvSpPr txBox="1"/>
            <p:nvPr/>
          </p:nvSpPr>
          <p:spPr>
            <a:xfrm>
              <a:off x="0" y="-38100"/>
              <a:ext cx="1876334" cy="268105"/>
            </a:xfrm>
            <a:prstGeom prst="rect">
              <a:avLst/>
            </a:prstGeom>
          </p:spPr>
          <p:txBody>
            <a:bodyPr lIns="50800" tIns="50800" rIns="50800" bIns="50800" rtlCol="0" anchor="ctr"/>
            <a:lstStyle/>
            <a:p>
              <a:pPr algn="ctr">
                <a:lnSpc>
                  <a:spcPts val="2800"/>
                </a:lnSpc>
              </a:pPr>
              <a:r>
                <a:rPr lang="en-US" sz="2000" b="1">
                  <a:solidFill>
                    <a:srgbClr val="CD4E4F"/>
                  </a:solidFill>
                  <a:latin typeface="Montserrat Bold"/>
                  <a:ea typeface="Montserrat Bold"/>
                  <a:cs typeface="Montserrat Bold"/>
                  <a:sym typeface="Montserrat Bold"/>
                </a:rPr>
                <a:t>12- month data (908 customers) </a:t>
              </a:r>
            </a:p>
            <a:p>
              <a:pPr algn="ctr">
                <a:lnSpc>
                  <a:spcPts val="2800"/>
                </a:lnSpc>
              </a:pPr>
              <a:r>
                <a:rPr lang="en-US" sz="2000" b="1">
                  <a:solidFill>
                    <a:srgbClr val="CD4E4F"/>
                  </a:solidFill>
                  <a:latin typeface="Montserrat Bold"/>
                  <a:ea typeface="Montserrat Bold"/>
                  <a:cs typeface="Montserrat Bold"/>
                  <a:sym typeface="Montserrat Bold"/>
                </a:rPr>
                <a:t>→ Feature Engineering → Clustering</a:t>
              </a:r>
            </a:p>
          </p:txBody>
        </p:sp>
      </p:grpSp>
      <p:grpSp>
        <p:nvGrpSpPr>
          <p:cNvPr id="65" name="Group 65"/>
          <p:cNvGrpSpPr/>
          <p:nvPr/>
        </p:nvGrpSpPr>
        <p:grpSpPr>
          <a:xfrm>
            <a:off x="9859392" y="2789983"/>
            <a:ext cx="7124207" cy="620608"/>
            <a:chOff x="0" y="0"/>
            <a:chExt cx="1876334" cy="163452"/>
          </a:xfrm>
        </p:grpSpPr>
        <p:sp>
          <p:nvSpPr>
            <p:cNvPr id="66" name="Freeform 66"/>
            <p:cNvSpPr/>
            <p:nvPr/>
          </p:nvSpPr>
          <p:spPr>
            <a:xfrm>
              <a:off x="0" y="0"/>
              <a:ext cx="1876335" cy="163452"/>
            </a:xfrm>
            <a:custGeom>
              <a:avLst/>
              <a:gdLst/>
              <a:ahLst/>
              <a:cxnLst/>
              <a:rect l="l" t="t" r="r" b="b"/>
              <a:pathLst>
                <a:path w="1876335" h="163452">
                  <a:moveTo>
                    <a:pt x="21734" y="0"/>
                  </a:moveTo>
                  <a:lnTo>
                    <a:pt x="1854600" y="0"/>
                  </a:lnTo>
                  <a:cubicBezTo>
                    <a:pt x="1860365" y="0"/>
                    <a:pt x="1865893" y="2290"/>
                    <a:pt x="1869969" y="6366"/>
                  </a:cubicBezTo>
                  <a:cubicBezTo>
                    <a:pt x="1874045" y="10442"/>
                    <a:pt x="1876335" y="15970"/>
                    <a:pt x="1876335" y="21734"/>
                  </a:cubicBezTo>
                  <a:lnTo>
                    <a:pt x="1876335" y="141718"/>
                  </a:lnTo>
                  <a:cubicBezTo>
                    <a:pt x="1876335" y="147482"/>
                    <a:pt x="1874045" y="153011"/>
                    <a:pt x="1869969" y="157087"/>
                  </a:cubicBezTo>
                  <a:cubicBezTo>
                    <a:pt x="1865893" y="161162"/>
                    <a:pt x="1860365" y="163452"/>
                    <a:pt x="1854600" y="163452"/>
                  </a:cubicBezTo>
                  <a:lnTo>
                    <a:pt x="21734" y="163452"/>
                  </a:lnTo>
                  <a:cubicBezTo>
                    <a:pt x="9731" y="163452"/>
                    <a:pt x="0" y="153722"/>
                    <a:pt x="0" y="141718"/>
                  </a:cubicBezTo>
                  <a:lnTo>
                    <a:pt x="0" y="21734"/>
                  </a:lnTo>
                  <a:cubicBezTo>
                    <a:pt x="0" y="15970"/>
                    <a:pt x="2290" y="10442"/>
                    <a:pt x="6366" y="6366"/>
                  </a:cubicBezTo>
                  <a:cubicBezTo>
                    <a:pt x="10442" y="2290"/>
                    <a:pt x="15970" y="0"/>
                    <a:pt x="21734" y="0"/>
                  </a:cubicBezTo>
                  <a:close/>
                </a:path>
              </a:pathLst>
            </a:custGeom>
            <a:ln w="19050" cap="sq">
              <a:solidFill>
                <a:srgbClr val="EF9655"/>
              </a:solidFill>
              <a:prstDash val="lgDash"/>
              <a:miter/>
            </a:ln>
          </p:spPr>
          <p:txBody>
            <a:bodyPr/>
            <a:lstStyle/>
            <a:p>
              <a:endParaRPr lang="en-US"/>
            </a:p>
          </p:txBody>
        </p:sp>
        <p:sp>
          <p:nvSpPr>
            <p:cNvPr id="67" name="TextBox 67"/>
            <p:cNvSpPr txBox="1"/>
            <p:nvPr/>
          </p:nvSpPr>
          <p:spPr>
            <a:xfrm>
              <a:off x="0" y="-38100"/>
              <a:ext cx="1876334" cy="201552"/>
            </a:xfrm>
            <a:prstGeom prst="rect">
              <a:avLst/>
            </a:prstGeom>
          </p:spPr>
          <p:txBody>
            <a:bodyPr lIns="50800" tIns="50800" rIns="50800" bIns="50800" rtlCol="0" anchor="ctr"/>
            <a:lstStyle/>
            <a:p>
              <a:pPr algn="ctr">
                <a:lnSpc>
                  <a:spcPts val="2800"/>
                </a:lnSpc>
              </a:pPr>
              <a:r>
                <a:rPr lang="en-US" sz="2000" b="1">
                  <a:solidFill>
                    <a:srgbClr val="CD4E4F"/>
                  </a:solidFill>
                  <a:latin typeface="Montserrat Bold"/>
                  <a:ea typeface="Montserrat Bold"/>
                  <a:cs typeface="Montserrat Bold"/>
                  <a:sym typeface="Montserrat Bold"/>
                </a:rPr>
                <a:t>Only 1–2 month data (91 customers) → Rule-based</a:t>
              </a:r>
            </a:p>
          </p:txBody>
        </p:sp>
      </p:grpSp>
      <p:sp>
        <p:nvSpPr>
          <p:cNvPr id="68" name="Freeform 68"/>
          <p:cNvSpPr/>
          <p:nvPr/>
        </p:nvSpPr>
        <p:spPr>
          <a:xfrm>
            <a:off x="7993112" y="2034669"/>
            <a:ext cx="1866280" cy="469636"/>
          </a:xfrm>
          <a:custGeom>
            <a:avLst/>
            <a:gdLst/>
            <a:ahLst/>
            <a:cxnLst/>
            <a:rect l="l" t="t" r="r" b="b"/>
            <a:pathLst>
              <a:path w="1866280" h="469636">
                <a:moveTo>
                  <a:pt x="0" y="469636"/>
                </a:moveTo>
                <a:lnTo>
                  <a:pt x="704540" y="469636"/>
                </a:lnTo>
                <a:cubicBezTo>
                  <a:pt x="765169" y="469636"/>
                  <a:pt x="823314" y="445552"/>
                  <a:pt x="866184" y="402681"/>
                </a:cubicBezTo>
                <a:cubicBezTo>
                  <a:pt x="909055" y="359810"/>
                  <a:pt x="933140" y="301665"/>
                  <a:pt x="933140" y="241036"/>
                </a:cubicBezTo>
                <a:lnTo>
                  <a:pt x="933140" y="228600"/>
                </a:lnTo>
                <a:cubicBezTo>
                  <a:pt x="933140" y="167971"/>
                  <a:pt x="957225" y="109826"/>
                  <a:pt x="1000096" y="66955"/>
                </a:cubicBezTo>
                <a:cubicBezTo>
                  <a:pt x="1042966" y="24084"/>
                  <a:pt x="1101111" y="0"/>
                  <a:pt x="1161740" y="0"/>
                </a:cubicBezTo>
                <a:lnTo>
                  <a:pt x="1866280" y="0"/>
                </a:lnTo>
              </a:path>
            </a:pathLst>
          </a:custGeom>
          <a:ln w="38100" cap="flat">
            <a:gradFill>
              <a:gsLst>
                <a:gs pos="0">
                  <a:srgbClr val="FFD862">
                    <a:alpha val="100000"/>
                  </a:srgbClr>
                </a:gs>
                <a:gs pos="50000">
                  <a:srgbClr val="E15F4B">
                    <a:alpha val="100000"/>
                  </a:srgbClr>
                </a:gs>
                <a:gs pos="100000">
                  <a:srgbClr val="733045">
                    <a:alpha val="100000"/>
                  </a:srgbClr>
                </a:gs>
              </a:gsLst>
              <a:lin ang="2700000"/>
            </a:gradFill>
            <a:prstDash val="sysDot"/>
            <a:headEnd type="none" w="sm" len="sm"/>
            <a:tailEnd type="arrow" w="med" len="sm"/>
          </a:ln>
        </p:spPr>
        <p:txBody>
          <a:bodyPr/>
          <a:lstStyle/>
          <a:p>
            <a:endParaRPr lang="en-US"/>
          </a:p>
        </p:txBody>
      </p:sp>
      <p:sp>
        <p:nvSpPr>
          <p:cNvPr id="69" name="Freeform 69"/>
          <p:cNvSpPr/>
          <p:nvPr/>
        </p:nvSpPr>
        <p:spPr>
          <a:xfrm>
            <a:off x="7993112" y="2504305"/>
            <a:ext cx="1866280" cy="595982"/>
          </a:xfrm>
          <a:custGeom>
            <a:avLst/>
            <a:gdLst/>
            <a:ahLst/>
            <a:cxnLst/>
            <a:rect l="l" t="t" r="r" b="b"/>
            <a:pathLst>
              <a:path w="1866280" h="595982">
                <a:moveTo>
                  <a:pt x="0" y="0"/>
                </a:moveTo>
                <a:lnTo>
                  <a:pt x="704540" y="0"/>
                </a:lnTo>
                <a:cubicBezTo>
                  <a:pt x="765169" y="0"/>
                  <a:pt x="823314" y="24085"/>
                  <a:pt x="866184" y="66955"/>
                </a:cubicBezTo>
                <a:cubicBezTo>
                  <a:pt x="909055" y="109826"/>
                  <a:pt x="933140" y="167972"/>
                  <a:pt x="933140" y="228600"/>
                </a:cubicBezTo>
                <a:lnTo>
                  <a:pt x="933140" y="367382"/>
                </a:lnTo>
                <a:cubicBezTo>
                  <a:pt x="933140" y="428011"/>
                  <a:pt x="957225" y="486156"/>
                  <a:pt x="1000096" y="529027"/>
                </a:cubicBezTo>
                <a:cubicBezTo>
                  <a:pt x="1042966" y="571898"/>
                  <a:pt x="1101111" y="595982"/>
                  <a:pt x="1161740" y="595982"/>
                </a:cubicBezTo>
                <a:lnTo>
                  <a:pt x="1866280" y="595982"/>
                </a:lnTo>
              </a:path>
            </a:pathLst>
          </a:custGeom>
          <a:ln w="38100" cap="flat">
            <a:gradFill>
              <a:gsLst>
                <a:gs pos="0">
                  <a:srgbClr val="FFD862">
                    <a:alpha val="100000"/>
                  </a:srgbClr>
                </a:gs>
                <a:gs pos="50000">
                  <a:srgbClr val="E15F4B">
                    <a:alpha val="100000"/>
                  </a:srgbClr>
                </a:gs>
                <a:gs pos="100000">
                  <a:srgbClr val="733045">
                    <a:alpha val="100000"/>
                  </a:srgbClr>
                </a:gs>
              </a:gsLst>
              <a:lin ang="2700000"/>
            </a:gradFill>
            <a:prstDash val="sysDot"/>
            <a:headEnd type="none" w="sm" len="sm"/>
            <a:tailEnd type="arrow" w="med" len="sm"/>
          </a:ln>
        </p:spPr>
        <p:txBody>
          <a:bodyPr/>
          <a:lstStyle/>
          <a:p>
            <a:endParaRPr lang="en-US"/>
          </a:p>
        </p:txBody>
      </p:sp>
      <p:sp>
        <p:nvSpPr>
          <p:cNvPr id="70" name="AutoShape 70"/>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11155271" y="9839056"/>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967149" y="147997"/>
            <a:ext cx="16364245" cy="379415"/>
            <a:chOff x="0" y="0"/>
            <a:chExt cx="21818994" cy="505887"/>
          </a:xfrm>
        </p:grpSpPr>
        <p:sp>
          <p:nvSpPr>
            <p:cNvPr id="7" name="Freeform 7"/>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8" name="TextBox 8"/>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9" name="Group 9"/>
          <p:cNvGrpSpPr/>
          <p:nvPr/>
        </p:nvGrpSpPr>
        <p:grpSpPr>
          <a:xfrm>
            <a:off x="923268" y="147997"/>
            <a:ext cx="17364732" cy="1034066"/>
            <a:chOff x="0" y="0"/>
            <a:chExt cx="23152975" cy="1378755"/>
          </a:xfrm>
        </p:grpSpPr>
        <p:sp>
          <p:nvSpPr>
            <p:cNvPr id="10" name="Freeform 10"/>
            <p:cNvSpPr/>
            <p:nvPr/>
          </p:nvSpPr>
          <p:spPr>
            <a:xfrm>
              <a:off x="0" y="0"/>
              <a:ext cx="23152973" cy="1378752"/>
            </a:xfrm>
            <a:custGeom>
              <a:avLst/>
              <a:gdLst/>
              <a:ahLst/>
              <a:cxnLst/>
              <a:rect l="l" t="t" r="r" b="b"/>
              <a:pathLst>
                <a:path w="23152973" h="1378752">
                  <a:moveTo>
                    <a:pt x="0" y="0"/>
                  </a:moveTo>
                  <a:lnTo>
                    <a:pt x="23152973" y="0"/>
                  </a:lnTo>
                  <a:lnTo>
                    <a:pt x="23152973" y="1378752"/>
                  </a:lnTo>
                  <a:lnTo>
                    <a:pt x="0" y="1378752"/>
                  </a:lnTo>
                  <a:close/>
                </a:path>
              </a:pathLst>
            </a:custGeom>
            <a:blipFill>
              <a:blip r:embed="rId2">
                <a:alphaModFix amt="0"/>
              </a:blip>
              <a:stretch>
                <a:fillRect t="-265303" r="5761" b="-251405"/>
              </a:stretch>
            </a:blipFill>
          </p:spPr>
          <p:txBody>
            <a:bodyPr/>
            <a:lstStyle/>
            <a:p>
              <a:endParaRPr lang="en-US"/>
            </a:p>
          </p:txBody>
        </p:sp>
        <p:sp>
          <p:nvSpPr>
            <p:cNvPr id="11" name="TextBox 11"/>
            <p:cNvSpPr txBox="1"/>
            <p:nvPr/>
          </p:nvSpPr>
          <p:spPr>
            <a:xfrm>
              <a:off x="0" y="-57150"/>
              <a:ext cx="23152975"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Customer Segmentation</a:t>
              </a:r>
            </a:p>
            <a:p>
              <a:pPr algn="l">
                <a:lnSpc>
                  <a:spcPts val="3500"/>
                </a:lnSpc>
              </a:pPr>
              <a:r>
                <a:rPr lang="en-US" sz="2500">
                  <a:solidFill>
                    <a:srgbClr val="000000"/>
                  </a:solidFill>
                  <a:latin typeface="Montserrat"/>
                  <a:ea typeface="Montserrat"/>
                  <a:cs typeface="Montserrat"/>
                  <a:sym typeface="Montserrat"/>
                </a:rPr>
                <a:t>Identify the characteristics of each cluster and propose tailored strategies accordingly (Task 4, Q2)</a:t>
              </a:r>
            </a:p>
          </p:txBody>
        </p:sp>
      </p:grpSp>
      <p:grpSp>
        <p:nvGrpSpPr>
          <p:cNvPr id="12" name="Group 12"/>
          <p:cNvGrpSpPr/>
          <p:nvPr/>
        </p:nvGrpSpPr>
        <p:grpSpPr>
          <a:xfrm>
            <a:off x="3" y="234756"/>
            <a:ext cx="734804" cy="442640"/>
            <a:chOff x="0" y="0"/>
            <a:chExt cx="626275" cy="377263"/>
          </a:xfrm>
        </p:grpSpPr>
        <p:sp>
          <p:nvSpPr>
            <p:cNvPr id="13" name="Freeform 13"/>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14" name="Group 14"/>
          <p:cNvGrpSpPr/>
          <p:nvPr/>
        </p:nvGrpSpPr>
        <p:grpSpPr>
          <a:xfrm>
            <a:off x="7645686" y="1507721"/>
            <a:ext cx="10147532" cy="406589"/>
            <a:chOff x="0" y="0"/>
            <a:chExt cx="2789220" cy="111758"/>
          </a:xfrm>
        </p:grpSpPr>
        <p:sp>
          <p:nvSpPr>
            <p:cNvPr id="15" name="Freeform 15"/>
            <p:cNvSpPr/>
            <p:nvPr/>
          </p:nvSpPr>
          <p:spPr>
            <a:xfrm>
              <a:off x="0" y="0"/>
              <a:ext cx="2789220" cy="111758"/>
            </a:xfrm>
            <a:custGeom>
              <a:avLst/>
              <a:gdLst/>
              <a:ahLst/>
              <a:cxnLst/>
              <a:rect l="l" t="t" r="r" b="b"/>
              <a:pathLst>
                <a:path w="2789220" h="111758">
                  <a:moveTo>
                    <a:pt x="0" y="0"/>
                  </a:moveTo>
                  <a:lnTo>
                    <a:pt x="2789220" y="0"/>
                  </a:lnTo>
                  <a:lnTo>
                    <a:pt x="2789220" y="111758"/>
                  </a:lnTo>
                  <a:lnTo>
                    <a:pt x="0" y="111758"/>
                  </a:lnTo>
                  <a:close/>
                </a:path>
              </a:pathLst>
            </a:custGeom>
            <a:solidFill>
              <a:srgbClr val="E15F4B"/>
            </a:solidFill>
          </p:spPr>
          <p:txBody>
            <a:bodyPr/>
            <a:lstStyle/>
            <a:p>
              <a:endParaRPr lang="en-US"/>
            </a:p>
          </p:txBody>
        </p:sp>
        <p:sp>
          <p:nvSpPr>
            <p:cNvPr id="16" name="TextBox 16"/>
            <p:cNvSpPr txBox="1"/>
            <p:nvPr/>
          </p:nvSpPr>
          <p:spPr>
            <a:xfrm>
              <a:off x="0" y="-19050"/>
              <a:ext cx="2789220" cy="130808"/>
            </a:xfrm>
            <a:prstGeom prst="rect">
              <a:avLst/>
            </a:prstGeom>
          </p:spPr>
          <p:txBody>
            <a:bodyPr lIns="73014" tIns="73014" rIns="73014" bIns="73014" rtlCol="0" anchor="ctr"/>
            <a:lstStyle/>
            <a:p>
              <a:pPr algn="ctr">
                <a:lnSpc>
                  <a:spcPts val="1679"/>
                </a:lnSpc>
              </a:pPr>
              <a:endParaRPr/>
            </a:p>
          </p:txBody>
        </p:sp>
      </p:grpSp>
      <p:grpSp>
        <p:nvGrpSpPr>
          <p:cNvPr id="17" name="Group 17"/>
          <p:cNvGrpSpPr/>
          <p:nvPr/>
        </p:nvGrpSpPr>
        <p:grpSpPr>
          <a:xfrm>
            <a:off x="9674066" y="1914310"/>
            <a:ext cx="8121009" cy="1338699"/>
            <a:chOff x="0" y="0"/>
            <a:chExt cx="2232196" cy="367964"/>
          </a:xfrm>
        </p:grpSpPr>
        <p:sp>
          <p:nvSpPr>
            <p:cNvPr id="18" name="Freeform 18"/>
            <p:cNvSpPr/>
            <p:nvPr/>
          </p:nvSpPr>
          <p:spPr>
            <a:xfrm>
              <a:off x="0" y="0"/>
              <a:ext cx="2232196" cy="367964"/>
            </a:xfrm>
            <a:custGeom>
              <a:avLst/>
              <a:gdLst/>
              <a:ahLst/>
              <a:cxnLst/>
              <a:rect l="l" t="t" r="r" b="b"/>
              <a:pathLst>
                <a:path w="2232196" h="367964">
                  <a:moveTo>
                    <a:pt x="0" y="0"/>
                  </a:moveTo>
                  <a:lnTo>
                    <a:pt x="2232196" y="0"/>
                  </a:lnTo>
                  <a:lnTo>
                    <a:pt x="2232196" y="367964"/>
                  </a:lnTo>
                  <a:lnTo>
                    <a:pt x="0" y="367964"/>
                  </a:lnTo>
                  <a:close/>
                </a:path>
              </a:pathLst>
            </a:custGeom>
            <a:ln w="19050" cap="sq">
              <a:solidFill>
                <a:srgbClr val="EF9655"/>
              </a:solidFill>
              <a:prstDash val="sysDot"/>
              <a:miter/>
            </a:ln>
          </p:spPr>
          <p:txBody>
            <a:bodyPr/>
            <a:lstStyle/>
            <a:p>
              <a:endParaRPr lang="en-US"/>
            </a:p>
          </p:txBody>
        </p:sp>
        <p:sp>
          <p:nvSpPr>
            <p:cNvPr id="19" name="TextBox 19"/>
            <p:cNvSpPr txBox="1"/>
            <p:nvPr/>
          </p:nvSpPr>
          <p:spPr>
            <a:xfrm>
              <a:off x="0" y="-19050"/>
              <a:ext cx="2232196" cy="387014"/>
            </a:xfrm>
            <a:prstGeom prst="rect">
              <a:avLst/>
            </a:prstGeom>
          </p:spPr>
          <p:txBody>
            <a:bodyPr lIns="73014" tIns="73014" rIns="73014" bIns="73014" rtlCol="0" anchor="ctr"/>
            <a:lstStyle/>
            <a:p>
              <a:pPr algn="ctr">
                <a:lnSpc>
                  <a:spcPts val="1679"/>
                </a:lnSpc>
              </a:pPr>
              <a:endParaRPr/>
            </a:p>
          </p:txBody>
        </p:sp>
      </p:grpSp>
      <p:grpSp>
        <p:nvGrpSpPr>
          <p:cNvPr id="20" name="Group 20"/>
          <p:cNvGrpSpPr/>
          <p:nvPr/>
        </p:nvGrpSpPr>
        <p:grpSpPr>
          <a:xfrm>
            <a:off x="7645686" y="1914310"/>
            <a:ext cx="2028276" cy="1338699"/>
            <a:chOff x="0" y="0"/>
            <a:chExt cx="534196" cy="352579"/>
          </a:xfrm>
        </p:grpSpPr>
        <p:sp>
          <p:nvSpPr>
            <p:cNvPr id="21" name="Freeform 21"/>
            <p:cNvSpPr/>
            <p:nvPr/>
          </p:nvSpPr>
          <p:spPr>
            <a:xfrm>
              <a:off x="0" y="0"/>
              <a:ext cx="534196" cy="352579"/>
            </a:xfrm>
            <a:custGeom>
              <a:avLst/>
              <a:gdLst/>
              <a:ahLst/>
              <a:cxnLst/>
              <a:rect l="l" t="t" r="r" b="b"/>
              <a:pathLst>
                <a:path w="534196" h="352579">
                  <a:moveTo>
                    <a:pt x="0" y="0"/>
                  </a:moveTo>
                  <a:lnTo>
                    <a:pt x="534196" y="0"/>
                  </a:lnTo>
                  <a:lnTo>
                    <a:pt x="534196" y="352579"/>
                  </a:lnTo>
                  <a:lnTo>
                    <a:pt x="0" y="352579"/>
                  </a:lnTo>
                  <a:close/>
                </a:path>
              </a:pathLst>
            </a:custGeom>
            <a:solidFill>
              <a:srgbClr val="E15F4B"/>
            </a:solidFill>
          </p:spPr>
          <p:txBody>
            <a:bodyPr/>
            <a:lstStyle/>
            <a:p>
              <a:endParaRPr lang="en-US"/>
            </a:p>
          </p:txBody>
        </p:sp>
        <p:sp>
          <p:nvSpPr>
            <p:cNvPr id="22" name="TextBox 22"/>
            <p:cNvSpPr txBox="1"/>
            <p:nvPr/>
          </p:nvSpPr>
          <p:spPr>
            <a:xfrm>
              <a:off x="0" y="-38100"/>
              <a:ext cx="534196" cy="390679"/>
            </a:xfrm>
            <a:prstGeom prst="rect">
              <a:avLst/>
            </a:prstGeom>
          </p:spPr>
          <p:txBody>
            <a:bodyPr lIns="50800" tIns="50800" rIns="50800" bIns="50800" rtlCol="0" anchor="ctr"/>
            <a:lstStyle/>
            <a:p>
              <a:pPr algn="ctr">
                <a:lnSpc>
                  <a:spcPts val="2800"/>
                </a:lnSpc>
              </a:pPr>
              <a:endParaRPr/>
            </a:p>
          </p:txBody>
        </p:sp>
      </p:grpSp>
      <p:grpSp>
        <p:nvGrpSpPr>
          <p:cNvPr id="23" name="Group 23"/>
          <p:cNvGrpSpPr/>
          <p:nvPr/>
        </p:nvGrpSpPr>
        <p:grpSpPr>
          <a:xfrm>
            <a:off x="9674066" y="3253009"/>
            <a:ext cx="8121009" cy="1628636"/>
            <a:chOff x="0" y="0"/>
            <a:chExt cx="2232196" cy="447658"/>
          </a:xfrm>
        </p:grpSpPr>
        <p:sp>
          <p:nvSpPr>
            <p:cNvPr id="24" name="Freeform 24"/>
            <p:cNvSpPr/>
            <p:nvPr/>
          </p:nvSpPr>
          <p:spPr>
            <a:xfrm>
              <a:off x="0" y="0"/>
              <a:ext cx="2232196" cy="447658"/>
            </a:xfrm>
            <a:custGeom>
              <a:avLst/>
              <a:gdLst/>
              <a:ahLst/>
              <a:cxnLst/>
              <a:rect l="l" t="t" r="r" b="b"/>
              <a:pathLst>
                <a:path w="2232196" h="447658">
                  <a:moveTo>
                    <a:pt x="0" y="0"/>
                  </a:moveTo>
                  <a:lnTo>
                    <a:pt x="2232196" y="0"/>
                  </a:lnTo>
                  <a:lnTo>
                    <a:pt x="2232196" y="447658"/>
                  </a:lnTo>
                  <a:lnTo>
                    <a:pt x="0" y="447658"/>
                  </a:lnTo>
                  <a:close/>
                </a:path>
              </a:pathLst>
            </a:custGeom>
            <a:ln w="19050" cap="sq">
              <a:solidFill>
                <a:srgbClr val="EF9655"/>
              </a:solidFill>
              <a:prstDash val="sysDot"/>
              <a:miter/>
            </a:ln>
          </p:spPr>
          <p:txBody>
            <a:bodyPr/>
            <a:lstStyle/>
            <a:p>
              <a:endParaRPr lang="en-US"/>
            </a:p>
          </p:txBody>
        </p:sp>
        <p:sp>
          <p:nvSpPr>
            <p:cNvPr id="25" name="TextBox 25"/>
            <p:cNvSpPr txBox="1"/>
            <p:nvPr/>
          </p:nvSpPr>
          <p:spPr>
            <a:xfrm>
              <a:off x="0" y="-19050"/>
              <a:ext cx="2232196" cy="466708"/>
            </a:xfrm>
            <a:prstGeom prst="rect">
              <a:avLst/>
            </a:prstGeom>
          </p:spPr>
          <p:txBody>
            <a:bodyPr lIns="73014" tIns="73014" rIns="73014" bIns="73014" rtlCol="0" anchor="ctr"/>
            <a:lstStyle/>
            <a:p>
              <a:pPr algn="ctr">
                <a:lnSpc>
                  <a:spcPts val="1679"/>
                </a:lnSpc>
              </a:pPr>
              <a:endParaRPr/>
            </a:p>
          </p:txBody>
        </p:sp>
      </p:grpSp>
      <p:grpSp>
        <p:nvGrpSpPr>
          <p:cNvPr id="26" name="Group 26"/>
          <p:cNvGrpSpPr/>
          <p:nvPr/>
        </p:nvGrpSpPr>
        <p:grpSpPr>
          <a:xfrm>
            <a:off x="7645686" y="3253009"/>
            <a:ext cx="2028276" cy="1628636"/>
            <a:chOff x="0" y="0"/>
            <a:chExt cx="534196" cy="428941"/>
          </a:xfrm>
        </p:grpSpPr>
        <p:sp>
          <p:nvSpPr>
            <p:cNvPr id="27" name="Freeform 27"/>
            <p:cNvSpPr/>
            <p:nvPr/>
          </p:nvSpPr>
          <p:spPr>
            <a:xfrm>
              <a:off x="0" y="0"/>
              <a:ext cx="534196" cy="428941"/>
            </a:xfrm>
            <a:custGeom>
              <a:avLst/>
              <a:gdLst/>
              <a:ahLst/>
              <a:cxnLst/>
              <a:rect l="l" t="t" r="r" b="b"/>
              <a:pathLst>
                <a:path w="534196" h="428941">
                  <a:moveTo>
                    <a:pt x="0" y="0"/>
                  </a:moveTo>
                  <a:lnTo>
                    <a:pt x="534196" y="0"/>
                  </a:lnTo>
                  <a:lnTo>
                    <a:pt x="534196" y="428941"/>
                  </a:lnTo>
                  <a:lnTo>
                    <a:pt x="0" y="428941"/>
                  </a:lnTo>
                  <a:close/>
                </a:path>
              </a:pathLst>
            </a:custGeom>
            <a:solidFill>
              <a:srgbClr val="E15F4B"/>
            </a:solidFill>
          </p:spPr>
          <p:txBody>
            <a:bodyPr/>
            <a:lstStyle/>
            <a:p>
              <a:endParaRPr lang="en-US"/>
            </a:p>
          </p:txBody>
        </p:sp>
        <p:sp>
          <p:nvSpPr>
            <p:cNvPr id="28" name="TextBox 28"/>
            <p:cNvSpPr txBox="1"/>
            <p:nvPr/>
          </p:nvSpPr>
          <p:spPr>
            <a:xfrm>
              <a:off x="0" y="-38100"/>
              <a:ext cx="534196" cy="467041"/>
            </a:xfrm>
            <a:prstGeom prst="rect">
              <a:avLst/>
            </a:prstGeom>
          </p:spPr>
          <p:txBody>
            <a:bodyPr lIns="50800" tIns="50800" rIns="50800" bIns="50800" rtlCol="0" anchor="ctr"/>
            <a:lstStyle/>
            <a:p>
              <a:pPr algn="ctr">
                <a:lnSpc>
                  <a:spcPts val="2800"/>
                </a:lnSpc>
              </a:pPr>
              <a:endParaRPr/>
            </a:p>
          </p:txBody>
        </p:sp>
      </p:grpSp>
      <p:grpSp>
        <p:nvGrpSpPr>
          <p:cNvPr id="29" name="Group 29"/>
          <p:cNvGrpSpPr/>
          <p:nvPr/>
        </p:nvGrpSpPr>
        <p:grpSpPr>
          <a:xfrm>
            <a:off x="9674066" y="4881645"/>
            <a:ext cx="8121009" cy="1410243"/>
            <a:chOff x="0" y="0"/>
            <a:chExt cx="2232196" cy="387629"/>
          </a:xfrm>
        </p:grpSpPr>
        <p:sp>
          <p:nvSpPr>
            <p:cNvPr id="30" name="Freeform 30"/>
            <p:cNvSpPr/>
            <p:nvPr/>
          </p:nvSpPr>
          <p:spPr>
            <a:xfrm>
              <a:off x="0" y="0"/>
              <a:ext cx="2232196" cy="387629"/>
            </a:xfrm>
            <a:custGeom>
              <a:avLst/>
              <a:gdLst/>
              <a:ahLst/>
              <a:cxnLst/>
              <a:rect l="l" t="t" r="r" b="b"/>
              <a:pathLst>
                <a:path w="2232196" h="387629">
                  <a:moveTo>
                    <a:pt x="0" y="0"/>
                  </a:moveTo>
                  <a:lnTo>
                    <a:pt x="2232196" y="0"/>
                  </a:lnTo>
                  <a:lnTo>
                    <a:pt x="2232196" y="387629"/>
                  </a:lnTo>
                  <a:lnTo>
                    <a:pt x="0" y="387629"/>
                  </a:lnTo>
                  <a:close/>
                </a:path>
              </a:pathLst>
            </a:custGeom>
            <a:ln w="19050" cap="sq">
              <a:solidFill>
                <a:srgbClr val="EF9655"/>
              </a:solidFill>
              <a:prstDash val="sysDot"/>
              <a:miter/>
            </a:ln>
          </p:spPr>
          <p:txBody>
            <a:bodyPr/>
            <a:lstStyle/>
            <a:p>
              <a:endParaRPr lang="en-US"/>
            </a:p>
          </p:txBody>
        </p:sp>
        <p:sp>
          <p:nvSpPr>
            <p:cNvPr id="31" name="TextBox 31"/>
            <p:cNvSpPr txBox="1"/>
            <p:nvPr/>
          </p:nvSpPr>
          <p:spPr>
            <a:xfrm>
              <a:off x="0" y="-19050"/>
              <a:ext cx="2232196" cy="406679"/>
            </a:xfrm>
            <a:prstGeom prst="rect">
              <a:avLst/>
            </a:prstGeom>
          </p:spPr>
          <p:txBody>
            <a:bodyPr lIns="73014" tIns="73014" rIns="73014" bIns="73014" rtlCol="0" anchor="ctr"/>
            <a:lstStyle/>
            <a:p>
              <a:pPr algn="ctr">
                <a:lnSpc>
                  <a:spcPts val="1679"/>
                </a:lnSpc>
              </a:pPr>
              <a:endParaRPr/>
            </a:p>
          </p:txBody>
        </p:sp>
      </p:grpSp>
      <p:grpSp>
        <p:nvGrpSpPr>
          <p:cNvPr id="32" name="Group 32"/>
          <p:cNvGrpSpPr/>
          <p:nvPr/>
        </p:nvGrpSpPr>
        <p:grpSpPr>
          <a:xfrm>
            <a:off x="7645686" y="4881645"/>
            <a:ext cx="2028276" cy="1348006"/>
            <a:chOff x="0" y="0"/>
            <a:chExt cx="534196" cy="355030"/>
          </a:xfrm>
        </p:grpSpPr>
        <p:sp>
          <p:nvSpPr>
            <p:cNvPr id="33" name="Freeform 33"/>
            <p:cNvSpPr/>
            <p:nvPr/>
          </p:nvSpPr>
          <p:spPr>
            <a:xfrm>
              <a:off x="0" y="0"/>
              <a:ext cx="534196" cy="355030"/>
            </a:xfrm>
            <a:custGeom>
              <a:avLst/>
              <a:gdLst/>
              <a:ahLst/>
              <a:cxnLst/>
              <a:rect l="l" t="t" r="r" b="b"/>
              <a:pathLst>
                <a:path w="534196" h="355030">
                  <a:moveTo>
                    <a:pt x="0" y="0"/>
                  </a:moveTo>
                  <a:lnTo>
                    <a:pt x="534196" y="0"/>
                  </a:lnTo>
                  <a:lnTo>
                    <a:pt x="534196" y="355030"/>
                  </a:lnTo>
                  <a:lnTo>
                    <a:pt x="0" y="355030"/>
                  </a:lnTo>
                  <a:close/>
                </a:path>
              </a:pathLst>
            </a:custGeom>
            <a:solidFill>
              <a:srgbClr val="E15F4B"/>
            </a:solidFill>
          </p:spPr>
          <p:txBody>
            <a:bodyPr/>
            <a:lstStyle/>
            <a:p>
              <a:endParaRPr lang="en-US"/>
            </a:p>
          </p:txBody>
        </p:sp>
        <p:sp>
          <p:nvSpPr>
            <p:cNvPr id="34" name="TextBox 34"/>
            <p:cNvSpPr txBox="1"/>
            <p:nvPr/>
          </p:nvSpPr>
          <p:spPr>
            <a:xfrm>
              <a:off x="0" y="-38100"/>
              <a:ext cx="534196" cy="393130"/>
            </a:xfrm>
            <a:prstGeom prst="rect">
              <a:avLst/>
            </a:prstGeom>
          </p:spPr>
          <p:txBody>
            <a:bodyPr lIns="50800" tIns="50800" rIns="50800" bIns="50800" rtlCol="0" anchor="ctr"/>
            <a:lstStyle/>
            <a:p>
              <a:pPr algn="ctr">
                <a:lnSpc>
                  <a:spcPts val="2800"/>
                </a:lnSpc>
              </a:pPr>
              <a:endParaRPr/>
            </a:p>
          </p:txBody>
        </p:sp>
      </p:grpSp>
      <p:grpSp>
        <p:nvGrpSpPr>
          <p:cNvPr id="35" name="Group 35"/>
          <p:cNvGrpSpPr/>
          <p:nvPr/>
        </p:nvGrpSpPr>
        <p:grpSpPr>
          <a:xfrm>
            <a:off x="9681733" y="6267751"/>
            <a:ext cx="8121009" cy="1548249"/>
            <a:chOff x="0" y="0"/>
            <a:chExt cx="2232196" cy="425562"/>
          </a:xfrm>
        </p:grpSpPr>
        <p:sp>
          <p:nvSpPr>
            <p:cNvPr id="36" name="Freeform 36"/>
            <p:cNvSpPr/>
            <p:nvPr/>
          </p:nvSpPr>
          <p:spPr>
            <a:xfrm>
              <a:off x="0" y="0"/>
              <a:ext cx="2232196" cy="425562"/>
            </a:xfrm>
            <a:custGeom>
              <a:avLst/>
              <a:gdLst/>
              <a:ahLst/>
              <a:cxnLst/>
              <a:rect l="l" t="t" r="r" b="b"/>
              <a:pathLst>
                <a:path w="2232196" h="425562">
                  <a:moveTo>
                    <a:pt x="0" y="0"/>
                  </a:moveTo>
                  <a:lnTo>
                    <a:pt x="2232196" y="0"/>
                  </a:lnTo>
                  <a:lnTo>
                    <a:pt x="2232196" y="425562"/>
                  </a:lnTo>
                  <a:lnTo>
                    <a:pt x="0" y="425562"/>
                  </a:lnTo>
                  <a:close/>
                </a:path>
              </a:pathLst>
            </a:custGeom>
            <a:ln w="19050" cap="sq">
              <a:solidFill>
                <a:srgbClr val="EF9655"/>
              </a:solidFill>
              <a:prstDash val="sysDot"/>
              <a:miter/>
            </a:ln>
          </p:spPr>
          <p:txBody>
            <a:bodyPr/>
            <a:lstStyle/>
            <a:p>
              <a:endParaRPr lang="en-US"/>
            </a:p>
          </p:txBody>
        </p:sp>
        <p:sp>
          <p:nvSpPr>
            <p:cNvPr id="37" name="TextBox 37"/>
            <p:cNvSpPr txBox="1"/>
            <p:nvPr/>
          </p:nvSpPr>
          <p:spPr>
            <a:xfrm>
              <a:off x="0" y="-19050"/>
              <a:ext cx="2232196" cy="444612"/>
            </a:xfrm>
            <a:prstGeom prst="rect">
              <a:avLst/>
            </a:prstGeom>
          </p:spPr>
          <p:txBody>
            <a:bodyPr lIns="73014" tIns="73014" rIns="73014" bIns="73014" rtlCol="0" anchor="ctr"/>
            <a:lstStyle/>
            <a:p>
              <a:pPr algn="ctr">
                <a:lnSpc>
                  <a:spcPts val="1679"/>
                </a:lnSpc>
              </a:pPr>
              <a:endParaRPr/>
            </a:p>
          </p:txBody>
        </p:sp>
      </p:grpSp>
      <p:grpSp>
        <p:nvGrpSpPr>
          <p:cNvPr id="38" name="Group 38"/>
          <p:cNvGrpSpPr/>
          <p:nvPr/>
        </p:nvGrpSpPr>
        <p:grpSpPr>
          <a:xfrm>
            <a:off x="7645686" y="6229651"/>
            <a:ext cx="2026135" cy="1586349"/>
            <a:chOff x="0" y="0"/>
            <a:chExt cx="533632" cy="417804"/>
          </a:xfrm>
        </p:grpSpPr>
        <p:sp>
          <p:nvSpPr>
            <p:cNvPr id="39" name="Freeform 39"/>
            <p:cNvSpPr/>
            <p:nvPr/>
          </p:nvSpPr>
          <p:spPr>
            <a:xfrm>
              <a:off x="0" y="0"/>
              <a:ext cx="533632" cy="417804"/>
            </a:xfrm>
            <a:custGeom>
              <a:avLst/>
              <a:gdLst/>
              <a:ahLst/>
              <a:cxnLst/>
              <a:rect l="l" t="t" r="r" b="b"/>
              <a:pathLst>
                <a:path w="533632" h="417804">
                  <a:moveTo>
                    <a:pt x="0" y="0"/>
                  </a:moveTo>
                  <a:lnTo>
                    <a:pt x="533632" y="0"/>
                  </a:lnTo>
                  <a:lnTo>
                    <a:pt x="533632" y="417804"/>
                  </a:lnTo>
                  <a:lnTo>
                    <a:pt x="0" y="417804"/>
                  </a:lnTo>
                  <a:close/>
                </a:path>
              </a:pathLst>
            </a:custGeom>
            <a:solidFill>
              <a:srgbClr val="E15F4B"/>
            </a:solidFill>
          </p:spPr>
          <p:txBody>
            <a:bodyPr/>
            <a:lstStyle/>
            <a:p>
              <a:endParaRPr lang="en-US"/>
            </a:p>
          </p:txBody>
        </p:sp>
        <p:sp>
          <p:nvSpPr>
            <p:cNvPr id="40" name="TextBox 40"/>
            <p:cNvSpPr txBox="1"/>
            <p:nvPr/>
          </p:nvSpPr>
          <p:spPr>
            <a:xfrm>
              <a:off x="0" y="-38100"/>
              <a:ext cx="533632" cy="455904"/>
            </a:xfrm>
            <a:prstGeom prst="rect">
              <a:avLst/>
            </a:prstGeom>
          </p:spPr>
          <p:txBody>
            <a:bodyPr lIns="50800" tIns="50800" rIns="50800" bIns="50800" rtlCol="0" anchor="ctr"/>
            <a:lstStyle/>
            <a:p>
              <a:pPr algn="ctr">
                <a:lnSpc>
                  <a:spcPts val="2800"/>
                </a:lnSpc>
              </a:pPr>
              <a:endParaRPr/>
            </a:p>
          </p:txBody>
        </p:sp>
      </p:grpSp>
      <p:grpSp>
        <p:nvGrpSpPr>
          <p:cNvPr id="41" name="Group 41"/>
          <p:cNvGrpSpPr/>
          <p:nvPr/>
        </p:nvGrpSpPr>
        <p:grpSpPr>
          <a:xfrm>
            <a:off x="9681733" y="7795501"/>
            <a:ext cx="8121009" cy="1726531"/>
            <a:chOff x="0" y="0"/>
            <a:chExt cx="2232196" cy="474566"/>
          </a:xfrm>
        </p:grpSpPr>
        <p:sp>
          <p:nvSpPr>
            <p:cNvPr id="42" name="Freeform 42"/>
            <p:cNvSpPr/>
            <p:nvPr/>
          </p:nvSpPr>
          <p:spPr>
            <a:xfrm>
              <a:off x="0" y="0"/>
              <a:ext cx="2232196" cy="474566"/>
            </a:xfrm>
            <a:custGeom>
              <a:avLst/>
              <a:gdLst/>
              <a:ahLst/>
              <a:cxnLst/>
              <a:rect l="l" t="t" r="r" b="b"/>
              <a:pathLst>
                <a:path w="2232196" h="474566">
                  <a:moveTo>
                    <a:pt x="0" y="0"/>
                  </a:moveTo>
                  <a:lnTo>
                    <a:pt x="2232196" y="0"/>
                  </a:lnTo>
                  <a:lnTo>
                    <a:pt x="2232196" y="474566"/>
                  </a:lnTo>
                  <a:lnTo>
                    <a:pt x="0" y="474566"/>
                  </a:lnTo>
                  <a:close/>
                </a:path>
              </a:pathLst>
            </a:custGeom>
            <a:ln w="19050" cap="sq">
              <a:solidFill>
                <a:srgbClr val="EF9655"/>
              </a:solidFill>
              <a:prstDash val="sysDot"/>
              <a:miter/>
            </a:ln>
          </p:spPr>
          <p:txBody>
            <a:bodyPr/>
            <a:lstStyle/>
            <a:p>
              <a:endParaRPr lang="en-US"/>
            </a:p>
          </p:txBody>
        </p:sp>
        <p:sp>
          <p:nvSpPr>
            <p:cNvPr id="43" name="TextBox 43"/>
            <p:cNvSpPr txBox="1"/>
            <p:nvPr/>
          </p:nvSpPr>
          <p:spPr>
            <a:xfrm>
              <a:off x="0" y="-19050"/>
              <a:ext cx="2232196" cy="493616"/>
            </a:xfrm>
            <a:prstGeom prst="rect">
              <a:avLst/>
            </a:prstGeom>
          </p:spPr>
          <p:txBody>
            <a:bodyPr lIns="73014" tIns="73014" rIns="73014" bIns="73014" rtlCol="0" anchor="ctr"/>
            <a:lstStyle/>
            <a:p>
              <a:pPr algn="ctr">
                <a:lnSpc>
                  <a:spcPts val="1679"/>
                </a:lnSpc>
              </a:pPr>
              <a:endParaRPr/>
            </a:p>
          </p:txBody>
        </p:sp>
      </p:grpSp>
      <p:grpSp>
        <p:nvGrpSpPr>
          <p:cNvPr id="44" name="Group 44"/>
          <p:cNvGrpSpPr/>
          <p:nvPr/>
        </p:nvGrpSpPr>
        <p:grpSpPr>
          <a:xfrm>
            <a:off x="7645686" y="7816000"/>
            <a:ext cx="2041558" cy="1726531"/>
            <a:chOff x="0" y="0"/>
            <a:chExt cx="537694" cy="454724"/>
          </a:xfrm>
        </p:grpSpPr>
        <p:sp>
          <p:nvSpPr>
            <p:cNvPr id="45" name="Freeform 45"/>
            <p:cNvSpPr/>
            <p:nvPr/>
          </p:nvSpPr>
          <p:spPr>
            <a:xfrm>
              <a:off x="0" y="0"/>
              <a:ext cx="537694" cy="454724"/>
            </a:xfrm>
            <a:custGeom>
              <a:avLst/>
              <a:gdLst/>
              <a:ahLst/>
              <a:cxnLst/>
              <a:rect l="l" t="t" r="r" b="b"/>
              <a:pathLst>
                <a:path w="537694" h="454724">
                  <a:moveTo>
                    <a:pt x="0" y="0"/>
                  </a:moveTo>
                  <a:lnTo>
                    <a:pt x="537694" y="0"/>
                  </a:lnTo>
                  <a:lnTo>
                    <a:pt x="537694" y="454724"/>
                  </a:lnTo>
                  <a:lnTo>
                    <a:pt x="0" y="454724"/>
                  </a:lnTo>
                  <a:close/>
                </a:path>
              </a:pathLst>
            </a:custGeom>
            <a:solidFill>
              <a:srgbClr val="E15F4B"/>
            </a:solidFill>
          </p:spPr>
          <p:txBody>
            <a:bodyPr/>
            <a:lstStyle/>
            <a:p>
              <a:endParaRPr lang="en-US"/>
            </a:p>
          </p:txBody>
        </p:sp>
        <p:sp>
          <p:nvSpPr>
            <p:cNvPr id="46" name="TextBox 46"/>
            <p:cNvSpPr txBox="1"/>
            <p:nvPr/>
          </p:nvSpPr>
          <p:spPr>
            <a:xfrm>
              <a:off x="0" y="-38100"/>
              <a:ext cx="537694" cy="492824"/>
            </a:xfrm>
            <a:prstGeom prst="rect">
              <a:avLst/>
            </a:prstGeom>
          </p:spPr>
          <p:txBody>
            <a:bodyPr lIns="50800" tIns="50800" rIns="50800" bIns="50800" rtlCol="0" anchor="ctr"/>
            <a:lstStyle/>
            <a:p>
              <a:pPr algn="ctr">
                <a:lnSpc>
                  <a:spcPts val="2800"/>
                </a:lnSpc>
              </a:pPr>
              <a:endParaRPr/>
            </a:p>
          </p:txBody>
        </p:sp>
      </p:grpSp>
      <p:sp>
        <p:nvSpPr>
          <p:cNvPr id="47" name="Freeform 47"/>
          <p:cNvSpPr/>
          <p:nvPr/>
        </p:nvSpPr>
        <p:spPr>
          <a:xfrm>
            <a:off x="182275" y="1966406"/>
            <a:ext cx="7239936" cy="3281165"/>
          </a:xfrm>
          <a:custGeom>
            <a:avLst/>
            <a:gdLst/>
            <a:ahLst/>
            <a:cxnLst/>
            <a:rect l="l" t="t" r="r" b="b"/>
            <a:pathLst>
              <a:path w="7239936" h="3281165">
                <a:moveTo>
                  <a:pt x="0" y="0"/>
                </a:moveTo>
                <a:lnTo>
                  <a:pt x="7239936" y="0"/>
                </a:lnTo>
                <a:lnTo>
                  <a:pt x="7239936" y="3281165"/>
                </a:lnTo>
                <a:lnTo>
                  <a:pt x="0" y="3281165"/>
                </a:lnTo>
                <a:lnTo>
                  <a:pt x="0" y="0"/>
                </a:lnTo>
                <a:close/>
              </a:path>
            </a:pathLst>
          </a:custGeom>
          <a:blipFill>
            <a:blip r:embed="rId3"/>
            <a:stretch>
              <a:fillRect t="-7487" r="-79337" b="-10993"/>
            </a:stretch>
          </a:blipFill>
        </p:spPr>
        <p:txBody>
          <a:bodyPr/>
          <a:lstStyle/>
          <a:p>
            <a:endParaRPr lang="en-US"/>
          </a:p>
        </p:txBody>
      </p:sp>
      <p:sp>
        <p:nvSpPr>
          <p:cNvPr id="48" name="TextBox 48"/>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49" name="TextBox 49"/>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50" name="TextBox 50"/>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51" name="TextBox 51"/>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Modelling</a:t>
            </a:r>
          </a:p>
        </p:txBody>
      </p:sp>
      <p:sp>
        <p:nvSpPr>
          <p:cNvPr id="52" name="TextBox 5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53" name="TextBox 53"/>
          <p:cNvSpPr txBox="1"/>
          <p:nvPr/>
        </p:nvSpPr>
        <p:spPr>
          <a:xfrm>
            <a:off x="10740196" y="1522103"/>
            <a:ext cx="4341391" cy="339725"/>
          </a:xfrm>
          <a:prstGeom prst="rect">
            <a:avLst/>
          </a:prstGeom>
        </p:spPr>
        <p:txBody>
          <a:bodyPr lIns="0" tIns="0" rIns="0" bIns="0" rtlCol="0" anchor="t">
            <a:spAutoFit/>
          </a:bodyPr>
          <a:lstStyle/>
          <a:p>
            <a:pPr algn="ctr">
              <a:lnSpc>
                <a:spcPts val="2800"/>
              </a:lnSpc>
              <a:spcBef>
                <a:spcPct val="0"/>
              </a:spcBef>
            </a:pPr>
            <a:r>
              <a:rPr lang="en-US" sz="2000" b="1">
                <a:solidFill>
                  <a:srgbClr val="FFFFFF"/>
                </a:solidFill>
                <a:latin typeface="Montserrat Bold"/>
                <a:ea typeface="Montserrat Bold"/>
                <a:cs typeface="Montserrat Bold"/>
                <a:sym typeface="Montserrat Bold"/>
              </a:rPr>
              <a:t>Characteristics of Each Segment</a:t>
            </a:r>
          </a:p>
        </p:txBody>
      </p:sp>
      <p:sp>
        <p:nvSpPr>
          <p:cNvPr id="54" name="TextBox 54"/>
          <p:cNvSpPr txBox="1"/>
          <p:nvPr/>
        </p:nvSpPr>
        <p:spPr>
          <a:xfrm>
            <a:off x="7682364" y="2237009"/>
            <a:ext cx="1901232" cy="835025"/>
          </a:xfrm>
          <a:prstGeom prst="rect">
            <a:avLst/>
          </a:prstGeom>
        </p:spPr>
        <p:txBody>
          <a:bodyPr lIns="0" tIns="0" rIns="0" bIns="0" rtlCol="0" anchor="t">
            <a:spAutoFit/>
          </a:bodyPr>
          <a:lstStyle/>
          <a:p>
            <a:pPr algn="ctr">
              <a:lnSpc>
                <a:spcPts val="2200"/>
              </a:lnSpc>
            </a:pPr>
            <a:r>
              <a:rPr lang="en-US" sz="2000" b="1">
                <a:solidFill>
                  <a:srgbClr val="FFFFFF"/>
                </a:solidFill>
                <a:latin typeface="Montserrat Bold"/>
                <a:ea typeface="Montserrat Bold"/>
                <a:cs typeface="Montserrat Bold"/>
                <a:sym typeface="Montserrat Bold"/>
              </a:rPr>
              <a:t>Cluster 0:</a:t>
            </a:r>
          </a:p>
          <a:p>
            <a:pPr algn="ctr">
              <a:lnSpc>
                <a:spcPts val="2200"/>
              </a:lnSpc>
            </a:pPr>
            <a:r>
              <a:rPr lang="en-US" sz="2000" b="1">
                <a:solidFill>
                  <a:srgbClr val="FFFFFF"/>
                </a:solidFill>
                <a:latin typeface="Montserrat Bold"/>
                <a:ea typeface="Montserrat Bold"/>
                <a:cs typeface="Montserrat Bold"/>
                <a:sym typeface="Montserrat Bold"/>
              </a:rPr>
              <a:t>New / Low-history</a:t>
            </a:r>
          </a:p>
        </p:txBody>
      </p:sp>
      <p:sp>
        <p:nvSpPr>
          <p:cNvPr id="55" name="TextBox 55"/>
          <p:cNvSpPr txBox="1"/>
          <p:nvPr/>
        </p:nvSpPr>
        <p:spPr>
          <a:xfrm>
            <a:off x="7735333" y="3653059"/>
            <a:ext cx="1874040" cy="835025"/>
          </a:xfrm>
          <a:prstGeom prst="rect">
            <a:avLst/>
          </a:prstGeom>
        </p:spPr>
        <p:txBody>
          <a:bodyPr lIns="0" tIns="0" rIns="0" bIns="0" rtlCol="0" anchor="t">
            <a:spAutoFit/>
          </a:bodyPr>
          <a:lstStyle/>
          <a:p>
            <a:pPr algn="ctr">
              <a:lnSpc>
                <a:spcPts val="2200"/>
              </a:lnSpc>
            </a:pPr>
            <a:r>
              <a:rPr lang="en-US" sz="2000" b="1">
                <a:solidFill>
                  <a:srgbClr val="FFFFFF"/>
                </a:solidFill>
                <a:latin typeface="Montserrat Bold"/>
                <a:ea typeface="Montserrat Bold"/>
                <a:cs typeface="Montserrat Bold"/>
                <a:sym typeface="Montserrat Bold"/>
              </a:rPr>
              <a:t>Cluster 1 :</a:t>
            </a:r>
          </a:p>
          <a:p>
            <a:pPr marL="0" lvl="0" indent="0" algn="ctr">
              <a:lnSpc>
                <a:spcPts val="2200"/>
              </a:lnSpc>
              <a:spcBef>
                <a:spcPct val="0"/>
              </a:spcBef>
            </a:pPr>
            <a:r>
              <a:rPr lang="en-US" sz="2000" b="1">
                <a:solidFill>
                  <a:srgbClr val="FFFFFF"/>
                </a:solidFill>
                <a:latin typeface="Montserrat Bold"/>
                <a:ea typeface="Montserrat Bold"/>
                <a:cs typeface="Montserrat Bold"/>
                <a:sym typeface="Montserrat Bold"/>
              </a:rPr>
              <a:t>Financially Healthy Core</a:t>
            </a:r>
          </a:p>
        </p:txBody>
      </p:sp>
      <p:sp>
        <p:nvSpPr>
          <p:cNvPr id="56" name="TextBox 56"/>
          <p:cNvSpPr txBox="1"/>
          <p:nvPr/>
        </p:nvSpPr>
        <p:spPr>
          <a:xfrm>
            <a:off x="7697510" y="5040666"/>
            <a:ext cx="1937910" cy="1111250"/>
          </a:xfrm>
          <a:prstGeom prst="rect">
            <a:avLst/>
          </a:prstGeom>
        </p:spPr>
        <p:txBody>
          <a:bodyPr lIns="0" tIns="0" rIns="0" bIns="0" rtlCol="0" anchor="t">
            <a:spAutoFit/>
          </a:bodyPr>
          <a:lstStyle/>
          <a:p>
            <a:pPr marL="0" lvl="0" indent="0" algn="ctr">
              <a:lnSpc>
                <a:spcPts val="2200"/>
              </a:lnSpc>
              <a:spcBef>
                <a:spcPct val="0"/>
              </a:spcBef>
            </a:pPr>
            <a:r>
              <a:rPr lang="en-US" sz="2000" b="1" u="none" strike="noStrike">
                <a:solidFill>
                  <a:srgbClr val="FFFFFF"/>
                </a:solidFill>
                <a:latin typeface="Montserrat Bold"/>
                <a:ea typeface="Montserrat Bold"/>
                <a:cs typeface="Montserrat Bold"/>
                <a:sym typeface="Montserrat Bold"/>
              </a:rPr>
              <a:t>Cluster 2 :</a:t>
            </a:r>
          </a:p>
          <a:p>
            <a:pPr marL="0" lvl="0" indent="0" algn="ctr">
              <a:lnSpc>
                <a:spcPts val="2200"/>
              </a:lnSpc>
              <a:spcBef>
                <a:spcPct val="0"/>
              </a:spcBef>
            </a:pPr>
            <a:r>
              <a:rPr lang="en-US" sz="2000" b="1" u="none" strike="noStrike">
                <a:solidFill>
                  <a:srgbClr val="FFFFFF"/>
                </a:solidFill>
                <a:latin typeface="Montserrat Bold"/>
                <a:ea typeface="Montserrat Bold"/>
                <a:cs typeface="Montserrat Bold"/>
                <a:sym typeface="Montserrat Bold"/>
              </a:rPr>
              <a:t>Emerging Digital Customers</a:t>
            </a:r>
          </a:p>
        </p:txBody>
      </p:sp>
      <p:sp>
        <p:nvSpPr>
          <p:cNvPr id="57" name="TextBox 57"/>
          <p:cNvSpPr txBox="1"/>
          <p:nvPr/>
        </p:nvSpPr>
        <p:spPr>
          <a:xfrm>
            <a:off x="7779578" y="6534451"/>
            <a:ext cx="1785550" cy="1111250"/>
          </a:xfrm>
          <a:prstGeom prst="rect">
            <a:avLst/>
          </a:prstGeom>
        </p:spPr>
        <p:txBody>
          <a:bodyPr lIns="0" tIns="0" rIns="0" bIns="0" rtlCol="0" anchor="t">
            <a:spAutoFit/>
          </a:bodyPr>
          <a:lstStyle/>
          <a:p>
            <a:pPr marL="0" lvl="0" indent="0" algn="ctr">
              <a:lnSpc>
                <a:spcPts val="2200"/>
              </a:lnSpc>
              <a:spcBef>
                <a:spcPct val="0"/>
              </a:spcBef>
            </a:pPr>
            <a:r>
              <a:rPr lang="en-US" sz="2000" b="1" u="none" strike="noStrike">
                <a:solidFill>
                  <a:srgbClr val="FFFFFF"/>
                </a:solidFill>
                <a:latin typeface="Montserrat Bold"/>
                <a:ea typeface="Montserrat Bold"/>
                <a:cs typeface="Montserrat Bold"/>
                <a:sym typeface="Montserrat Bold"/>
              </a:rPr>
              <a:t>Cluster 3 :</a:t>
            </a:r>
          </a:p>
          <a:p>
            <a:pPr marL="0" lvl="0" indent="0" algn="ctr">
              <a:lnSpc>
                <a:spcPts val="2200"/>
              </a:lnSpc>
              <a:spcBef>
                <a:spcPct val="0"/>
              </a:spcBef>
            </a:pPr>
            <a:r>
              <a:rPr lang="en-US" sz="2000" b="1" u="none" strike="noStrike">
                <a:solidFill>
                  <a:srgbClr val="FFFFFF"/>
                </a:solidFill>
                <a:latin typeface="Montserrat Bold"/>
                <a:ea typeface="Montserrat Bold"/>
                <a:cs typeface="Montserrat Bold"/>
                <a:sym typeface="Montserrat Bold"/>
              </a:rPr>
              <a:t>Stretched but Highly Engaged</a:t>
            </a:r>
          </a:p>
        </p:txBody>
      </p:sp>
      <p:sp>
        <p:nvSpPr>
          <p:cNvPr id="58" name="TextBox 58"/>
          <p:cNvSpPr txBox="1"/>
          <p:nvPr/>
        </p:nvSpPr>
        <p:spPr>
          <a:xfrm>
            <a:off x="9807312" y="2060479"/>
            <a:ext cx="7790514" cy="935355"/>
          </a:xfrm>
          <a:prstGeom prst="rect">
            <a:avLst/>
          </a:prstGeom>
        </p:spPr>
        <p:txBody>
          <a:bodyPr lIns="0" tIns="0" rIns="0" bIns="0" rtlCol="0" anchor="t">
            <a:spAutoFit/>
          </a:bodyPr>
          <a:lstStyle/>
          <a:p>
            <a:pPr algn="just">
              <a:lnSpc>
                <a:spcPts val="2520"/>
              </a:lnSpc>
              <a:spcBef>
                <a:spcPct val="0"/>
              </a:spcBef>
            </a:pPr>
            <a:r>
              <a:rPr lang="en-US" sz="1800">
                <a:solidFill>
                  <a:srgbClr val="000000"/>
                </a:solidFill>
                <a:latin typeface="Montserrat"/>
                <a:ea typeface="Montserrat"/>
                <a:cs typeface="Montserrat"/>
                <a:sym typeface="Montserrat"/>
              </a:rPr>
              <a:t>Their apparent low activity reflects just 1–2 observed months. They are best treated as customers whose habits are still unknown, rather than labelled inactive or low value.</a:t>
            </a:r>
          </a:p>
        </p:txBody>
      </p:sp>
      <p:sp>
        <p:nvSpPr>
          <p:cNvPr id="59" name="TextBox 59"/>
          <p:cNvSpPr txBox="1"/>
          <p:nvPr/>
        </p:nvSpPr>
        <p:spPr>
          <a:xfrm>
            <a:off x="9807312" y="3374790"/>
            <a:ext cx="7790514" cy="1249680"/>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00000"/>
                </a:solidFill>
                <a:latin typeface="Montserrat"/>
                <a:ea typeface="Montserrat"/>
                <a:cs typeface="Montserrat"/>
                <a:sym typeface="Montserrat"/>
              </a:rPr>
              <a:t>Th</a:t>
            </a:r>
            <a:r>
              <a:rPr lang="en-US" sz="1800" u="none" strike="noStrike">
                <a:solidFill>
                  <a:srgbClr val="000000"/>
                </a:solidFill>
                <a:latin typeface="Montserrat"/>
                <a:ea typeface="Montserrat"/>
                <a:cs typeface="Montserrat"/>
                <a:sym typeface="Montserrat"/>
              </a:rPr>
              <a:t>ese customers spend well within their means (59% of income) and account for nearly a third of recorded spending. They appear to be a financially stable customer base with room to save or plan for longer term goals.</a:t>
            </a:r>
          </a:p>
        </p:txBody>
      </p:sp>
      <p:sp>
        <p:nvSpPr>
          <p:cNvPr id="60" name="TextBox 60"/>
          <p:cNvSpPr txBox="1"/>
          <p:nvPr/>
        </p:nvSpPr>
        <p:spPr>
          <a:xfrm>
            <a:off x="9807312" y="5068920"/>
            <a:ext cx="7790514" cy="935355"/>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00000"/>
                </a:solidFill>
                <a:latin typeface="Montserrat"/>
                <a:ea typeface="Montserrat"/>
                <a:cs typeface="Montserrat"/>
                <a:sym typeface="Montserrat"/>
              </a:rPr>
              <a:t>M</a:t>
            </a:r>
            <a:r>
              <a:rPr lang="en-US" sz="1800" u="none" strike="noStrike">
                <a:solidFill>
                  <a:srgbClr val="000000"/>
                </a:solidFill>
                <a:latin typeface="Montserrat"/>
                <a:ea typeface="Montserrat"/>
                <a:cs typeface="Montserrat"/>
                <a:sym typeface="Montserrat"/>
              </a:rPr>
              <a:t>ostly aged 25–44, they make the most transactions (211/month) and contribute 31.9% of spending. A relatively small group is already generating substantial activity and value through digital channels.</a:t>
            </a:r>
          </a:p>
        </p:txBody>
      </p:sp>
      <p:sp>
        <p:nvSpPr>
          <p:cNvPr id="61" name="TextBox 61"/>
          <p:cNvSpPr txBox="1"/>
          <p:nvPr/>
        </p:nvSpPr>
        <p:spPr>
          <a:xfrm>
            <a:off x="9807312" y="6378935"/>
            <a:ext cx="7790514" cy="1249680"/>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00000"/>
                </a:solidFill>
                <a:latin typeface="Montserrat"/>
                <a:ea typeface="Montserrat"/>
                <a:cs typeface="Montserrat"/>
                <a:sym typeface="Montserrat"/>
              </a:rPr>
              <a:t>They transact freque</a:t>
            </a:r>
            <a:r>
              <a:rPr lang="en-US" sz="1800" u="none" strike="noStrike">
                <a:solidFill>
                  <a:srgbClr val="000000"/>
                </a:solidFill>
                <a:latin typeface="Montserrat"/>
                <a:ea typeface="Montserrat"/>
                <a:cs typeface="Montserrat"/>
                <a:sym typeface="Montserrat"/>
              </a:rPr>
              <a:t>ntly (204/month), but spending consumes 81% of income and their financial health is the weakest. Their activity makes financial strain visible early and creates an opportunity for timely budgeting support.</a:t>
            </a:r>
          </a:p>
        </p:txBody>
      </p:sp>
      <p:sp>
        <p:nvSpPr>
          <p:cNvPr id="62" name="TextBox 62"/>
          <p:cNvSpPr txBox="1"/>
          <p:nvPr/>
        </p:nvSpPr>
        <p:spPr>
          <a:xfrm>
            <a:off x="7735333" y="7968400"/>
            <a:ext cx="1848263" cy="1387475"/>
          </a:xfrm>
          <a:prstGeom prst="rect">
            <a:avLst/>
          </a:prstGeom>
        </p:spPr>
        <p:txBody>
          <a:bodyPr lIns="0" tIns="0" rIns="0" bIns="0" rtlCol="0" anchor="t">
            <a:spAutoFit/>
          </a:bodyPr>
          <a:lstStyle/>
          <a:p>
            <a:pPr algn="ctr">
              <a:lnSpc>
                <a:spcPts val="2200"/>
              </a:lnSpc>
            </a:pPr>
            <a:r>
              <a:rPr lang="en-US" sz="2000" b="1">
                <a:solidFill>
                  <a:srgbClr val="FFFFFF"/>
                </a:solidFill>
                <a:latin typeface="Montserrat Bold"/>
                <a:ea typeface="Montserrat Bold"/>
                <a:cs typeface="Montserrat Bold"/>
                <a:sym typeface="Montserrat Bold"/>
              </a:rPr>
              <a:t>Cluster 4 :</a:t>
            </a:r>
          </a:p>
          <a:p>
            <a:pPr marL="0" lvl="0" indent="0" algn="ctr">
              <a:lnSpc>
                <a:spcPts val="2200"/>
              </a:lnSpc>
              <a:spcBef>
                <a:spcPct val="0"/>
              </a:spcBef>
            </a:pPr>
            <a:r>
              <a:rPr lang="en-US" sz="2000" b="1">
                <a:solidFill>
                  <a:srgbClr val="FFFFFF"/>
                </a:solidFill>
                <a:latin typeface="Montserrat Bold"/>
                <a:ea typeface="Montserrat Bold"/>
                <a:cs typeface="Montserrat Bold"/>
                <a:sym typeface="Montserrat Bold"/>
              </a:rPr>
              <a:t> Low</a:t>
            </a:r>
            <a:r>
              <a:rPr lang="en-US" sz="2000" b="1" u="none" strike="noStrike">
                <a:solidFill>
                  <a:srgbClr val="FFFFFF"/>
                </a:solidFill>
                <a:latin typeface="Montserrat Bold"/>
                <a:ea typeface="Montserrat Bold"/>
                <a:cs typeface="Montserrat Bold"/>
                <a:sym typeface="Montserrat Bold"/>
              </a:rPr>
              <a:t> Engagement Financially Vulnerable </a:t>
            </a:r>
          </a:p>
        </p:txBody>
      </p:sp>
      <p:sp>
        <p:nvSpPr>
          <p:cNvPr id="63" name="TextBox 63"/>
          <p:cNvSpPr txBox="1"/>
          <p:nvPr/>
        </p:nvSpPr>
        <p:spPr>
          <a:xfrm>
            <a:off x="9807312" y="8035075"/>
            <a:ext cx="7790514" cy="1249680"/>
          </a:xfrm>
          <a:prstGeom prst="rect">
            <a:avLst/>
          </a:prstGeom>
        </p:spPr>
        <p:txBody>
          <a:bodyPr lIns="0" tIns="0" rIns="0" bIns="0" rtlCol="0" anchor="t">
            <a:spAutoFit/>
          </a:bodyPr>
          <a:lstStyle/>
          <a:p>
            <a:pPr marL="0" lvl="0" indent="0" algn="just">
              <a:lnSpc>
                <a:spcPts val="2520"/>
              </a:lnSpc>
              <a:spcBef>
                <a:spcPct val="0"/>
              </a:spcBef>
            </a:pPr>
            <a:r>
              <a:rPr lang="en-US" sz="1800">
                <a:solidFill>
                  <a:srgbClr val="000000"/>
                </a:solidFill>
                <a:latin typeface="Montserrat"/>
                <a:ea typeface="Montserrat"/>
                <a:cs typeface="Montserrat"/>
                <a:sym typeface="Montserrat"/>
              </a:rPr>
              <a:t>With only 63 transactio</a:t>
            </a:r>
            <a:r>
              <a:rPr lang="en-US" sz="1800" u="none" strike="noStrike">
                <a:solidFill>
                  <a:srgbClr val="000000"/>
                </a:solidFill>
                <a:latin typeface="Montserrat"/>
                <a:ea typeface="Montserrat"/>
                <a:cs typeface="Montserrat"/>
                <a:sym typeface="Montserrat"/>
              </a:rPr>
              <a:t>ns/month and below-average financial health, they show both limited activity and financial pressure. They may be harder to reach through transaction-based messages, so support should be simple and easy to access.</a:t>
            </a:r>
          </a:p>
        </p:txBody>
      </p:sp>
      <p:grpSp>
        <p:nvGrpSpPr>
          <p:cNvPr id="64" name="Group 64"/>
          <p:cNvGrpSpPr/>
          <p:nvPr/>
        </p:nvGrpSpPr>
        <p:grpSpPr>
          <a:xfrm>
            <a:off x="182275" y="5752176"/>
            <a:ext cx="7239936" cy="3281165"/>
            <a:chOff x="0" y="0"/>
            <a:chExt cx="9653248" cy="4374887"/>
          </a:xfrm>
        </p:grpSpPr>
        <p:sp>
          <p:nvSpPr>
            <p:cNvPr id="65" name="Freeform 65"/>
            <p:cNvSpPr/>
            <p:nvPr/>
          </p:nvSpPr>
          <p:spPr>
            <a:xfrm>
              <a:off x="2214006" y="0"/>
              <a:ext cx="7439242" cy="4374887"/>
            </a:xfrm>
            <a:custGeom>
              <a:avLst/>
              <a:gdLst/>
              <a:ahLst/>
              <a:cxnLst/>
              <a:rect l="l" t="t" r="r" b="b"/>
              <a:pathLst>
                <a:path w="7439242" h="4374887">
                  <a:moveTo>
                    <a:pt x="0" y="0"/>
                  </a:moveTo>
                  <a:lnTo>
                    <a:pt x="7439242" y="0"/>
                  </a:lnTo>
                  <a:lnTo>
                    <a:pt x="7439242" y="4374887"/>
                  </a:lnTo>
                  <a:lnTo>
                    <a:pt x="0" y="4374887"/>
                  </a:lnTo>
                  <a:lnTo>
                    <a:pt x="0" y="0"/>
                  </a:lnTo>
                  <a:close/>
                </a:path>
              </a:pathLst>
            </a:custGeom>
            <a:blipFill>
              <a:blip r:embed="rId3"/>
              <a:stretch>
                <a:fillRect l="-132710" t="-7257" b="-11223"/>
              </a:stretch>
            </a:blipFill>
          </p:spPr>
          <p:txBody>
            <a:bodyPr/>
            <a:lstStyle/>
            <a:p>
              <a:endParaRPr lang="en-US"/>
            </a:p>
          </p:txBody>
        </p:sp>
        <p:sp>
          <p:nvSpPr>
            <p:cNvPr id="66" name="Freeform 66"/>
            <p:cNvSpPr/>
            <p:nvPr/>
          </p:nvSpPr>
          <p:spPr>
            <a:xfrm>
              <a:off x="0" y="0"/>
              <a:ext cx="2214006" cy="4374887"/>
            </a:xfrm>
            <a:custGeom>
              <a:avLst/>
              <a:gdLst/>
              <a:ahLst/>
              <a:cxnLst/>
              <a:rect l="l" t="t" r="r" b="b"/>
              <a:pathLst>
                <a:path w="2214006" h="4374887">
                  <a:moveTo>
                    <a:pt x="0" y="0"/>
                  </a:moveTo>
                  <a:lnTo>
                    <a:pt x="2214006" y="0"/>
                  </a:lnTo>
                  <a:lnTo>
                    <a:pt x="2214006" y="4374887"/>
                  </a:lnTo>
                  <a:lnTo>
                    <a:pt x="0" y="4374887"/>
                  </a:lnTo>
                  <a:lnTo>
                    <a:pt x="0" y="0"/>
                  </a:lnTo>
                  <a:close/>
                </a:path>
              </a:pathLst>
            </a:custGeom>
            <a:blipFill>
              <a:blip r:embed="rId3"/>
              <a:stretch>
                <a:fillRect t="-7487" r="-681926" b="-10993"/>
              </a:stretch>
            </a:blipFill>
          </p:spPr>
          <p:txBody>
            <a:bodyPr/>
            <a:lstStyle/>
            <a:p>
              <a:endParaRPr lang="en-US"/>
            </a:p>
          </p:txBody>
        </p:sp>
      </p:grpSp>
      <p:sp>
        <p:nvSpPr>
          <p:cNvPr id="67" name="AutoShape 67"/>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11155271" y="9839056"/>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967149" y="147997"/>
            <a:ext cx="16364245" cy="379415"/>
            <a:chOff x="0" y="0"/>
            <a:chExt cx="21818994" cy="505887"/>
          </a:xfrm>
        </p:grpSpPr>
        <p:sp>
          <p:nvSpPr>
            <p:cNvPr id="7" name="Freeform 7"/>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8" name="TextBox 8"/>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9" name="Group 9"/>
          <p:cNvGrpSpPr/>
          <p:nvPr/>
        </p:nvGrpSpPr>
        <p:grpSpPr>
          <a:xfrm>
            <a:off x="923268" y="147997"/>
            <a:ext cx="17364732" cy="1034066"/>
            <a:chOff x="0" y="0"/>
            <a:chExt cx="23152975" cy="1378755"/>
          </a:xfrm>
        </p:grpSpPr>
        <p:sp>
          <p:nvSpPr>
            <p:cNvPr id="10" name="Freeform 10"/>
            <p:cNvSpPr/>
            <p:nvPr/>
          </p:nvSpPr>
          <p:spPr>
            <a:xfrm>
              <a:off x="0" y="0"/>
              <a:ext cx="23152973" cy="1378752"/>
            </a:xfrm>
            <a:custGeom>
              <a:avLst/>
              <a:gdLst/>
              <a:ahLst/>
              <a:cxnLst/>
              <a:rect l="l" t="t" r="r" b="b"/>
              <a:pathLst>
                <a:path w="23152973" h="1378752">
                  <a:moveTo>
                    <a:pt x="0" y="0"/>
                  </a:moveTo>
                  <a:lnTo>
                    <a:pt x="23152973" y="0"/>
                  </a:lnTo>
                  <a:lnTo>
                    <a:pt x="23152973" y="1378752"/>
                  </a:lnTo>
                  <a:lnTo>
                    <a:pt x="0" y="1378752"/>
                  </a:lnTo>
                  <a:close/>
                </a:path>
              </a:pathLst>
            </a:custGeom>
            <a:blipFill>
              <a:blip r:embed="rId2">
                <a:alphaModFix amt="0"/>
              </a:blip>
              <a:stretch>
                <a:fillRect t="-265303" r="5761" b="-251405"/>
              </a:stretch>
            </a:blipFill>
          </p:spPr>
          <p:txBody>
            <a:bodyPr/>
            <a:lstStyle/>
            <a:p>
              <a:endParaRPr lang="en-US"/>
            </a:p>
          </p:txBody>
        </p:sp>
        <p:sp>
          <p:nvSpPr>
            <p:cNvPr id="11" name="TextBox 11"/>
            <p:cNvSpPr txBox="1"/>
            <p:nvPr/>
          </p:nvSpPr>
          <p:spPr>
            <a:xfrm>
              <a:off x="0" y="-57150"/>
              <a:ext cx="23152975"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Customer Segmentation</a:t>
              </a:r>
            </a:p>
            <a:p>
              <a:pPr algn="l">
                <a:lnSpc>
                  <a:spcPts val="3500"/>
                </a:lnSpc>
              </a:pPr>
              <a:r>
                <a:rPr lang="en-US" sz="2500">
                  <a:solidFill>
                    <a:srgbClr val="000000"/>
                  </a:solidFill>
                  <a:latin typeface="Montserrat"/>
                  <a:ea typeface="Montserrat"/>
                  <a:cs typeface="Montserrat"/>
                  <a:sym typeface="Montserrat"/>
                </a:rPr>
                <a:t>Limitation &amp; Next Steps (Task 4, Q3)</a:t>
              </a:r>
            </a:p>
          </p:txBody>
        </p:sp>
      </p:grpSp>
      <p:grpSp>
        <p:nvGrpSpPr>
          <p:cNvPr id="12" name="Group 12"/>
          <p:cNvGrpSpPr/>
          <p:nvPr/>
        </p:nvGrpSpPr>
        <p:grpSpPr>
          <a:xfrm>
            <a:off x="3" y="234756"/>
            <a:ext cx="734804" cy="442640"/>
            <a:chOff x="0" y="0"/>
            <a:chExt cx="626275" cy="377263"/>
          </a:xfrm>
        </p:grpSpPr>
        <p:sp>
          <p:nvSpPr>
            <p:cNvPr id="13" name="Freeform 13"/>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4" name="AutoShape 14"/>
          <p:cNvSpPr/>
          <p:nvPr/>
        </p:nvSpPr>
        <p:spPr>
          <a:xfrm>
            <a:off x="367405" y="1797941"/>
            <a:ext cx="2606200" cy="0"/>
          </a:xfrm>
          <a:prstGeom prst="line">
            <a:avLst/>
          </a:prstGeom>
          <a:ln w="38100" cap="rnd">
            <a:solidFill>
              <a:srgbClr val="EF9655"/>
            </a:solidFill>
            <a:prstDash val="solid"/>
            <a:headEnd type="none" w="sm" len="sm"/>
            <a:tailEnd type="none" w="sm" len="sm"/>
          </a:ln>
        </p:spPr>
        <p:txBody>
          <a:bodyPr/>
          <a:lstStyle/>
          <a:p>
            <a:endParaRPr lang="en-US"/>
          </a:p>
        </p:txBody>
      </p:sp>
      <p:sp>
        <p:nvSpPr>
          <p:cNvPr id="15" name="AutoShape 15"/>
          <p:cNvSpPr/>
          <p:nvPr/>
        </p:nvSpPr>
        <p:spPr>
          <a:xfrm>
            <a:off x="6617545" y="1797941"/>
            <a:ext cx="5386728" cy="0"/>
          </a:xfrm>
          <a:prstGeom prst="line">
            <a:avLst/>
          </a:prstGeom>
          <a:ln w="38100" cap="rnd">
            <a:solidFill>
              <a:srgbClr val="EF9655"/>
            </a:solidFill>
            <a:prstDash val="solid"/>
            <a:headEnd type="none" w="sm" len="sm"/>
            <a:tailEnd type="none" w="sm" len="sm"/>
          </a:ln>
        </p:spPr>
        <p:txBody>
          <a:bodyPr/>
          <a:lstStyle/>
          <a:p>
            <a:endParaRPr lang="en-US"/>
          </a:p>
        </p:txBody>
      </p:sp>
      <p:sp>
        <p:nvSpPr>
          <p:cNvPr id="16" name="AutoShape 16"/>
          <p:cNvSpPr/>
          <p:nvPr/>
        </p:nvSpPr>
        <p:spPr>
          <a:xfrm flipV="1">
            <a:off x="15054195" y="1797941"/>
            <a:ext cx="2961160" cy="0"/>
          </a:xfrm>
          <a:prstGeom prst="line">
            <a:avLst/>
          </a:prstGeom>
          <a:ln w="38100" cap="rnd">
            <a:solidFill>
              <a:srgbClr val="EF9655"/>
            </a:solidFill>
            <a:prstDash val="solid"/>
            <a:headEnd type="none" w="sm" len="sm"/>
            <a:tailEnd type="none" w="sm" len="sm"/>
          </a:ln>
        </p:spPr>
        <p:txBody>
          <a:bodyPr/>
          <a:lstStyle/>
          <a:p>
            <a:endParaRPr lang="en-US"/>
          </a:p>
        </p:txBody>
      </p:sp>
      <p:grpSp>
        <p:nvGrpSpPr>
          <p:cNvPr id="17" name="Group 17"/>
          <p:cNvGrpSpPr/>
          <p:nvPr/>
        </p:nvGrpSpPr>
        <p:grpSpPr>
          <a:xfrm>
            <a:off x="9623455" y="2131212"/>
            <a:ext cx="8448733" cy="3388843"/>
            <a:chOff x="0" y="0"/>
            <a:chExt cx="2145957" cy="860758"/>
          </a:xfrm>
        </p:grpSpPr>
        <p:sp>
          <p:nvSpPr>
            <p:cNvPr id="18" name="Freeform 18"/>
            <p:cNvSpPr/>
            <p:nvPr/>
          </p:nvSpPr>
          <p:spPr>
            <a:xfrm>
              <a:off x="0" y="0"/>
              <a:ext cx="2145957" cy="860758"/>
            </a:xfrm>
            <a:custGeom>
              <a:avLst/>
              <a:gdLst/>
              <a:ahLst/>
              <a:cxnLst/>
              <a:rect l="l" t="t" r="r" b="b"/>
              <a:pathLst>
                <a:path w="2145957" h="860758">
                  <a:moveTo>
                    <a:pt x="36654" y="0"/>
                  </a:moveTo>
                  <a:lnTo>
                    <a:pt x="2109304" y="0"/>
                  </a:lnTo>
                  <a:cubicBezTo>
                    <a:pt x="2129547" y="0"/>
                    <a:pt x="2145957" y="16410"/>
                    <a:pt x="2145957" y="36654"/>
                  </a:cubicBezTo>
                  <a:lnTo>
                    <a:pt x="2145957" y="824104"/>
                  </a:lnTo>
                  <a:cubicBezTo>
                    <a:pt x="2145957" y="844347"/>
                    <a:pt x="2129547" y="860758"/>
                    <a:pt x="2109304" y="860758"/>
                  </a:cubicBezTo>
                  <a:lnTo>
                    <a:pt x="36654" y="860758"/>
                  </a:lnTo>
                  <a:cubicBezTo>
                    <a:pt x="16410" y="860758"/>
                    <a:pt x="0" y="844347"/>
                    <a:pt x="0" y="824104"/>
                  </a:cubicBezTo>
                  <a:lnTo>
                    <a:pt x="0" y="36654"/>
                  </a:lnTo>
                  <a:cubicBezTo>
                    <a:pt x="0" y="16410"/>
                    <a:pt x="16410" y="0"/>
                    <a:pt x="36654" y="0"/>
                  </a:cubicBezTo>
                  <a:close/>
                </a:path>
              </a:pathLst>
            </a:custGeom>
            <a:ln w="28575" cap="rnd">
              <a:solidFill>
                <a:srgbClr val="EF9655"/>
              </a:solidFill>
              <a:prstDash val="solid"/>
              <a:round/>
            </a:ln>
          </p:spPr>
          <p:txBody>
            <a:bodyPr/>
            <a:lstStyle/>
            <a:p>
              <a:endParaRPr lang="en-US"/>
            </a:p>
          </p:txBody>
        </p:sp>
        <p:sp>
          <p:nvSpPr>
            <p:cNvPr id="19" name="TextBox 19"/>
            <p:cNvSpPr txBox="1"/>
            <p:nvPr/>
          </p:nvSpPr>
          <p:spPr>
            <a:xfrm>
              <a:off x="0" y="-38100"/>
              <a:ext cx="2145957" cy="898858"/>
            </a:xfrm>
            <a:prstGeom prst="rect">
              <a:avLst/>
            </a:prstGeom>
          </p:spPr>
          <p:txBody>
            <a:bodyPr lIns="50800" tIns="50800" rIns="50800" bIns="50800" rtlCol="0" anchor="ctr"/>
            <a:lstStyle/>
            <a:p>
              <a:pPr algn="ctr">
                <a:lnSpc>
                  <a:spcPts val="1679"/>
                </a:lnSpc>
              </a:pPr>
              <a:endParaRPr/>
            </a:p>
          </p:txBody>
        </p:sp>
      </p:grpSp>
      <p:grpSp>
        <p:nvGrpSpPr>
          <p:cNvPr id="20" name="Group 20"/>
          <p:cNvGrpSpPr/>
          <p:nvPr/>
        </p:nvGrpSpPr>
        <p:grpSpPr>
          <a:xfrm>
            <a:off x="444214" y="2131212"/>
            <a:ext cx="8834773" cy="6883827"/>
            <a:chOff x="0" y="0"/>
            <a:chExt cx="2244011" cy="1748475"/>
          </a:xfrm>
        </p:grpSpPr>
        <p:sp>
          <p:nvSpPr>
            <p:cNvPr id="21" name="Freeform 21"/>
            <p:cNvSpPr/>
            <p:nvPr/>
          </p:nvSpPr>
          <p:spPr>
            <a:xfrm>
              <a:off x="0" y="0"/>
              <a:ext cx="2244011" cy="1748475"/>
            </a:xfrm>
            <a:custGeom>
              <a:avLst/>
              <a:gdLst/>
              <a:ahLst/>
              <a:cxnLst/>
              <a:rect l="l" t="t" r="r" b="b"/>
              <a:pathLst>
                <a:path w="2244011" h="1748475">
                  <a:moveTo>
                    <a:pt x="35052" y="0"/>
                  </a:moveTo>
                  <a:lnTo>
                    <a:pt x="2208959" y="0"/>
                  </a:lnTo>
                  <a:cubicBezTo>
                    <a:pt x="2228317" y="0"/>
                    <a:pt x="2244011" y="15693"/>
                    <a:pt x="2244011" y="35052"/>
                  </a:cubicBezTo>
                  <a:lnTo>
                    <a:pt x="2244011" y="1713423"/>
                  </a:lnTo>
                  <a:cubicBezTo>
                    <a:pt x="2244011" y="1732782"/>
                    <a:pt x="2228317" y="1748475"/>
                    <a:pt x="2208959" y="1748475"/>
                  </a:cubicBezTo>
                  <a:lnTo>
                    <a:pt x="35052" y="1748475"/>
                  </a:lnTo>
                  <a:cubicBezTo>
                    <a:pt x="15693" y="1748475"/>
                    <a:pt x="0" y="1732782"/>
                    <a:pt x="0" y="1713423"/>
                  </a:cubicBezTo>
                  <a:lnTo>
                    <a:pt x="0" y="35052"/>
                  </a:lnTo>
                  <a:cubicBezTo>
                    <a:pt x="0" y="15693"/>
                    <a:pt x="15693" y="0"/>
                    <a:pt x="35052" y="0"/>
                  </a:cubicBezTo>
                  <a:close/>
                </a:path>
              </a:pathLst>
            </a:custGeom>
            <a:ln w="28575" cap="rnd">
              <a:solidFill>
                <a:srgbClr val="EF9655"/>
              </a:solidFill>
              <a:prstDash val="solid"/>
              <a:round/>
            </a:ln>
          </p:spPr>
          <p:txBody>
            <a:bodyPr/>
            <a:lstStyle/>
            <a:p>
              <a:endParaRPr lang="en-US"/>
            </a:p>
          </p:txBody>
        </p:sp>
        <p:sp>
          <p:nvSpPr>
            <p:cNvPr id="22" name="TextBox 22"/>
            <p:cNvSpPr txBox="1"/>
            <p:nvPr/>
          </p:nvSpPr>
          <p:spPr>
            <a:xfrm>
              <a:off x="0" y="-38100"/>
              <a:ext cx="2244011" cy="1786575"/>
            </a:xfrm>
            <a:prstGeom prst="rect">
              <a:avLst/>
            </a:prstGeom>
          </p:spPr>
          <p:txBody>
            <a:bodyPr lIns="50800" tIns="50800" rIns="50800" bIns="50800" rtlCol="0" anchor="ctr"/>
            <a:lstStyle/>
            <a:p>
              <a:pPr algn="ctr">
                <a:lnSpc>
                  <a:spcPts val="1679"/>
                </a:lnSpc>
              </a:pPr>
              <a:endParaRPr/>
            </a:p>
          </p:txBody>
        </p:sp>
      </p:grpSp>
      <p:grpSp>
        <p:nvGrpSpPr>
          <p:cNvPr id="23" name="Group 23"/>
          <p:cNvGrpSpPr/>
          <p:nvPr/>
        </p:nvGrpSpPr>
        <p:grpSpPr>
          <a:xfrm>
            <a:off x="633774" y="2633601"/>
            <a:ext cx="333375" cy="333375"/>
            <a:chOff x="0" y="0"/>
            <a:chExt cx="444500" cy="444500"/>
          </a:xfrm>
        </p:grpSpPr>
        <p:grpSp>
          <p:nvGrpSpPr>
            <p:cNvPr id="24" name="Group 24"/>
            <p:cNvGrpSpPr/>
            <p:nvPr/>
          </p:nvGrpSpPr>
          <p:grpSpPr>
            <a:xfrm>
              <a:off x="0" y="0"/>
              <a:ext cx="444500" cy="444500"/>
              <a:chOff x="0" y="0"/>
              <a:chExt cx="100811" cy="100811"/>
            </a:xfrm>
          </p:grpSpPr>
          <p:sp>
            <p:nvSpPr>
              <p:cNvPr id="25" name="Freeform 25"/>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26" name="TextBox 26"/>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27" name="TextBox 27"/>
            <p:cNvSpPr txBox="1"/>
            <p:nvPr/>
          </p:nvSpPr>
          <p:spPr>
            <a:xfrm>
              <a:off x="73739" y="31750"/>
              <a:ext cx="297021"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#1</a:t>
              </a:r>
            </a:p>
          </p:txBody>
        </p:sp>
      </p:grpSp>
      <p:grpSp>
        <p:nvGrpSpPr>
          <p:cNvPr id="28" name="Group 28"/>
          <p:cNvGrpSpPr/>
          <p:nvPr/>
        </p:nvGrpSpPr>
        <p:grpSpPr>
          <a:xfrm>
            <a:off x="633774" y="3467263"/>
            <a:ext cx="333375" cy="333375"/>
            <a:chOff x="0" y="0"/>
            <a:chExt cx="444500" cy="444500"/>
          </a:xfrm>
        </p:grpSpPr>
        <p:grpSp>
          <p:nvGrpSpPr>
            <p:cNvPr id="29" name="Group 29"/>
            <p:cNvGrpSpPr/>
            <p:nvPr/>
          </p:nvGrpSpPr>
          <p:grpSpPr>
            <a:xfrm>
              <a:off x="0" y="0"/>
              <a:ext cx="444500" cy="444500"/>
              <a:chOff x="0" y="0"/>
              <a:chExt cx="100811" cy="100811"/>
            </a:xfrm>
          </p:grpSpPr>
          <p:sp>
            <p:nvSpPr>
              <p:cNvPr id="30" name="Freeform 30"/>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31" name="TextBox 31"/>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32" name="TextBox 32"/>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#2</a:t>
              </a:r>
            </a:p>
          </p:txBody>
        </p:sp>
      </p:grpSp>
      <p:grpSp>
        <p:nvGrpSpPr>
          <p:cNvPr id="33" name="Group 33"/>
          <p:cNvGrpSpPr/>
          <p:nvPr/>
        </p:nvGrpSpPr>
        <p:grpSpPr>
          <a:xfrm>
            <a:off x="633774" y="4567624"/>
            <a:ext cx="333375" cy="333375"/>
            <a:chOff x="0" y="0"/>
            <a:chExt cx="444500" cy="444500"/>
          </a:xfrm>
        </p:grpSpPr>
        <p:grpSp>
          <p:nvGrpSpPr>
            <p:cNvPr id="34" name="Group 34"/>
            <p:cNvGrpSpPr/>
            <p:nvPr/>
          </p:nvGrpSpPr>
          <p:grpSpPr>
            <a:xfrm>
              <a:off x="0" y="0"/>
              <a:ext cx="444500" cy="444500"/>
              <a:chOff x="0" y="0"/>
              <a:chExt cx="100811" cy="100811"/>
            </a:xfrm>
          </p:grpSpPr>
          <p:sp>
            <p:nvSpPr>
              <p:cNvPr id="35" name="Freeform 35"/>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36" name="TextBox 36"/>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37" name="TextBox 37"/>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#3</a:t>
              </a:r>
            </a:p>
          </p:txBody>
        </p:sp>
      </p:grpSp>
      <p:grpSp>
        <p:nvGrpSpPr>
          <p:cNvPr id="38" name="Group 38"/>
          <p:cNvGrpSpPr/>
          <p:nvPr/>
        </p:nvGrpSpPr>
        <p:grpSpPr>
          <a:xfrm>
            <a:off x="9748448" y="2752269"/>
            <a:ext cx="333375" cy="333375"/>
            <a:chOff x="0" y="0"/>
            <a:chExt cx="444500" cy="444500"/>
          </a:xfrm>
        </p:grpSpPr>
        <p:grpSp>
          <p:nvGrpSpPr>
            <p:cNvPr id="39" name="Group 39"/>
            <p:cNvGrpSpPr/>
            <p:nvPr/>
          </p:nvGrpSpPr>
          <p:grpSpPr>
            <a:xfrm>
              <a:off x="0" y="0"/>
              <a:ext cx="444500" cy="444500"/>
              <a:chOff x="0" y="0"/>
              <a:chExt cx="100811" cy="100811"/>
            </a:xfrm>
          </p:grpSpPr>
          <p:sp>
            <p:nvSpPr>
              <p:cNvPr id="40" name="Freeform 40"/>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41" name="TextBox 41"/>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42" name="TextBox 42"/>
            <p:cNvSpPr txBox="1"/>
            <p:nvPr/>
          </p:nvSpPr>
          <p:spPr>
            <a:xfrm>
              <a:off x="73739" y="31750"/>
              <a:ext cx="297021"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#1</a:t>
              </a:r>
            </a:p>
          </p:txBody>
        </p:sp>
      </p:grpSp>
      <p:grpSp>
        <p:nvGrpSpPr>
          <p:cNvPr id="43" name="Group 43"/>
          <p:cNvGrpSpPr/>
          <p:nvPr/>
        </p:nvGrpSpPr>
        <p:grpSpPr>
          <a:xfrm>
            <a:off x="9752920" y="3406247"/>
            <a:ext cx="333375" cy="333375"/>
            <a:chOff x="0" y="0"/>
            <a:chExt cx="444500" cy="444500"/>
          </a:xfrm>
        </p:grpSpPr>
        <p:grpSp>
          <p:nvGrpSpPr>
            <p:cNvPr id="44" name="Group 44"/>
            <p:cNvGrpSpPr/>
            <p:nvPr/>
          </p:nvGrpSpPr>
          <p:grpSpPr>
            <a:xfrm>
              <a:off x="0" y="0"/>
              <a:ext cx="444500" cy="444500"/>
              <a:chOff x="0" y="0"/>
              <a:chExt cx="100811" cy="100811"/>
            </a:xfrm>
          </p:grpSpPr>
          <p:sp>
            <p:nvSpPr>
              <p:cNvPr id="45" name="Freeform 45"/>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46" name="TextBox 46"/>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47" name="TextBox 47"/>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#2</a:t>
              </a:r>
            </a:p>
          </p:txBody>
        </p:sp>
      </p:grpSp>
      <p:grpSp>
        <p:nvGrpSpPr>
          <p:cNvPr id="48" name="Group 48"/>
          <p:cNvGrpSpPr/>
          <p:nvPr/>
        </p:nvGrpSpPr>
        <p:grpSpPr>
          <a:xfrm>
            <a:off x="9752920" y="4058925"/>
            <a:ext cx="333375" cy="333375"/>
            <a:chOff x="0" y="0"/>
            <a:chExt cx="444500" cy="444500"/>
          </a:xfrm>
        </p:grpSpPr>
        <p:grpSp>
          <p:nvGrpSpPr>
            <p:cNvPr id="49" name="Group 49"/>
            <p:cNvGrpSpPr/>
            <p:nvPr/>
          </p:nvGrpSpPr>
          <p:grpSpPr>
            <a:xfrm>
              <a:off x="0" y="0"/>
              <a:ext cx="444500" cy="444500"/>
              <a:chOff x="0" y="0"/>
              <a:chExt cx="100811" cy="100811"/>
            </a:xfrm>
          </p:grpSpPr>
          <p:sp>
            <p:nvSpPr>
              <p:cNvPr id="50" name="Freeform 50"/>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51" name="TextBox 51"/>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52" name="TextBox 52"/>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#3</a:t>
              </a:r>
            </a:p>
          </p:txBody>
        </p:sp>
      </p:grpSp>
      <p:grpSp>
        <p:nvGrpSpPr>
          <p:cNvPr id="53" name="Group 53"/>
          <p:cNvGrpSpPr/>
          <p:nvPr/>
        </p:nvGrpSpPr>
        <p:grpSpPr>
          <a:xfrm>
            <a:off x="633774" y="5667986"/>
            <a:ext cx="333375" cy="333375"/>
            <a:chOff x="0" y="0"/>
            <a:chExt cx="444500" cy="444500"/>
          </a:xfrm>
        </p:grpSpPr>
        <p:grpSp>
          <p:nvGrpSpPr>
            <p:cNvPr id="54" name="Group 54"/>
            <p:cNvGrpSpPr/>
            <p:nvPr/>
          </p:nvGrpSpPr>
          <p:grpSpPr>
            <a:xfrm>
              <a:off x="0" y="0"/>
              <a:ext cx="444500" cy="444500"/>
              <a:chOff x="0" y="0"/>
              <a:chExt cx="100811" cy="100811"/>
            </a:xfrm>
          </p:grpSpPr>
          <p:sp>
            <p:nvSpPr>
              <p:cNvPr id="55" name="Freeform 55"/>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56" name="TextBox 56"/>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57" name="TextBox 57"/>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#4</a:t>
              </a:r>
            </a:p>
          </p:txBody>
        </p:sp>
      </p:grpSp>
      <p:grpSp>
        <p:nvGrpSpPr>
          <p:cNvPr id="58" name="Group 58"/>
          <p:cNvGrpSpPr/>
          <p:nvPr/>
        </p:nvGrpSpPr>
        <p:grpSpPr>
          <a:xfrm>
            <a:off x="633774" y="6768347"/>
            <a:ext cx="333375" cy="333375"/>
            <a:chOff x="0" y="0"/>
            <a:chExt cx="444500" cy="444500"/>
          </a:xfrm>
        </p:grpSpPr>
        <p:grpSp>
          <p:nvGrpSpPr>
            <p:cNvPr id="59" name="Group 59"/>
            <p:cNvGrpSpPr/>
            <p:nvPr/>
          </p:nvGrpSpPr>
          <p:grpSpPr>
            <a:xfrm>
              <a:off x="0" y="0"/>
              <a:ext cx="444500" cy="444500"/>
              <a:chOff x="0" y="0"/>
              <a:chExt cx="100811" cy="100811"/>
            </a:xfrm>
          </p:grpSpPr>
          <p:sp>
            <p:nvSpPr>
              <p:cNvPr id="60" name="Freeform 60"/>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61" name="TextBox 61"/>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62" name="TextBox 62"/>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#5</a:t>
              </a:r>
            </a:p>
          </p:txBody>
        </p:sp>
      </p:grpSp>
      <p:grpSp>
        <p:nvGrpSpPr>
          <p:cNvPr id="63" name="Group 63"/>
          <p:cNvGrpSpPr/>
          <p:nvPr/>
        </p:nvGrpSpPr>
        <p:grpSpPr>
          <a:xfrm>
            <a:off x="633774" y="7602009"/>
            <a:ext cx="333375" cy="333375"/>
            <a:chOff x="0" y="0"/>
            <a:chExt cx="444500" cy="444500"/>
          </a:xfrm>
        </p:grpSpPr>
        <p:grpSp>
          <p:nvGrpSpPr>
            <p:cNvPr id="64" name="Group 64"/>
            <p:cNvGrpSpPr/>
            <p:nvPr/>
          </p:nvGrpSpPr>
          <p:grpSpPr>
            <a:xfrm>
              <a:off x="0" y="0"/>
              <a:ext cx="444500" cy="444500"/>
              <a:chOff x="0" y="0"/>
              <a:chExt cx="100811" cy="100811"/>
            </a:xfrm>
          </p:grpSpPr>
          <p:sp>
            <p:nvSpPr>
              <p:cNvPr id="65" name="Freeform 65"/>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66" name="TextBox 66"/>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67" name="TextBox 67"/>
            <p:cNvSpPr txBox="1"/>
            <p:nvPr/>
          </p:nvSpPr>
          <p:spPr>
            <a:xfrm>
              <a:off x="221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#6</a:t>
              </a:r>
            </a:p>
          </p:txBody>
        </p:sp>
      </p:grpSp>
      <p:grpSp>
        <p:nvGrpSpPr>
          <p:cNvPr id="68" name="Group 68"/>
          <p:cNvGrpSpPr/>
          <p:nvPr/>
        </p:nvGrpSpPr>
        <p:grpSpPr>
          <a:xfrm>
            <a:off x="9752920" y="4763559"/>
            <a:ext cx="333375" cy="333375"/>
            <a:chOff x="0" y="0"/>
            <a:chExt cx="444500" cy="444500"/>
          </a:xfrm>
        </p:grpSpPr>
        <p:grpSp>
          <p:nvGrpSpPr>
            <p:cNvPr id="69" name="Group 69"/>
            <p:cNvGrpSpPr/>
            <p:nvPr/>
          </p:nvGrpSpPr>
          <p:grpSpPr>
            <a:xfrm>
              <a:off x="0" y="0"/>
              <a:ext cx="444500" cy="444500"/>
              <a:chOff x="0" y="0"/>
              <a:chExt cx="100811" cy="100811"/>
            </a:xfrm>
          </p:grpSpPr>
          <p:sp>
            <p:nvSpPr>
              <p:cNvPr id="70" name="Freeform 70"/>
              <p:cNvSpPr/>
              <p:nvPr/>
            </p:nvSpPr>
            <p:spPr>
              <a:xfrm>
                <a:off x="0" y="0"/>
                <a:ext cx="100811" cy="100811"/>
              </a:xfrm>
              <a:custGeom>
                <a:avLst/>
                <a:gdLst/>
                <a:ahLst/>
                <a:cxnLst/>
                <a:rect l="l" t="t" r="r" b="b"/>
                <a:pathLst>
                  <a:path w="100811" h="100811">
                    <a:moveTo>
                      <a:pt x="0" y="0"/>
                    </a:moveTo>
                    <a:lnTo>
                      <a:pt x="100811" y="0"/>
                    </a:lnTo>
                    <a:lnTo>
                      <a:pt x="100811" y="100811"/>
                    </a:lnTo>
                    <a:lnTo>
                      <a:pt x="0" y="100811"/>
                    </a:lnTo>
                    <a:close/>
                  </a:path>
                </a:pathLst>
              </a:custGeom>
              <a:solidFill>
                <a:srgbClr val="E15F4B"/>
              </a:solidFill>
            </p:spPr>
            <p:txBody>
              <a:bodyPr/>
              <a:lstStyle/>
              <a:p>
                <a:endParaRPr lang="en-US"/>
              </a:p>
            </p:txBody>
          </p:sp>
          <p:sp>
            <p:nvSpPr>
              <p:cNvPr id="71" name="TextBox 71"/>
              <p:cNvSpPr txBox="1"/>
              <p:nvPr/>
            </p:nvSpPr>
            <p:spPr>
              <a:xfrm>
                <a:off x="0" y="-19050"/>
                <a:ext cx="100811" cy="119861"/>
              </a:xfrm>
              <a:prstGeom prst="rect">
                <a:avLst/>
              </a:prstGeom>
            </p:spPr>
            <p:txBody>
              <a:bodyPr lIns="50800" tIns="50800" rIns="50800" bIns="50800" rtlCol="0" anchor="ctr"/>
              <a:lstStyle/>
              <a:p>
                <a:pPr algn="ctr">
                  <a:lnSpc>
                    <a:spcPts val="1679"/>
                  </a:lnSpc>
                </a:pPr>
                <a:endParaRPr/>
              </a:p>
            </p:txBody>
          </p:sp>
        </p:grpSp>
        <p:sp>
          <p:nvSpPr>
            <p:cNvPr id="72" name="TextBox 72"/>
            <p:cNvSpPr txBox="1"/>
            <p:nvPr/>
          </p:nvSpPr>
          <p:spPr>
            <a:xfrm>
              <a:off x="34864" y="31750"/>
              <a:ext cx="400172" cy="342900"/>
            </a:xfrm>
            <a:prstGeom prst="rect">
              <a:avLst/>
            </a:prstGeom>
          </p:spPr>
          <p:txBody>
            <a:bodyPr lIns="0" tIns="0" rIns="0" bIns="0" rtlCol="0" anchor="t">
              <a:spAutoFit/>
            </a:bodyPr>
            <a:lstStyle/>
            <a:p>
              <a:pPr algn="ctr">
                <a:lnSpc>
                  <a:spcPts val="2100"/>
                </a:lnSpc>
                <a:spcBef>
                  <a:spcPct val="0"/>
                </a:spcBef>
              </a:pPr>
              <a:r>
                <a:rPr lang="en-US" sz="1500">
                  <a:solidFill>
                    <a:srgbClr val="FFFFFF"/>
                  </a:solidFill>
                  <a:latin typeface="Anton"/>
                  <a:ea typeface="Anton"/>
                  <a:cs typeface="Anton"/>
                  <a:sym typeface="Anton"/>
                </a:rPr>
                <a:t>#4</a:t>
              </a:r>
            </a:p>
          </p:txBody>
        </p:sp>
      </p:grpSp>
      <p:sp>
        <p:nvSpPr>
          <p:cNvPr id="73" name="AutoShape 73"/>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sp>
        <p:nvSpPr>
          <p:cNvPr id="74" name="Freeform 74"/>
          <p:cNvSpPr/>
          <p:nvPr/>
        </p:nvSpPr>
        <p:spPr>
          <a:xfrm>
            <a:off x="11610203" y="5862955"/>
            <a:ext cx="4828383" cy="3307442"/>
          </a:xfrm>
          <a:custGeom>
            <a:avLst/>
            <a:gdLst/>
            <a:ahLst/>
            <a:cxnLst/>
            <a:rect l="l" t="t" r="r" b="b"/>
            <a:pathLst>
              <a:path w="4828383" h="3307442">
                <a:moveTo>
                  <a:pt x="0" y="0"/>
                </a:moveTo>
                <a:lnTo>
                  <a:pt x="4828383" y="0"/>
                </a:lnTo>
                <a:lnTo>
                  <a:pt x="4828383" y="3307442"/>
                </a:lnTo>
                <a:lnTo>
                  <a:pt x="0" y="3307442"/>
                </a:lnTo>
                <a:lnTo>
                  <a:pt x="0" y="0"/>
                </a:lnTo>
                <a:close/>
              </a:path>
            </a:pathLst>
          </a:custGeom>
          <a:blipFill>
            <a:blip r:embed="rId3"/>
            <a:stretch>
              <a:fillRect/>
            </a:stretch>
          </a:blipFill>
        </p:spPr>
        <p:txBody>
          <a:bodyPr/>
          <a:lstStyle/>
          <a:p>
            <a:endParaRPr lang="en-US"/>
          </a:p>
        </p:txBody>
      </p:sp>
      <p:sp>
        <p:nvSpPr>
          <p:cNvPr id="75" name="TextBox 75"/>
          <p:cNvSpPr txBox="1"/>
          <p:nvPr/>
        </p:nvSpPr>
        <p:spPr>
          <a:xfrm>
            <a:off x="1066139" y="3429163"/>
            <a:ext cx="7575512" cy="800100"/>
          </a:xfrm>
          <a:prstGeom prst="rect">
            <a:avLst/>
          </a:prstGeom>
        </p:spPr>
        <p:txBody>
          <a:bodyPr lIns="0" tIns="0" rIns="0" bIns="0" rtlCol="0" anchor="t">
            <a:spAutoFit/>
          </a:bodyPr>
          <a:lstStyle/>
          <a:p>
            <a:pPr algn="just">
              <a:lnSpc>
                <a:spcPts val="2100"/>
              </a:lnSpc>
            </a:pPr>
            <a:r>
              <a:rPr lang="en-US" sz="1500" b="1">
                <a:solidFill>
                  <a:srgbClr val="EE806B"/>
                </a:solidFill>
                <a:latin typeface="Montserrat Bold"/>
                <a:ea typeface="Montserrat Bold"/>
                <a:cs typeface="Montserrat Bold"/>
                <a:sym typeface="Montserrat Bold"/>
              </a:rPr>
              <a:t>Continuum, not discrete types:</a:t>
            </a:r>
            <a:r>
              <a:rPr lang="en-US" sz="1500">
                <a:solidFill>
                  <a:srgbClr val="000000"/>
                </a:solidFill>
                <a:latin typeface="Montserrat"/>
                <a:ea typeface="Montserrat"/>
                <a:cs typeface="Montserrat"/>
                <a:sym typeface="Montserrat"/>
              </a:rPr>
              <a:t> silhouette is modest and HDBSCAN finds no strong density gaps among full-year customers. The four segments are a useful partition of a continuum, not naturally separate populations.</a:t>
            </a:r>
          </a:p>
        </p:txBody>
      </p:sp>
      <p:sp>
        <p:nvSpPr>
          <p:cNvPr id="76" name="TextBox 76"/>
          <p:cNvSpPr txBox="1"/>
          <p:nvPr/>
        </p:nvSpPr>
        <p:spPr>
          <a:xfrm>
            <a:off x="1066139" y="2595501"/>
            <a:ext cx="7575512" cy="533400"/>
          </a:xfrm>
          <a:prstGeom prst="rect">
            <a:avLst/>
          </a:prstGeom>
        </p:spPr>
        <p:txBody>
          <a:bodyPr lIns="0" tIns="0" rIns="0" bIns="0" rtlCol="0" anchor="t">
            <a:spAutoFit/>
          </a:bodyPr>
          <a:lstStyle/>
          <a:p>
            <a:pPr algn="just">
              <a:lnSpc>
                <a:spcPts val="2100"/>
              </a:lnSpc>
              <a:spcBef>
                <a:spcPct val="0"/>
              </a:spcBef>
            </a:pPr>
            <a:r>
              <a:rPr lang="en-US" sz="1500" b="1">
                <a:solidFill>
                  <a:srgbClr val="EE806B"/>
                </a:solidFill>
                <a:latin typeface="Montserrat Bold"/>
                <a:ea typeface="Montserrat Bold"/>
                <a:cs typeface="Montserrat Bold"/>
                <a:sym typeface="Montserrat Bold"/>
              </a:rPr>
              <a:t>Static averages:</a:t>
            </a:r>
            <a:r>
              <a:rPr lang="en-US" sz="1500">
                <a:solidFill>
                  <a:srgbClr val="000000"/>
                </a:solidFill>
                <a:latin typeface="Montserrat"/>
                <a:ea typeface="Montserrat"/>
                <a:cs typeface="Montserrat"/>
                <a:sym typeface="Montserrat"/>
              </a:rPr>
              <a:t> each customer is one 12-month mean vector, so seasonality (e.g. the December spike in Task 1) is averaged away.</a:t>
            </a:r>
          </a:p>
        </p:txBody>
      </p:sp>
      <p:sp>
        <p:nvSpPr>
          <p:cNvPr id="77" name="TextBox 77"/>
          <p:cNvSpPr txBox="1"/>
          <p:nvPr/>
        </p:nvSpPr>
        <p:spPr>
          <a:xfrm>
            <a:off x="1066139" y="4529524"/>
            <a:ext cx="7575512" cy="800100"/>
          </a:xfrm>
          <a:prstGeom prst="rect">
            <a:avLst/>
          </a:prstGeom>
        </p:spPr>
        <p:txBody>
          <a:bodyPr lIns="0" tIns="0" rIns="0" bIns="0" rtlCol="0" anchor="t">
            <a:spAutoFit/>
          </a:bodyPr>
          <a:lstStyle/>
          <a:p>
            <a:pPr marL="0" lvl="0" indent="0" algn="just">
              <a:lnSpc>
                <a:spcPts val="2100"/>
              </a:lnSpc>
              <a:spcBef>
                <a:spcPct val="0"/>
              </a:spcBef>
            </a:pPr>
            <a:r>
              <a:rPr lang="en-US" sz="1500" b="1">
                <a:solidFill>
                  <a:srgbClr val="EE806B"/>
                </a:solidFill>
                <a:latin typeface="Montserrat Bold"/>
                <a:ea typeface="Montserrat Bold"/>
                <a:cs typeface="Montserrat Bold"/>
                <a:sym typeface="Montserrat Bold"/>
              </a:rPr>
              <a:t>Parti</a:t>
            </a:r>
            <a:r>
              <a:rPr lang="en-US" sz="1500" b="1" u="none" strike="noStrike">
                <a:solidFill>
                  <a:srgbClr val="EE806B"/>
                </a:solidFill>
                <a:latin typeface="Montserrat Bold"/>
                <a:ea typeface="Montserrat Bold"/>
                <a:cs typeface="Montserrat Bold"/>
                <a:sym typeface="Montserrat Bold"/>
              </a:rPr>
              <a:t>al-year customers are rule-assigned: </a:t>
            </a:r>
            <a:r>
              <a:rPr lang="en-US" sz="1500" u="none" strike="noStrike">
                <a:solidFill>
                  <a:srgbClr val="000000"/>
                </a:solidFill>
                <a:latin typeface="Montserrat"/>
                <a:ea typeface="Montserrat"/>
                <a:cs typeface="Montserrat"/>
                <a:sym typeface="Montserrat"/>
              </a:rPr>
              <a:t>91 customers with only 1-2 months cannot be profiled reliably. Their segment is defined by data length, and they may include both late joiners and early leavers.</a:t>
            </a:r>
          </a:p>
        </p:txBody>
      </p:sp>
      <p:sp>
        <p:nvSpPr>
          <p:cNvPr id="78" name="TextBox 78"/>
          <p:cNvSpPr txBox="1"/>
          <p:nvPr/>
        </p:nvSpPr>
        <p:spPr>
          <a:xfrm>
            <a:off x="1066139" y="5629886"/>
            <a:ext cx="7565987" cy="800100"/>
          </a:xfrm>
          <a:prstGeom prst="rect">
            <a:avLst/>
          </a:prstGeom>
        </p:spPr>
        <p:txBody>
          <a:bodyPr lIns="0" tIns="0" rIns="0" bIns="0" rtlCol="0" anchor="t">
            <a:spAutoFit/>
          </a:bodyPr>
          <a:lstStyle/>
          <a:p>
            <a:pPr marL="0" lvl="0" indent="0" algn="just">
              <a:lnSpc>
                <a:spcPts val="2100"/>
              </a:lnSpc>
              <a:spcBef>
                <a:spcPct val="0"/>
              </a:spcBef>
            </a:pPr>
            <a:r>
              <a:rPr lang="en-US" sz="1500" b="1">
                <a:solidFill>
                  <a:srgbClr val="EE806B"/>
                </a:solidFill>
                <a:latin typeface="Montserrat Bold"/>
                <a:ea typeface="Montserrat Bold"/>
                <a:cs typeface="Montserrat Bold"/>
                <a:sym typeface="Montserrat Bold"/>
              </a:rPr>
              <a:t>Circularity:</a:t>
            </a:r>
            <a:r>
              <a:rPr lang="en-US" sz="1500" b="1">
                <a:solidFill>
                  <a:srgbClr val="000000"/>
                </a:solidFill>
                <a:latin typeface="Montserrat Bold"/>
                <a:ea typeface="Montserrat Bold"/>
                <a:cs typeface="Montserrat Bold"/>
                <a:sym typeface="Montserrat Bold"/>
              </a:rPr>
              <a:t> </a:t>
            </a:r>
            <a:r>
              <a:rPr lang="en-US" sz="1500">
                <a:solidFill>
                  <a:srgbClr val="000000"/>
                </a:solidFill>
                <a:latin typeface="Montserrat"/>
                <a:ea typeface="Montserrat"/>
                <a:cs typeface="Montserrat"/>
                <a:sym typeface="Montserrat"/>
              </a:rPr>
              <a:t>the given financi</a:t>
            </a:r>
            <a:r>
              <a:rPr lang="en-US" sz="1500" u="none" strike="noStrike">
                <a:solidFill>
                  <a:srgbClr val="000000"/>
                </a:solidFill>
                <a:latin typeface="Montserrat"/>
                <a:ea typeface="Montserrat"/>
                <a:cs typeface="Montserrat"/>
                <a:sym typeface="Montserrat"/>
              </a:rPr>
              <a:t>al_health_score is very likely built from the same ratios (Task 2: spend-to-income alone explains 81% of it), so agreement between segments and the score partly reflects construction.</a:t>
            </a:r>
          </a:p>
        </p:txBody>
      </p:sp>
      <p:sp>
        <p:nvSpPr>
          <p:cNvPr id="79" name="TextBox 79"/>
          <p:cNvSpPr txBox="1"/>
          <p:nvPr/>
        </p:nvSpPr>
        <p:spPr>
          <a:xfrm>
            <a:off x="1066139" y="6730247"/>
            <a:ext cx="7546937" cy="533400"/>
          </a:xfrm>
          <a:prstGeom prst="rect">
            <a:avLst/>
          </a:prstGeom>
        </p:spPr>
        <p:txBody>
          <a:bodyPr lIns="0" tIns="0" rIns="0" bIns="0" rtlCol="0" anchor="t">
            <a:spAutoFit/>
          </a:bodyPr>
          <a:lstStyle/>
          <a:p>
            <a:pPr marL="0" lvl="0" indent="0" algn="just">
              <a:lnSpc>
                <a:spcPts val="2100"/>
              </a:lnSpc>
              <a:spcBef>
                <a:spcPct val="0"/>
              </a:spcBef>
            </a:pPr>
            <a:r>
              <a:rPr lang="en-US" sz="1500" b="1">
                <a:solidFill>
                  <a:srgbClr val="EE806B"/>
                </a:solidFill>
                <a:latin typeface="Montserrat Bold"/>
                <a:ea typeface="Montserrat Bold"/>
                <a:cs typeface="Montserrat Bold"/>
                <a:sym typeface="Montserrat Bold"/>
              </a:rPr>
              <a:t>Synthetic data:</a:t>
            </a:r>
            <a:r>
              <a:rPr lang="en-US" sz="1500" b="1">
                <a:solidFill>
                  <a:srgbClr val="000000"/>
                </a:solidFill>
                <a:latin typeface="Montserrat Bold"/>
                <a:ea typeface="Montserrat Bold"/>
                <a:cs typeface="Montserrat Bold"/>
                <a:sym typeface="Montserrat Bold"/>
              </a:rPr>
              <a:t> </a:t>
            </a:r>
            <a:r>
              <a:rPr lang="en-US" sz="1500">
                <a:solidFill>
                  <a:srgbClr val="000000"/>
                </a:solidFill>
                <a:latin typeface="Montserrat"/>
                <a:ea typeface="Montserrat"/>
                <a:cs typeface="Montserrat"/>
                <a:sym typeface="Montserrat"/>
              </a:rPr>
              <a:t>income, limits and b</a:t>
            </a:r>
            <a:r>
              <a:rPr lang="en-US" sz="1500" u="none" strike="noStrike">
                <a:solidFill>
                  <a:srgbClr val="000000"/>
                </a:solidFill>
                <a:latin typeface="Montserrat"/>
                <a:ea typeface="Montserrat"/>
                <a:cs typeface="Montserrat"/>
                <a:sym typeface="Montserrat"/>
              </a:rPr>
              <a:t>alances are synthetic, so only ratios are compared. Hour-of-day features are generation artefacts.</a:t>
            </a:r>
          </a:p>
        </p:txBody>
      </p:sp>
      <p:sp>
        <p:nvSpPr>
          <p:cNvPr id="80" name="TextBox 80"/>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81" name="TextBox 81"/>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82" name="TextBox 82"/>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83" name="TextBox 83"/>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Modelling</a:t>
            </a:r>
          </a:p>
        </p:txBody>
      </p:sp>
      <p:sp>
        <p:nvSpPr>
          <p:cNvPr id="84" name="TextBox 84"/>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Recommendation</a:t>
            </a:r>
          </a:p>
        </p:txBody>
      </p:sp>
      <p:sp>
        <p:nvSpPr>
          <p:cNvPr id="85" name="TextBox 85"/>
          <p:cNvSpPr txBox="1"/>
          <p:nvPr/>
        </p:nvSpPr>
        <p:spPr>
          <a:xfrm>
            <a:off x="3345178" y="1502667"/>
            <a:ext cx="2785207" cy="530859"/>
          </a:xfrm>
          <a:prstGeom prst="rect">
            <a:avLst/>
          </a:prstGeom>
        </p:spPr>
        <p:txBody>
          <a:bodyPr lIns="0" tIns="0" rIns="0" bIns="0" rtlCol="0" anchor="t">
            <a:spAutoFit/>
          </a:bodyPr>
          <a:lstStyle/>
          <a:p>
            <a:pPr marL="0" lvl="0" indent="0" algn="ctr">
              <a:lnSpc>
                <a:spcPts val="4340"/>
              </a:lnSpc>
              <a:spcBef>
                <a:spcPct val="0"/>
              </a:spcBef>
            </a:pPr>
            <a:r>
              <a:rPr lang="en-US" sz="3100">
                <a:solidFill>
                  <a:srgbClr val="E15F4B"/>
                </a:solidFill>
                <a:latin typeface="Paytone One"/>
                <a:ea typeface="Paytone One"/>
                <a:cs typeface="Paytone One"/>
                <a:sym typeface="Paytone One"/>
              </a:rPr>
              <a:t>Limitation</a:t>
            </a:r>
          </a:p>
        </p:txBody>
      </p:sp>
      <p:sp>
        <p:nvSpPr>
          <p:cNvPr id="86" name="TextBox 86"/>
          <p:cNvSpPr txBox="1"/>
          <p:nvPr/>
        </p:nvSpPr>
        <p:spPr>
          <a:xfrm>
            <a:off x="12399974" y="1502667"/>
            <a:ext cx="2361233" cy="530859"/>
          </a:xfrm>
          <a:prstGeom prst="rect">
            <a:avLst/>
          </a:prstGeom>
        </p:spPr>
        <p:txBody>
          <a:bodyPr lIns="0" tIns="0" rIns="0" bIns="0" rtlCol="0" anchor="t">
            <a:spAutoFit/>
          </a:bodyPr>
          <a:lstStyle/>
          <a:p>
            <a:pPr marL="0" lvl="0" indent="0" algn="ctr">
              <a:lnSpc>
                <a:spcPts val="4340"/>
              </a:lnSpc>
              <a:spcBef>
                <a:spcPct val="0"/>
              </a:spcBef>
            </a:pPr>
            <a:r>
              <a:rPr lang="en-US" sz="3100">
                <a:solidFill>
                  <a:srgbClr val="E15F4B"/>
                </a:solidFill>
                <a:latin typeface="Paytone One"/>
                <a:ea typeface="Paytone One"/>
                <a:cs typeface="Paytone One"/>
                <a:sym typeface="Paytone One"/>
              </a:rPr>
              <a:t>Future work</a:t>
            </a:r>
          </a:p>
        </p:txBody>
      </p:sp>
      <p:sp>
        <p:nvSpPr>
          <p:cNvPr id="87" name="TextBox 87"/>
          <p:cNvSpPr txBox="1"/>
          <p:nvPr/>
        </p:nvSpPr>
        <p:spPr>
          <a:xfrm>
            <a:off x="10239195" y="3939862"/>
            <a:ext cx="7265334" cy="533400"/>
          </a:xfrm>
          <a:prstGeom prst="rect">
            <a:avLst/>
          </a:prstGeom>
        </p:spPr>
        <p:txBody>
          <a:bodyPr lIns="0" tIns="0" rIns="0" bIns="0" rtlCol="0" anchor="t">
            <a:spAutoFit/>
          </a:bodyPr>
          <a:lstStyle/>
          <a:p>
            <a:pPr marL="0" lvl="0" indent="0" algn="just">
              <a:lnSpc>
                <a:spcPts val="2100"/>
              </a:lnSpc>
              <a:spcBef>
                <a:spcPct val="0"/>
              </a:spcBef>
            </a:pPr>
            <a:r>
              <a:rPr lang="en-US" sz="1500">
                <a:solidFill>
                  <a:srgbClr val="000000"/>
                </a:solidFill>
                <a:latin typeface="Montserrat"/>
                <a:ea typeface="Montserrat"/>
                <a:cs typeface="Montserrat"/>
                <a:sym typeface="Montserrat"/>
              </a:rPr>
              <a:t>Add</a:t>
            </a:r>
            <a:r>
              <a:rPr lang="en-US" sz="1500" u="none" strike="noStrike">
                <a:solidFill>
                  <a:srgbClr val="000000"/>
                </a:solidFill>
                <a:latin typeface="Montserrat"/>
                <a:ea typeface="Montserrat"/>
                <a:cs typeface="Montserrat"/>
                <a:sym typeface="Montserrat"/>
              </a:rPr>
              <a:t> channel-mix and category-mix features from the transaction file as a further candidate block.</a:t>
            </a:r>
          </a:p>
        </p:txBody>
      </p:sp>
      <p:sp>
        <p:nvSpPr>
          <p:cNvPr id="88" name="TextBox 88"/>
          <p:cNvSpPr txBox="1"/>
          <p:nvPr/>
        </p:nvSpPr>
        <p:spPr>
          <a:xfrm>
            <a:off x="10215173" y="2652208"/>
            <a:ext cx="7386196" cy="8001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Model trajec</a:t>
            </a:r>
            <a:r>
              <a:rPr lang="en-US" sz="1500" u="none" strike="noStrike">
                <a:solidFill>
                  <a:srgbClr val="000000"/>
                </a:solidFill>
                <a:latin typeface="Montserrat"/>
                <a:ea typeface="Montserrat"/>
                <a:cs typeface="Montserrat"/>
                <a:sym typeface="Montserrat"/>
              </a:rPr>
              <a:t>tories (month-to-month migration between segments) instead of yearly averages, and track migration as a KPI.</a:t>
            </a:r>
          </a:p>
          <a:p>
            <a:pPr marL="0" lvl="0" indent="0" algn="l">
              <a:lnSpc>
                <a:spcPts val="2100"/>
              </a:lnSpc>
              <a:spcBef>
                <a:spcPct val="0"/>
              </a:spcBef>
            </a:pPr>
            <a:endParaRPr lang="en-US" sz="1500" u="none" strike="noStrike">
              <a:solidFill>
                <a:srgbClr val="000000"/>
              </a:solidFill>
              <a:latin typeface="Montserrat"/>
              <a:ea typeface="Montserrat"/>
              <a:cs typeface="Montserrat"/>
              <a:sym typeface="Montserrat"/>
            </a:endParaRPr>
          </a:p>
        </p:txBody>
      </p:sp>
      <p:sp>
        <p:nvSpPr>
          <p:cNvPr id="89" name="TextBox 89"/>
          <p:cNvSpPr txBox="1"/>
          <p:nvPr/>
        </p:nvSpPr>
        <p:spPr>
          <a:xfrm>
            <a:off x="10211716" y="3287185"/>
            <a:ext cx="7272211" cy="10668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Try</a:t>
            </a:r>
            <a:r>
              <a:rPr lang="en-US" sz="1500" u="none" strike="noStrike">
                <a:solidFill>
                  <a:srgbClr val="000000"/>
                </a:solidFill>
                <a:latin typeface="Montserrat"/>
                <a:ea typeface="Montserrat"/>
                <a:cs typeface="Montserrat"/>
                <a:sym typeface="Montserrat"/>
              </a:rPr>
              <a:t> soft assignment (GMM) given the continuum, and report membership probabilities for borderline customers.</a:t>
            </a:r>
          </a:p>
          <a:p>
            <a:pPr algn="l">
              <a:lnSpc>
                <a:spcPts val="2100"/>
              </a:lnSpc>
              <a:spcBef>
                <a:spcPct val="0"/>
              </a:spcBef>
            </a:pPr>
            <a:endParaRPr lang="en-US" sz="1500" u="none" strike="noStrike">
              <a:solidFill>
                <a:srgbClr val="000000"/>
              </a:solidFill>
              <a:latin typeface="Montserrat"/>
              <a:ea typeface="Montserrat"/>
              <a:cs typeface="Montserrat"/>
              <a:sym typeface="Montserrat"/>
            </a:endParaRPr>
          </a:p>
          <a:p>
            <a:pPr marL="0" lvl="0" indent="0" algn="l">
              <a:lnSpc>
                <a:spcPts val="2100"/>
              </a:lnSpc>
              <a:spcBef>
                <a:spcPct val="0"/>
              </a:spcBef>
            </a:pPr>
            <a:endParaRPr lang="en-US" sz="1500" u="none" strike="noStrike">
              <a:solidFill>
                <a:srgbClr val="000000"/>
              </a:solidFill>
              <a:latin typeface="Montserrat"/>
              <a:ea typeface="Montserrat"/>
              <a:cs typeface="Montserrat"/>
              <a:sym typeface="Montserrat"/>
            </a:endParaRPr>
          </a:p>
        </p:txBody>
      </p:sp>
      <p:sp>
        <p:nvSpPr>
          <p:cNvPr id="90" name="TextBox 90"/>
          <p:cNvSpPr txBox="1"/>
          <p:nvPr/>
        </p:nvSpPr>
        <p:spPr>
          <a:xfrm>
            <a:off x="1066139" y="7563909"/>
            <a:ext cx="7533011" cy="800100"/>
          </a:xfrm>
          <a:prstGeom prst="rect">
            <a:avLst/>
          </a:prstGeom>
        </p:spPr>
        <p:txBody>
          <a:bodyPr lIns="0" tIns="0" rIns="0" bIns="0" rtlCol="0" anchor="t">
            <a:spAutoFit/>
          </a:bodyPr>
          <a:lstStyle/>
          <a:p>
            <a:pPr marL="0" lvl="0" indent="0" algn="just">
              <a:lnSpc>
                <a:spcPts val="2100"/>
              </a:lnSpc>
              <a:spcBef>
                <a:spcPct val="0"/>
              </a:spcBef>
            </a:pPr>
            <a:r>
              <a:rPr lang="en-US" sz="1500" b="1">
                <a:solidFill>
                  <a:srgbClr val="EE806B"/>
                </a:solidFill>
                <a:latin typeface="Montserrat Bold"/>
                <a:ea typeface="Montserrat Bold"/>
                <a:cs typeface="Montserrat Bold"/>
                <a:sym typeface="Montserrat Bold"/>
              </a:rPr>
              <a:t>Fairness:</a:t>
            </a:r>
            <a:r>
              <a:rPr lang="en-US" sz="1500" b="1">
                <a:solidFill>
                  <a:srgbClr val="000000"/>
                </a:solidFill>
                <a:latin typeface="Montserrat Bold"/>
                <a:ea typeface="Montserrat Bold"/>
                <a:cs typeface="Montserrat Bold"/>
                <a:sym typeface="Montserrat Bold"/>
              </a:rPr>
              <a:t> </a:t>
            </a:r>
            <a:r>
              <a:rPr lang="en-US" sz="1500">
                <a:solidFill>
                  <a:srgbClr val="000000"/>
                </a:solidFill>
                <a:latin typeface="Montserrat"/>
                <a:ea typeface="Montserrat"/>
                <a:cs typeface="Montserrat"/>
                <a:sym typeface="Montserrat"/>
              </a:rPr>
              <a:t>age differs strongly by segment (a behavioural consequence, not an input). Any c</a:t>
            </a:r>
            <a:r>
              <a:rPr lang="en-US" sz="1500" u="none" strike="noStrike">
                <a:solidFill>
                  <a:srgbClr val="000000"/>
                </a:solidFill>
                <a:latin typeface="Montserrat"/>
                <a:ea typeface="Montserrat"/>
                <a:cs typeface="Montserrat"/>
                <a:sym typeface="Montserrat"/>
              </a:rPr>
              <a:t>ampaign should be checked so that older or younger customers are not systematically excluded from beneficial offers.</a:t>
            </a:r>
          </a:p>
        </p:txBody>
      </p:sp>
      <p:sp>
        <p:nvSpPr>
          <p:cNvPr id="91" name="TextBox 91"/>
          <p:cNvSpPr txBox="1"/>
          <p:nvPr/>
        </p:nvSpPr>
        <p:spPr>
          <a:xfrm>
            <a:off x="10243748" y="4658784"/>
            <a:ext cx="7272211" cy="8001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Re-</a:t>
            </a:r>
            <a:r>
              <a:rPr lang="en-US" sz="1500" u="none" strike="noStrike">
                <a:solidFill>
                  <a:srgbClr val="000000"/>
                </a:solidFill>
                <a:latin typeface="Montserrat"/>
                <a:ea typeface="Montserrat"/>
                <a:cs typeface="Montserrat"/>
                <a:sym typeface="Montserrat"/>
              </a:rPr>
              <a:t>segment quarterly, and A/B-test the recommended interventions per segment.</a:t>
            </a:r>
          </a:p>
          <a:p>
            <a:pPr marL="0" lvl="0" indent="0" algn="l">
              <a:lnSpc>
                <a:spcPts val="2100"/>
              </a:lnSpc>
              <a:spcBef>
                <a:spcPct val="0"/>
              </a:spcBef>
            </a:pPr>
            <a:endParaRPr lang="en-US" sz="1500" u="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sp>
        <p:nvSpPr>
          <p:cNvPr id="3" name="AutoShape 3"/>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4" name="Group 4"/>
          <p:cNvGrpSpPr/>
          <p:nvPr/>
        </p:nvGrpSpPr>
        <p:grpSpPr>
          <a:xfrm>
            <a:off x="967149" y="147997"/>
            <a:ext cx="16364245" cy="379415"/>
            <a:chOff x="0" y="0"/>
            <a:chExt cx="21818994" cy="505887"/>
          </a:xfrm>
        </p:grpSpPr>
        <p:sp>
          <p:nvSpPr>
            <p:cNvPr id="5" name="Freeform 5"/>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6" name="TextBox 6"/>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7" name="Group 7"/>
          <p:cNvGrpSpPr/>
          <p:nvPr/>
        </p:nvGrpSpPr>
        <p:grpSpPr>
          <a:xfrm>
            <a:off x="3" y="234756"/>
            <a:ext cx="734804" cy="442640"/>
            <a:chOff x="0" y="0"/>
            <a:chExt cx="626275" cy="377263"/>
          </a:xfrm>
        </p:grpSpPr>
        <p:sp>
          <p:nvSpPr>
            <p:cNvPr id="8" name="Freeform 8"/>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9" name="Group 9"/>
          <p:cNvGrpSpPr/>
          <p:nvPr/>
        </p:nvGrpSpPr>
        <p:grpSpPr>
          <a:xfrm>
            <a:off x="923268" y="147997"/>
            <a:ext cx="16364245" cy="1034066"/>
            <a:chOff x="0" y="0"/>
            <a:chExt cx="21818994" cy="1378755"/>
          </a:xfrm>
        </p:grpSpPr>
        <p:sp>
          <p:nvSpPr>
            <p:cNvPr id="10" name="Freeform 10"/>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1" name="TextBox 11"/>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Recommendation</a:t>
              </a:r>
            </a:p>
            <a:p>
              <a:pPr algn="l">
                <a:lnSpc>
                  <a:spcPts val="3500"/>
                </a:lnSpc>
              </a:pPr>
              <a:r>
                <a:rPr lang="en-US" sz="2500">
                  <a:solidFill>
                    <a:srgbClr val="000000"/>
                  </a:solidFill>
                  <a:latin typeface="Montserrat"/>
                  <a:ea typeface="Montserrat"/>
                  <a:cs typeface="Montserrat"/>
                  <a:sym typeface="Montserrat"/>
                </a:rPr>
                <a:t>Six non-punitive interventions</a:t>
              </a:r>
            </a:p>
          </p:txBody>
        </p:sp>
      </p:grpSp>
      <p:grpSp>
        <p:nvGrpSpPr>
          <p:cNvPr id="12" name="Group 12"/>
          <p:cNvGrpSpPr/>
          <p:nvPr/>
        </p:nvGrpSpPr>
        <p:grpSpPr>
          <a:xfrm>
            <a:off x="14557794" y="9842251"/>
            <a:ext cx="3111697" cy="388319"/>
            <a:chOff x="0" y="0"/>
            <a:chExt cx="819542" cy="102273"/>
          </a:xfrm>
        </p:grpSpPr>
        <p:sp>
          <p:nvSpPr>
            <p:cNvPr id="13" name="Freeform 13"/>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14" name="TextBox 14"/>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aphicFrame>
        <p:nvGraphicFramePr>
          <p:cNvPr id="15" name="Object 15"/>
          <p:cNvGraphicFramePr/>
          <p:nvPr/>
        </p:nvGraphicFramePr>
        <p:xfrm>
          <a:off x="9278987" y="1807308"/>
          <a:ext cx="16230600" cy="2705100"/>
        </p:xfrm>
        <a:graphic>
          <a:graphicData uri="http://schemas.openxmlformats.org/presentationml/2006/ole">
            <mc:AlternateContent xmlns:mc="http://schemas.openxmlformats.org/markup-compatibility/2006">
              <mc:Choice xmlns:v="urn:schemas-microsoft-com:vml" Requires="v">
                <p:oleObj name="Worksheet" r:id="rId3" imgW="19469100" imgH="5943600" progId="Excel.Sheet.12">
                  <p:embed/>
                </p:oleObj>
              </mc:Choice>
              <mc:Fallback>
                <p:oleObj name="Worksheet" r:id="rId3" imgW="19469100" imgH="5943600" progId="Excel.Sheet.12">
                  <p:embed/>
                  <p:pic>
                    <p:nvPicPr>
                      <p:cNvPr id="0" name=""/>
                      <p:cNvPicPr/>
                      <p:nvPr/>
                    </p:nvPicPr>
                    <p:blipFill>
                      <a:blip r:embed="rId4"/>
                      <a:stretch>
                        <a:fillRect/>
                      </a:stretch>
                    </p:blipFill>
                    <p:spPr>
                      <a:xfrm>
                        <a:off x="9278987" y="1807308"/>
                        <a:ext cx="16230600" cy="2705100"/>
                      </a:xfrm>
                      <a:prstGeom prst="rect">
                        <a:avLst/>
                      </a:prstGeom>
                    </p:spPr>
                  </p:pic>
                </p:oleObj>
              </mc:Fallback>
            </mc:AlternateContent>
          </a:graphicData>
        </a:graphic>
      </p:graphicFrame>
      <p:sp>
        <p:nvSpPr>
          <p:cNvPr id="16" name="TextBox 16"/>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7" name="TextBox 17"/>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18" name="TextBox 18"/>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202020"/>
                </a:solidFill>
                <a:latin typeface="Montserrat"/>
                <a:ea typeface="Montserrat"/>
                <a:cs typeface="Montserrat"/>
                <a:sym typeface="Montserrat"/>
              </a:rPr>
              <a:t>Detailed Analysis</a:t>
            </a:r>
          </a:p>
        </p:txBody>
      </p:sp>
      <p:sp>
        <p:nvSpPr>
          <p:cNvPr id="19" name="TextBox 19"/>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Recommendation</a:t>
            </a:r>
          </a:p>
        </p:txBody>
      </p:sp>
      <p:sp>
        <p:nvSpPr>
          <p:cNvPr id="20" name="TextBox 20"/>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1" name="TextBox 21"/>
          <p:cNvSpPr txBox="1"/>
          <p:nvPr/>
        </p:nvSpPr>
        <p:spPr>
          <a:xfrm>
            <a:off x="791669" y="2149513"/>
            <a:ext cx="8313722" cy="7274560"/>
          </a:xfrm>
          <a:prstGeom prst="rect">
            <a:avLst/>
          </a:prstGeom>
        </p:spPr>
        <p:txBody>
          <a:bodyPr lIns="0" tIns="0" rIns="0" bIns="0" rtlCol="0" anchor="t">
            <a:spAutoFit/>
          </a:bodyPr>
          <a:lstStyle/>
          <a:p>
            <a:pPr algn="just">
              <a:lnSpc>
                <a:spcPts val="2380"/>
              </a:lnSpc>
            </a:pPr>
            <a:r>
              <a:rPr lang="en-US" sz="1700" b="1">
                <a:solidFill>
                  <a:srgbClr val="EE806B"/>
                </a:solidFill>
                <a:latin typeface="Montserrat Bold"/>
                <a:ea typeface="Montserrat Bold"/>
                <a:cs typeface="Montserrat Bold"/>
                <a:sym typeface="Montserrat Bold"/>
              </a:rPr>
              <a:t>I</a:t>
            </a:r>
            <a:r>
              <a:rPr lang="en-US" sz="1700" b="1">
                <a:solidFill>
                  <a:srgbClr val="E15F4B"/>
                </a:solidFill>
                <a:latin typeface="Montserrat Bold"/>
                <a:ea typeface="Montserrat Bold"/>
                <a:cs typeface="Montserrat Bold"/>
                <a:sym typeface="Montserrat Bold"/>
              </a:rPr>
              <a:t>mmediate Actions Timeline</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Weeks 1–2 (Preparation):</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Refresh health &amp; engagement data; set baseline KPIs.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Define targeting filters (Health &lt; 60, risk thresholds) &amp; opt-out rules. </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Weeks 3–4 (Financial Support Launch):</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Deploy Budgeting Tools to cap non-essential spend for Health &lt; 60.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Launch Real-time Alerts triggered by Spend/Income &gt; 0.80 or Credit Util &gt; 0.70.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Roll out Financial Education micro-modules for vulnerable cohorts. </a:t>
            </a:r>
          </a:p>
          <a:p>
            <a:pPr algn="just">
              <a:lnSpc>
                <a:spcPts val="2380"/>
              </a:lnSpc>
            </a:pPr>
            <a:r>
              <a:rPr lang="en-US" sz="1700" b="1">
                <a:solidFill>
                  <a:srgbClr val="E15F4B"/>
                </a:solidFill>
                <a:latin typeface="Montserrat Bold"/>
                <a:ea typeface="Montserrat Bold"/>
                <a:cs typeface="Montserrat Bold"/>
                <a:sym typeface="Montserrat Bold"/>
              </a:rPr>
              <a:t>Long-Term Strategies Roadmap</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Weeks 5–6 (Engagement Support Launch):</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Send automated Planning Reminders ahead of due dates.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Push Digital Nudges to transition high-spend users to app/QR channels.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Offer Suitable Product Suggestions (auto-save, 0% installments). </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Weeks 7–10 (Monitor &amp; Evaluate):</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Track adoption rates, health recovery, and alert fatigue.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Decide to scale, refine, or pause interventions based on net user benefit. </a:t>
            </a:r>
          </a:p>
          <a:p>
            <a:pPr algn="just">
              <a:lnSpc>
                <a:spcPts val="2380"/>
              </a:lnSpc>
            </a:pPr>
            <a:r>
              <a:rPr lang="en-US" sz="1700" b="1">
                <a:solidFill>
                  <a:srgbClr val="E15F4B"/>
                </a:solidFill>
                <a:latin typeface="Montserrat Bold"/>
                <a:ea typeface="Montserrat Bold"/>
                <a:cs typeface="Montserrat Bold"/>
                <a:sym typeface="Montserrat Bold"/>
              </a:rPr>
              <a:t>Future Analysis Plan</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Next 6 Months (Predictive Risk &amp; CLV):</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Build early-warning models to predict financial distress before health score drops.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Measure Customer Lifetime Value (CLV) impact on supported crossover cohorts. </a:t>
            </a:r>
          </a:p>
          <a:p>
            <a:pPr marL="323852" lvl="1" indent="-161926" algn="just">
              <a:lnSpc>
                <a:spcPts val="2100"/>
              </a:lnSpc>
              <a:buFont typeface="Arial"/>
              <a:buChar char="•"/>
            </a:pPr>
            <a:r>
              <a:rPr lang="en-US" sz="1500" b="1">
                <a:solidFill>
                  <a:srgbClr val="EE806B"/>
                </a:solidFill>
                <a:latin typeface="Montserrat Bold"/>
                <a:ea typeface="Montserrat Bold"/>
                <a:cs typeface="Montserrat Bold"/>
                <a:sym typeface="Montserrat Bold"/>
              </a:rPr>
              <a:t>Next 12 Months (Advanced Segmentation):</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Implement ML-driven segmentation using transaction velocity and merchant mix. </a:t>
            </a:r>
          </a:p>
          <a:p>
            <a:pPr marL="647703" lvl="2" indent="-215901" algn="just">
              <a:lnSpc>
                <a:spcPts val="2100"/>
              </a:lnSpc>
              <a:buFont typeface="Arial"/>
              <a:buChar char="⚬"/>
            </a:pPr>
            <a:r>
              <a:rPr lang="en-US" sz="1500">
                <a:solidFill>
                  <a:srgbClr val="000000"/>
                </a:solidFill>
                <a:latin typeface="Montserrat"/>
                <a:ea typeface="Montserrat"/>
                <a:cs typeface="Montserrat"/>
                <a:sym typeface="Montserrat"/>
              </a:rPr>
              <a:t>Dynamically refine recommendation algorithms based on real-time health trajectories. </a:t>
            </a:r>
          </a:p>
          <a:p>
            <a:pPr algn="just">
              <a:lnSpc>
                <a:spcPts val="2100"/>
              </a:lnSpc>
            </a:pPr>
            <a:endParaRPr lang="en-US" sz="1500">
              <a:solidFill>
                <a:srgbClr val="000000"/>
              </a:solidFill>
              <a:latin typeface="Montserrat"/>
              <a:ea typeface="Montserrat"/>
              <a:cs typeface="Montserrat"/>
              <a:sym typeface="Montserrat"/>
            </a:endParaRPr>
          </a:p>
        </p:txBody>
      </p:sp>
      <p:grpSp>
        <p:nvGrpSpPr>
          <p:cNvPr id="22" name="Group 22"/>
          <p:cNvGrpSpPr/>
          <p:nvPr/>
        </p:nvGrpSpPr>
        <p:grpSpPr>
          <a:xfrm>
            <a:off x="734806" y="1559817"/>
            <a:ext cx="6375647" cy="494982"/>
            <a:chOff x="0" y="0"/>
            <a:chExt cx="8500863" cy="659977"/>
          </a:xfrm>
        </p:grpSpPr>
        <p:sp>
          <p:nvSpPr>
            <p:cNvPr id="23" name="Freeform 23"/>
            <p:cNvSpPr/>
            <p:nvPr/>
          </p:nvSpPr>
          <p:spPr>
            <a:xfrm>
              <a:off x="0" y="0"/>
              <a:ext cx="8500862" cy="659975"/>
            </a:xfrm>
            <a:custGeom>
              <a:avLst/>
              <a:gdLst/>
              <a:ahLst/>
              <a:cxnLst/>
              <a:rect l="l" t="t" r="r" b="b"/>
              <a:pathLst>
                <a:path w="8500862" h="659975">
                  <a:moveTo>
                    <a:pt x="0" y="0"/>
                  </a:moveTo>
                  <a:lnTo>
                    <a:pt x="8500862" y="0"/>
                  </a:lnTo>
                  <a:lnTo>
                    <a:pt x="8500862" y="659975"/>
                  </a:lnTo>
                  <a:lnTo>
                    <a:pt x="0" y="659975"/>
                  </a:lnTo>
                  <a:close/>
                </a:path>
              </a:pathLst>
            </a:custGeom>
            <a:blipFill>
              <a:blip r:embed="rId2">
                <a:alphaModFix amt="0"/>
              </a:blip>
              <a:stretch>
                <a:fillRect t="-554243" r="-156668" b="-634119"/>
              </a:stretch>
            </a:blipFill>
          </p:spPr>
          <p:txBody>
            <a:bodyPr/>
            <a:lstStyle/>
            <a:p>
              <a:endParaRPr lang="en-US"/>
            </a:p>
          </p:txBody>
        </p:sp>
        <p:sp>
          <p:nvSpPr>
            <p:cNvPr id="24" name="TextBox 24"/>
            <p:cNvSpPr txBox="1"/>
            <p:nvPr/>
          </p:nvSpPr>
          <p:spPr>
            <a:xfrm>
              <a:off x="0" y="-38100"/>
              <a:ext cx="8500863"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Visual Timelines and Roadmaps</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sp>
        <p:nvSpPr>
          <p:cNvPr id="3" name="AutoShape 3"/>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4" name="Group 4"/>
          <p:cNvGrpSpPr/>
          <p:nvPr/>
        </p:nvGrpSpPr>
        <p:grpSpPr>
          <a:xfrm>
            <a:off x="967149" y="147997"/>
            <a:ext cx="16364245" cy="379415"/>
            <a:chOff x="0" y="0"/>
            <a:chExt cx="21818994" cy="505887"/>
          </a:xfrm>
        </p:grpSpPr>
        <p:sp>
          <p:nvSpPr>
            <p:cNvPr id="5" name="Freeform 5"/>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6" name="TextBox 6"/>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7" name="Group 7"/>
          <p:cNvGrpSpPr/>
          <p:nvPr/>
        </p:nvGrpSpPr>
        <p:grpSpPr>
          <a:xfrm>
            <a:off x="3" y="234756"/>
            <a:ext cx="734804" cy="442640"/>
            <a:chOff x="0" y="0"/>
            <a:chExt cx="626275" cy="377263"/>
          </a:xfrm>
        </p:grpSpPr>
        <p:sp>
          <p:nvSpPr>
            <p:cNvPr id="8" name="Freeform 8"/>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9" name="Group 9"/>
          <p:cNvGrpSpPr/>
          <p:nvPr/>
        </p:nvGrpSpPr>
        <p:grpSpPr>
          <a:xfrm>
            <a:off x="923268" y="147997"/>
            <a:ext cx="16364245" cy="1034066"/>
            <a:chOff x="0" y="0"/>
            <a:chExt cx="21818994" cy="1378755"/>
          </a:xfrm>
        </p:grpSpPr>
        <p:sp>
          <p:nvSpPr>
            <p:cNvPr id="10" name="Freeform 10"/>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1" name="TextBox 11"/>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Recommendation</a:t>
              </a:r>
            </a:p>
            <a:p>
              <a:pPr algn="l">
                <a:lnSpc>
                  <a:spcPts val="3500"/>
                </a:lnSpc>
              </a:pPr>
              <a:r>
                <a:rPr lang="en-US" sz="2500">
                  <a:solidFill>
                    <a:srgbClr val="000000"/>
                  </a:solidFill>
                  <a:latin typeface="Montserrat"/>
                  <a:ea typeface="Montserrat"/>
                  <a:cs typeface="Montserrat"/>
                  <a:sym typeface="Montserrat"/>
                </a:rPr>
                <a:t>Six non-punitive interventions</a:t>
              </a:r>
            </a:p>
          </p:txBody>
        </p:sp>
      </p:grpSp>
      <p:grpSp>
        <p:nvGrpSpPr>
          <p:cNvPr id="12" name="Group 12"/>
          <p:cNvGrpSpPr/>
          <p:nvPr/>
        </p:nvGrpSpPr>
        <p:grpSpPr>
          <a:xfrm>
            <a:off x="14557794" y="9842251"/>
            <a:ext cx="3111697" cy="388319"/>
            <a:chOff x="0" y="0"/>
            <a:chExt cx="819542" cy="102273"/>
          </a:xfrm>
        </p:grpSpPr>
        <p:sp>
          <p:nvSpPr>
            <p:cNvPr id="13" name="Freeform 13"/>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14" name="TextBox 14"/>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15" name="Group 15"/>
          <p:cNvGrpSpPr/>
          <p:nvPr/>
        </p:nvGrpSpPr>
        <p:grpSpPr>
          <a:xfrm>
            <a:off x="923268" y="1620883"/>
            <a:ext cx="7532905" cy="494982"/>
            <a:chOff x="0" y="0"/>
            <a:chExt cx="10043873" cy="659977"/>
          </a:xfrm>
        </p:grpSpPr>
        <p:sp>
          <p:nvSpPr>
            <p:cNvPr id="16" name="Freeform 16"/>
            <p:cNvSpPr/>
            <p:nvPr/>
          </p:nvSpPr>
          <p:spPr>
            <a:xfrm>
              <a:off x="0" y="0"/>
              <a:ext cx="10043872" cy="659975"/>
            </a:xfrm>
            <a:custGeom>
              <a:avLst/>
              <a:gdLst/>
              <a:ahLst/>
              <a:cxnLst/>
              <a:rect l="l" t="t" r="r" b="b"/>
              <a:pathLst>
                <a:path w="10043872" h="659975">
                  <a:moveTo>
                    <a:pt x="0" y="0"/>
                  </a:moveTo>
                  <a:lnTo>
                    <a:pt x="10043872" y="0"/>
                  </a:lnTo>
                  <a:lnTo>
                    <a:pt x="10043872" y="659975"/>
                  </a:lnTo>
                  <a:lnTo>
                    <a:pt x="0" y="659975"/>
                  </a:lnTo>
                  <a:close/>
                </a:path>
              </a:pathLst>
            </a:custGeom>
            <a:blipFill>
              <a:blip r:embed="rId2">
                <a:alphaModFix amt="0"/>
              </a:blip>
              <a:stretch>
                <a:fillRect t="-554243" r="-117236" b="-634119"/>
              </a:stretch>
            </a:blipFill>
          </p:spPr>
          <p:txBody>
            <a:bodyPr/>
            <a:lstStyle/>
            <a:p>
              <a:endParaRPr lang="en-US"/>
            </a:p>
          </p:txBody>
        </p:sp>
        <p:sp>
          <p:nvSpPr>
            <p:cNvPr id="17" name="TextBox 17"/>
            <p:cNvSpPr txBox="1"/>
            <p:nvPr/>
          </p:nvSpPr>
          <p:spPr>
            <a:xfrm>
              <a:off x="0" y="-38100"/>
              <a:ext cx="10043873"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Ranking by reach and by drivers’ strength</a:t>
              </a:r>
            </a:p>
          </p:txBody>
        </p:sp>
      </p:grpSp>
      <p:graphicFrame>
        <p:nvGraphicFramePr>
          <p:cNvPr id="18" name="Object 18"/>
          <p:cNvGraphicFramePr/>
          <p:nvPr/>
        </p:nvGraphicFramePr>
        <p:xfrm>
          <a:off x="9559847" y="2287315"/>
          <a:ext cx="9429750" cy="4400550"/>
        </p:xfrm>
        <a:graphic>
          <a:graphicData uri="http://schemas.openxmlformats.org/presentationml/2006/ole">
            <mc:AlternateContent xmlns:mc="http://schemas.openxmlformats.org/markup-compatibility/2006">
              <mc:Choice xmlns:v="urn:schemas-microsoft-com:vml" Requires="v">
                <p:oleObj name="Worksheet" r:id="rId3" imgW="11315700" imgH="6286500" progId="Excel.Sheet.12">
                  <p:embed/>
                </p:oleObj>
              </mc:Choice>
              <mc:Fallback>
                <p:oleObj name="Worksheet" r:id="rId3" imgW="11315700" imgH="6286500" progId="Excel.Sheet.12">
                  <p:embed/>
                  <p:pic>
                    <p:nvPicPr>
                      <p:cNvPr id="0" name=""/>
                      <p:cNvPicPr/>
                      <p:nvPr/>
                    </p:nvPicPr>
                    <p:blipFill>
                      <a:blip r:embed="rId4"/>
                      <a:stretch>
                        <a:fillRect/>
                      </a:stretch>
                    </p:blipFill>
                    <p:spPr>
                      <a:xfrm>
                        <a:off x="9559847" y="2287315"/>
                        <a:ext cx="9429750" cy="4400550"/>
                      </a:xfrm>
                      <a:prstGeom prst="rect">
                        <a:avLst/>
                      </a:prstGeom>
                    </p:spPr>
                  </p:pic>
                </p:oleObj>
              </mc:Fallback>
            </mc:AlternateContent>
          </a:graphicData>
        </a:graphic>
      </p:graphicFrame>
      <p:sp>
        <p:nvSpPr>
          <p:cNvPr id="19" name="TextBox 19"/>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20" name="TextBox 20"/>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21" name="TextBox 21"/>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202020"/>
                </a:solidFill>
                <a:latin typeface="Montserrat"/>
                <a:ea typeface="Montserrat"/>
                <a:cs typeface="Montserrat"/>
                <a:sym typeface="Montserrat"/>
              </a:rPr>
              <a:t>Detailed Analysis</a:t>
            </a:r>
          </a:p>
        </p:txBody>
      </p:sp>
      <p:sp>
        <p:nvSpPr>
          <p:cNvPr id="22" name="TextBox 2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Recommendation</a:t>
            </a:r>
          </a:p>
        </p:txBody>
      </p:sp>
      <p:sp>
        <p:nvSpPr>
          <p:cNvPr id="23" name="TextBox 23"/>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pic>
        <p:nvPicPr>
          <p:cNvPr id="24" name="Picture 24"/>
          <p:cNvPicPr>
            <a:picLocks noChangeAspect="1"/>
          </p:cNvPicPr>
          <p:nvPr/>
        </p:nvPicPr>
        <p:blipFill>
          <a:blip r:embed="rId5"/>
          <a:stretch>
            <a:fillRect/>
          </a:stretch>
        </p:blipFill>
        <p:spPr>
          <a:xfrm>
            <a:off x="662744" y="1620918"/>
            <a:ext cx="7996766" cy="5195881"/>
          </a:xfrm>
          <a:prstGeom prst="rect">
            <a:avLst/>
          </a:prstGeom>
        </p:spPr>
      </p:pic>
      <p:grpSp>
        <p:nvGrpSpPr>
          <p:cNvPr id="25" name="Group 25"/>
          <p:cNvGrpSpPr/>
          <p:nvPr/>
        </p:nvGrpSpPr>
        <p:grpSpPr>
          <a:xfrm>
            <a:off x="3100032" y="8512287"/>
            <a:ext cx="2363822" cy="1018374"/>
            <a:chOff x="0" y="0"/>
            <a:chExt cx="622570" cy="268214"/>
          </a:xfrm>
        </p:grpSpPr>
        <p:sp>
          <p:nvSpPr>
            <p:cNvPr id="26" name="Freeform 26"/>
            <p:cNvSpPr/>
            <p:nvPr/>
          </p:nvSpPr>
          <p:spPr>
            <a:xfrm>
              <a:off x="0" y="0"/>
              <a:ext cx="622570" cy="268214"/>
            </a:xfrm>
            <a:custGeom>
              <a:avLst/>
              <a:gdLst/>
              <a:ahLst/>
              <a:cxnLst/>
              <a:rect l="l" t="t" r="r" b="b"/>
              <a:pathLst>
                <a:path w="622570" h="268214">
                  <a:moveTo>
                    <a:pt x="65503" y="0"/>
                  </a:moveTo>
                  <a:lnTo>
                    <a:pt x="557067" y="0"/>
                  </a:lnTo>
                  <a:cubicBezTo>
                    <a:pt x="593244" y="0"/>
                    <a:pt x="622570" y="29327"/>
                    <a:pt x="622570" y="65503"/>
                  </a:cubicBezTo>
                  <a:lnTo>
                    <a:pt x="622570" y="202710"/>
                  </a:lnTo>
                  <a:cubicBezTo>
                    <a:pt x="622570" y="220083"/>
                    <a:pt x="615669" y="236744"/>
                    <a:pt x="603385" y="249028"/>
                  </a:cubicBezTo>
                  <a:cubicBezTo>
                    <a:pt x="591101" y="261313"/>
                    <a:pt x="574440" y="268214"/>
                    <a:pt x="557067" y="268214"/>
                  </a:cubicBezTo>
                  <a:lnTo>
                    <a:pt x="65503" y="268214"/>
                  </a:lnTo>
                  <a:cubicBezTo>
                    <a:pt x="48131" y="268214"/>
                    <a:pt x="31470" y="261313"/>
                    <a:pt x="19186" y="249028"/>
                  </a:cubicBezTo>
                  <a:cubicBezTo>
                    <a:pt x="6901" y="236744"/>
                    <a:pt x="0" y="220083"/>
                    <a:pt x="0" y="202710"/>
                  </a:cubicBezTo>
                  <a:lnTo>
                    <a:pt x="0" y="65503"/>
                  </a:lnTo>
                  <a:cubicBezTo>
                    <a:pt x="0" y="48131"/>
                    <a:pt x="6901" y="31470"/>
                    <a:pt x="19186" y="19186"/>
                  </a:cubicBezTo>
                  <a:cubicBezTo>
                    <a:pt x="31470" y="6901"/>
                    <a:pt x="48131" y="0"/>
                    <a:pt x="65503" y="0"/>
                  </a:cubicBezTo>
                  <a:close/>
                </a:path>
              </a:pathLst>
            </a:custGeom>
            <a:ln w="9525" cap="sq">
              <a:solidFill>
                <a:srgbClr val="E15F4B"/>
              </a:solidFill>
              <a:prstDash val="lgDash"/>
              <a:miter/>
            </a:ln>
          </p:spPr>
          <p:txBody>
            <a:bodyPr/>
            <a:lstStyle/>
            <a:p>
              <a:endParaRPr lang="en-US"/>
            </a:p>
          </p:txBody>
        </p:sp>
        <p:sp>
          <p:nvSpPr>
            <p:cNvPr id="27" name="TextBox 27"/>
            <p:cNvSpPr txBox="1"/>
            <p:nvPr/>
          </p:nvSpPr>
          <p:spPr>
            <a:xfrm>
              <a:off x="0" y="-38100"/>
              <a:ext cx="622570" cy="306314"/>
            </a:xfrm>
            <a:prstGeom prst="rect">
              <a:avLst/>
            </a:prstGeom>
          </p:spPr>
          <p:txBody>
            <a:bodyPr lIns="50800" tIns="50800" rIns="50800" bIns="50800" rtlCol="0" anchor="ctr"/>
            <a:lstStyle/>
            <a:p>
              <a:pPr algn="ctr">
                <a:lnSpc>
                  <a:spcPts val="2800"/>
                </a:lnSpc>
              </a:pPr>
              <a:endParaRPr/>
            </a:p>
          </p:txBody>
        </p:sp>
      </p:grpSp>
      <p:grpSp>
        <p:nvGrpSpPr>
          <p:cNvPr id="28" name="Group 28"/>
          <p:cNvGrpSpPr/>
          <p:nvPr/>
        </p:nvGrpSpPr>
        <p:grpSpPr>
          <a:xfrm>
            <a:off x="1151601" y="8502762"/>
            <a:ext cx="1837082" cy="1027899"/>
            <a:chOff x="0" y="0"/>
            <a:chExt cx="483840" cy="270722"/>
          </a:xfrm>
        </p:grpSpPr>
        <p:sp>
          <p:nvSpPr>
            <p:cNvPr id="29" name="Freeform 29"/>
            <p:cNvSpPr/>
            <p:nvPr/>
          </p:nvSpPr>
          <p:spPr>
            <a:xfrm>
              <a:off x="0" y="0"/>
              <a:ext cx="483840" cy="270722"/>
            </a:xfrm>
            <a:custGeom>
              <a:avLst/>
              <a:gdLst/>
              <a:ahLst/>
              <a:cxnLst/>
              <a:rect l="l" t="t" r="r" b="b"/>
              <a:pathLst>
                <a:path w="483840" h="270722">
                  <a:moveTo>
                    <a:pt x="84285" y="0"/>
                  </a:moveTo>
                  <a:lnTo>
                    <a:pt x="399555" y="0"/>
                  </a:lnTo>
                  <a:cubicBezTo>
                    <a:pt x="446105" y="0"/>
                    <a:pt x="483840" y="37736"/>
                    <a:pt x="483840" y="84285"/>
                  </a:cubicBezTo>
                  <a:lnTo>
                    <a:pt x="483840" y="186437"/>
                  </a:lnTo>
                  <a:cubicBezTo>
                    <a:pt x="483840" y="232987"/>
                    <a:pt x="446105" y="270722"/>
                    <a:pt x="399555" y="270722"/>
                  </a:cubicBezTo>
                  <a:lnTo>
                    <a:pt x="84285" y="270722"/>
                  </a:lnTo>
                  <a:cubicBezTo>
                    <a:pt x="37736" y="270722"/>
                    <a:pt x="0" y="232987"/>
                    <a:pt x="0" y="186437"/>
                  </a:cubicBezTo>
                  <a:lnTo>
                    <a:pt x="0" y="84285"/>
                  </a:lnTo>
                  <a:cubicBezTo>
                    <a:pt x="0" y="37736"/>
                    <a:pt x="37736" y="0"/>
                    <a:pt x="84285" y="0"/>
                  </a:cubicBezTo>
                  <a:close/>
                </a:path>
              </a:pathLst>
            </a:custGeom>
            <a:solidFill>
              <a:srgbClr val="FFEAB1">
                <a:alpha val="69804"/>
              </a:srgbClr>
            </a:solidFill>
          </p:spPr>
          <p:txBody>
            <a:bodyPr/>
            <a:lstStyle/>
            <a:p>
              <a:endParaRPr lang="en-US"/>
            </a:p>
          </p:txBody>
        </p:sp>
        <p:sp>
          <p:nvSpPr>
            <p:cNvPr id="30" name="TextBox 30"/>
            <p:cNvSpPr txBox="1"/>
            <p:nvPr/>
          </p:nvSpPr>
          <p:spPr>
            <a:xfrm>
              <a:off x="0" y="-28575"/>
              <a:ext cx="483840" cy="299297"/>
            </a:xfrm>
            <a:prstGeom prst="rect">
              <a:avLst/>
            </a:prstGeom>
          </p:spPr>
          <p:txBody>
            <a:bodyPr lIns="50800" tIns="50800" rIns="50800" bIns="50800" rtlCol="0" anchor="ctr"/>
            <a:lstStyle/>
            <a:p>
              <a:pPr algn="ctr">
                <a:lnSpc>
                  <a:spcPts val="1960"/>
                </a:lnSpc>
              </a:pPr>
              <a:endParaRPr/>
            </a:p>
          </p:txBody>
        </p:sp>
      </p:grpSp>
      <p:sp>
        <p:nvSpPr>
          <p:cNvPr id="31" name="TextBox 31"/>
          <p:cNvSpPr txBox="1"/>
          <p:nvPr/>
        </p:nvSpPr>
        <p:spPr>
          <a:xfrm>
            <a:off x="3302228" y="8730962"/>
            <a:ext cx="2012122" cy="533400"/>
          </a:xfrm>
          <a:prstGeom prst="rect">
            <a:avLst/>
          </a:prstGeom>
        </p:spPr>
        <p:txBody>
          <a:bodyPr lIns="0" tIns="0" rIns="0" bIns="0" rtlCol="0" anchor="t">
            <a:spAutoFit/>
          </a:bodyPr>
          <a:lstStyle/>
          <a:p>
            <a:pPr algn="just">
              <a:lnSpc>
                <a:spcPts val="2100"/>
              </a:lnSpc>
            </a:pPr>
            <a:r>
              <a:rPr lang="en-US" sz="1500">
                <a:solidFill>
                  <a:srgbClr val="000000"/>
                </a:solidFill>
                <a:latin typeface="Montserrat"/>
                <a:ea typeface="Montserrat"/>
                <a:cs typeface="Montserrat"/>
                <a:sym typeface="Montserrat"/>
              </a:rPr>
              <a:t>Digital Nudges</a:t>
            </a:r>
          </a:p>
          <a:p>
            <a:pPr algn="just">
              <a:lnSpc>
                <a:spcPts val="2100"/>
              </a:lnSpc>
              <a:spcBef>
                <a:spcPct val="0"/>
              </a:spcBef>
            </a:pPr>
            <a:r>
              <a:rPr lang="en-US" sz="1500">
                <a:solidFill>
                  <a:srgbClr val="000000"/>
                </a:solidFill>
                <a:latin typeface="Montserrat"/>
                <a:ea typeface="Montserrat"/>
                <a:cs typeface="Montserrat"/>
                <a:sym typeface="Montserrat"/>
              </a:rPr>
              <a:t>Suitable Products</a:t>
            </a:r>
          </a:p>
        </p:txBody>
      </p:sp>
      <p:sp>
        <p:nvSpPr>
          <p:cNvPr id="32" name="TextBox 32"/>
          <p:cNvSpPr txBox="1"/>
          <p:nvPr/>
        </p:nvSpPr>
        <p:spPr>
          <a:xfrm>
            <a:off x="1183254" y="8829069"/>
            <a:ext cx="1805429"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Low Reach</a:t>
            </a:r>
          </a:p>
        </p:txBody>
      </p:sp>
      <p:grpSp>
        <p:nvGrpSpPr>
          <p:cNvPr id="33" name="Group 33"/>
          <p:cNvGrpSpPr/>
          <p:nvPr/>
        </p:nvGrpSpPr>
        <p:grpSpPr>
          <a:xfrm>
            <a:off x="3126378" y="7251439"/>
            <a:ext cx="2363822" cy="1018374"/>
            <a:chOff x="0" y="0"/>
            <a:chExt cx="622570" cy="268214"/>
          </a:xfrm>
        </p:grpSpPr>
        <p:sp>
          <p:nvSpPr>
            <p:cNvPr id="34" name="Freeform 34"/>
            <p:cNvSpPr/>
            <p:nvPr/>
          </p:nvSpPr>
          <p:spPr>
            <a:xfrm>
              <a:off x="0" y="0"/>
              <a:ext cx="622570" cy="268214"/>
            </a:xfrm>
            <a:custGeom>
              <a:avLst/>
              <a:gdLst/>
              <a:ahLst/>
              <a:cxnLst/>
              <a:rect l="l" t="t" r="r" b="b"/>
              <a:pathLst>
                <a:path w="622570" h="268214">
                  <a:moveTo>
                    <a:pt x="65503" y="0"/>
                  </a:moveTo>
                  <a:lnTo>
                    <a:pt x="557067" y="0"/>
                  </a:lnTo>
                  <a:cubicBezTo>
                    <a:pt x="593244" y="0"/>
                    <a:pt x="622570" y="29327"/>
                    <a:pt x="622570" y="65503"/>
                  </a:cubicBezTo>
                  <a:lnTo>
                    <a:pt x="622570" y="202710"/>
                  </a:lnTo>
                  <a:cubicBezTo>
                    <a:pt x="622570" y="220083"/>
                    <a:pt x="615669" y="236744"/>
                    <a:pt x="603385" y="249028"/>
                  </a:cubicBezTo>
                  <a:cubicBezTo>
                    <a:pt x="591101" y="261313"/>
                    <a:pt x="574440" y="268214"/>
                    <a:pt x="557067" y="268214"/>
                  </a:cubicBezTo>
                  <a:lnTo>
                    <a:pt x="65503" y="268214"/>
                  </a:lnTo>
                  <a:cubicBezTo>
                    <a:pt x="48131" y="268214"/>
                    <a:pt x="31470" y="261313"/>
                    <a:pt x="19186" y="249028"/>
                  </a:cubicBezTo>
                  <a:cubicBezTo>
                    <a:pt x="6901" y="236744"/>
                    <a:pt x="0" y="220083"/>
                    <a:pt x="0" y="202710"/>
                  </a:cubicBezTo>
                  <a:lnTo>
                    <a:pt x="0" y="65503"/>
                  </a:lnTo>
                  <a:cubicBezTo>
                    <a:pt x="0" y="48131"/>
                    <a:pt x="6901" y="31470"/>
                    <a:pt x="19186" y="19186"/>
                  </a:cubicBezTo>
                  <a:cubicBezTo>
                    <a:pt x="31470" y="6901"/>
                    <a:pt x="48131" y="0"/>
                    <a:pt x="65503" y="0"/>
                  </a:cubicBezTo>
                  <a:close/>
                </a:path>
              </a:pathLst>
            </a:custGeom>
            <a:ln w="9525" cap="sq">
              <a:solidFill>
                <a:srgbClr val="E15F4B"/>
              </a:solidFill>
              <a:prstDash val="lgDash"/>
              <a:miter/>
            </a:ln>
          </p:spPr>
          <p:txBody>
            <a:bodyPr/>
            <a:lstStyle/>
            <a:p>
              <a:endParaRPr lang="en-US"/>
            </a:p>
          </p:txBody>
        </p:sp>
        <p:sp>
          <p:nvSpPr>
            <p:cNvPr id="35" name="TextBox 35"/>
            <p:cNvSpPr txBox="1"/>
            <p:nvPr/>
          </p:nvSpPr>
          <p:spPr>
            <a:xfrm>
              <a:off x="0" y="-38100"/>
              <a:ext cx="622570" cy="306314"/>
            </a:xfrm>
            <a:prstGeom prst="rect">
              <a:avLst/>
            </a:prstGeom>
          </p:spPr>
          <p:txBody>
            <a:bodyPr lIns="50800" tIns="50800" rIns="50800" bIns="50800" rtlCol="0" anchor="ctr"/>
            <a:lstStyle/>
            <a:p>
              <a:pPr algn="ctr">
                <a:lnSpc>
                  <a:spcPts val="2800"/>
                </a:lnSpc>
              </a:pPr>
              <a:endParaRPr/>
            </a:p>
          </p:txBody>
        </p:sp>
      </p:grpSp>
      <p:grpSp>
        <p:nvGrpSpPr>
          <p:cNvPr id="36" name="Group 36"/>
          <p:cNvGrpSpPr/>
          <p:nvPr/>
        </p:nvGrpSpPr>
        <p:grpSpPr>
          <a:xfrm>
            <a:off x="1196952" y="7241914"/>
            <a:ext cx="1837082" cy="1027899"/>
            <a:chOff x="0" y="0"/>
            <a:chExt cx="483840" cy="270722"/>
          </a:xfrm>
        </p:grpSpPr>
        <p:sp>
          <p:nvSpPr>
            <p:cNvPr id="37" name="Freeform 37"/>
            <p:cNvSpPr/>
            <p:nvPr/>
          </p:nvSpPr>
          <p:spPr>
            <a:xfrm>
              <a:off x="0" y="0"/>
              <a:ext cx="483840" cy="270722"/>
            </a:xfrm>
            <a:custGeom>
              <a:avLst/>
              <a:gdLst/>
              <a:ahLst/>
              <a:cxnLst/>
              <a:rect l="l" t="t" r="r" b="b"/>
              <a:pathLst>
                <a:path w="483840" h="270722">
                  <a:moveTo>
                    <a:pt x="84285" y="0"/>
                  </a:moveTo>
                  <a:lnTo>
                    <a:pt x="399555" y="0"/>
                  </a:lnTo>
                  <a:cubicBezTo>
                    <a:pt x="446105" y="0"/>
                    <a:pt x="483840" y="37736"/>
                    <a:pt x="483840" y="84285"/>
                  </a:cubicBezTo>
                  <a:lnTo>
                    <a:pt x="483840" y="186437"/>
                  </a:lnTo>
                  <a:cubicBezTo>
                    <a:pt x="483840" y="232987"/>
                    <a:pt x="446105" y="270722"/>
                    <a:pt x="399555" y="270722"/>
                  </a:cubicBezTo>
                  <a:lnTo>
                    <a:pt x="84285" y="270722"/>
                  </a:lnTo>
                  <a:cubicBezTo>
                    <a:pt x="37736" y="270722"/>
                    <a:pt x="0" y="232987"/>
                    <a:pt x="0" y="186437"/>
                  </a:cubicBezTo>
                  <a:lnTo>
                    <a:pt x="0" y="84285"/>
                  </a:lnTo>
                  <a:cubicBezTo>
                    <a:pt x="0" y="37736"/>
                    <a:pt x="37736" y="0"/>
                    <a:pt x="84285" y="0"/>
                  </a:cubicBezTo>
                  <a:close/>
                </a:path>
              </a:pathLst>
            </a:custGeom>
            <a:solidFill>
              <a:srgbClr val="FFEAB1">
                <a:alpha val="69804"/>
              </a:srgbClr>
            </a:solidFill>
          </p:spPr>
          <p:txBody>
            <a:bodyPr/>
            <a:lstStyle/>
            <a:p>
              <a:endParaRPr lang="en-US"/>
            </a:p>
          </p:txBody>
        </p:sp>
        <p:sp>
          <p:nvSpPr>
            <p:cNvPr id="38" name="TextBox 38"/>
            <p:cNvSpPr txBox="1"/>
            <p:nvPr/>
          </p:nvSpPr>
          <p:spPr>
            <a:xfrm>
              <a:off x="0" y="-28575"/>
              <a:ext cx="483840" cy="299297"/>
            </a:xfrm>
            <a:prstGeom prst="rect">
              <a:avLst/>
            </a:prstGeom>
          </p:spPr>
          <p:txBody>
            <a:bodyPr lIns="50800" tIns="50800" rIns="50800" bIns="50800" rtlCol="0" anchor="ctr"/>
            <a:lstStyle/>
            <a:p>
              <a:pPr algn="ctr">
                <a:lnSpc>
                  <a:spcPts val="1960"/>
                </a:lnSpc>
              </a:pPr>
              <a:endParaRPr/>
            </a:p>
          </p:txBody>
        </p:sp>
      </p:grpSp>
      <p:sp>
        <p:nvSpPr>
          <p:cNvPr id="39" name="TextBox 39"/>
          <p:cNvSpPr txBox="1"/>
          <p:nvPr/>
        </p:nvSpPr>
        <p:spPr>
          <a:xfrm>
            <a:off x="3302228" y="7474876"/>
            <a:ext cx="2434823" cy="533400"/>
          </a:xfrm>
          <a:prstGeom prst="rect">
            <a:avLst/>
          </a:prstGeom>
        </p:spPr>
        <p:txBody>
          <a:bodyPr lIns="0" tIns="0" rIns="0" bIns="0" rtlCol="0" anchor="t">
            <a:spAutoFit/>
          </a:bodyPr>
          <a:lstStyle/>
          <a:p>
            <a:pPr algn="just">
              <a:lnSpc>
                <a:spcPts val="2100"/>
              </a:lnSpc>
            </a:pPr>
            <a:r>
              <a:rPr lang="en-US" sz="1500">
                <a:solidFill>
                  <a:srgbClr val="000000"/>
                </a:solidFill>
                <a:latin typeface="Montserrat"/>
                <a:ea typeface="Montserrat"/>
                <a:cs typeface="Montserrat"/>
                <a:sym typeface="Montserrat"/>
              </a:rPr>
              <a:t>Financial Education</a:t>
            </a:r>
          </a:p>
          <a:p>
            <a:pPr algn="just">
              <a:lnSpc>
                <a:spcPts val="2100"/>
              </a:lnSpc>
              <a:spcBef>
                <a:spcPct val="0"/>
              </a:spcBef>
            </a:pPr>
            <a:r>
              <a:rPr lang="en-US" sz="1500">
                <a:solidFill>
                  <a:srgbClr val="000000"/>
                </a:solidFill>
                <a:latin typeface="Montserrat"/>
                <a:ea typeface="Montserrat"/>
                <a:cs typeface="Montserrat"/>
                <a:sym typeface="Montserrat"/>
              </a:rPr>
              <a:t>Planning Reminders</a:t>
            </a:r>
          </a:p>
        </p:txBody>
      </p:sp>
      <p:sp>
        <p:nvSpPr>
          <p:cNvPr id="40" name="TextBox 40"/>
          <p:cNvSpPr txBox="1"/>
          <p:nvPr/>
        </p:nvSpPr>
        <p:spPr>
          <a:xfrm>
            <a:off x="1151601" y="7510351"/>
            <a:ext cx="1805429"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High Reach</a:t>
            </a:r>
          </a:p>
        </p:txBody>
      </p:sp>
      <p:grpSp>
        <p:nvGrpSpPr>
          <p:cNvPr id="41" name="Group 41"/>
          <p:cNvGrpSpPr/>
          <p:nvPr/>
        </p:nvGrpSpPr>
        <p:grpSpPr>
          <a:xfrm>
            <a:off x="5737051" y="8568717"/>
            <a:ext cx="2363822" cy="1018374"/>
            <a:chOff x="0" y="0"/>
            <a:chExt cx="622570" cy="268214"/>
          </a:xfrm>
        </p:grpSpPr>
        <p:sp>
          <p:nvSpPr>
            <p:cNvPr id="42" name="Freeform 42"/>
            <p:cNvSpPr/>
            <p:nvPr/>
          </p:nvSpPr>
          <p:spPr>
            <a:xfrm>
              <a:off x="0" y="0"/>
              <a:ext cx="622570" cy="268214"/>
            </a:xfrm>
            <a:custGeom>
              <a:avLst/>
              <a:gdLst/>
              <a:ahLst/>
              <a:cxnLst/>
              <a:rect l="l" t="t" r="r" b="b"/>
              <a:pathLst>
                <a:path w="622570" h="268214">
                  <a:moveTo>
                    <a:pt x="65503" y="0"/>
                  </a:moveTo>
                  <a:lnTo>
                    <a:pt x="557067" y="0"/>
                  </a:lnTo>
                  <a:cubicBezTo>
                    <a:pt x="593244" y="0"/>
                    <a:pt x="622570" y="29327"/>
                    <a:pt x="622570" y="65503"/>
                  </a:cubicBezTo>
                  <a:lnTo>
                    <a:pt x="622570" y="202710"/>
                  </a:lnTo>
                  <a:cubicBezTo>
                    <a:pt x="622570" y="220083"/>
                    <a:pt x="615669" y="236744"/>
                    <a:pt x="603385" y="249028"/>
                  </a:cubicBezTo>
                  <a:cubicBezTo>
                    <a:pt x="591101" y="261313"/>
                    <a:pt x="574440" y="268214"/>
                    <a:pt x="557067" y="268214"/>
                  </a:cubicBezTo>
                  <a:lnTo>
                    <a:pt x="65503" y="268214"/>
                  </a:lnTo>
                  <a:cubicBezTo>
                    <a:pt x="48131" y="268214"/>
                    <a:pt x="31470" y="261313"/>
                    <a:pt x="19186" y="249028"/>
                  </a:cubicBezTo>
                  <a:cubicBezTo>
                    <a:pt x="6901" y="236744"/>
                    <a:pt x="0" y="220083"/>
                    <a:pt x="0" y="202710"/>
                  </a:cubicBezTo>
                  <a:lnTo>
                    <a:pt x="0" y="65503"/>
                  </a:lnTo>
                  <a:cubicBezTo>
                    <a:pt x="0" y="48131"/>
                    <a:pt x="6901" y="31470"/>
                    <a:pt x="19186" y="19186"/>
                  </a:cubicBezTo>
                  <a:cubicBezTo>
                    <a:pt x="31470" y="6901"/>
                    <a:pt x="48131" y="0"/>
                    <a:pt x="65503" y="0"/>
                  </a:cubicBezTo>
                  <a:close/>
                </a:path>
              </a:pathLst>
            </a:custGeom>
            <a:ln w="9525" cap="sq">
              <a:solidFill>
                <a:srgbClr val="E15F4B"/>
              </a:solidFill>
              <a:prstDash val="lgDash"/>
              <a:miter/>
            </a:ln>
          </p:spPr>
          <p:txBody>
            <a:bodyPr/>
            <a:lstStyle/>
            <a:p>
              <a:endParaRPr lang="en-US"/>
            </a:p>
          </p:txBody>
        </p:sp>
        <p:sp>
          <p:nvSpPr>
            <p:cNvPr id="43" name="TextBox 43"/>
            <p:cNvSpPr txBox="1"/>
            <p:nvPr/>
          </p:nvSpPr>
          <p:spPr>
            <a:xfrm>
              <a:off x="0" y="-38100"/>
              <a:ext cx="622570" cy="306314"/>
            </a:xfrm>
            <a:prstGeom prst="rect">
              <a:avLst/>
            </a:prstGeom>
          </p:spPr>
          <p:txBody>
            <a:bodyPr lIns="50800" tIns="50800" rIns="50800" bIns="50800" rtlCol="0" anchor="ctr"/>
            <a:lstStyle/>
            <a:p>
              <a:pPr algn="ctr">
                <a:lnSpc>
                  <a:spcPts val="2800"/>
                </a:lnSpc>
              </a:pPr>
              <a:endParaRPr/>
            </a:p>
          </p:txBody>
        </p:sp>
      </p:grpSp>
      <p:sp>
        <p:nvSpPr>
          <p:cNvPr id="44" name="TextBox 44"/>
          <p:cNvSpPr txBox="1"/>
          <p:nvPr/>
        </p:nvSpPr>
        <p:spPr>
          <a:xfrm>
            <a:off x="6003751" y="8869075"/>
            <a:ext cx="2012122" cy="2667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Spend Alerts</a:t>
            </a:r>
          </a:p>
        </p:txBody>
      </p:sp>
      <p:grpSp>
        <p:nvGrpSpPr>
          <p:cNvPr id="45" name="Group 45"/>
          <p:cNvGrpSpPr/>
          <p:nvPr/>
        </p:nvGrpSpPr>
        <p:grpSpPr>
          <a:xfrm>
            <a:off x="5763398" y="7307869"/>
            <a:ext cx="2363822" cy="1018374"/>
            <a:chOff x="0" y="0"/>
            <a:chExt cx="622570" cy="268214"/>
          </a:xfrm>
        </p:grpSpPr>
        <p:sp>
          <p:nvSpPr>
            <p:cNvPr id="46" name="Freeform 46"/>
            <p:cNvSpPr/>
            <p:nvPr/>
          </p:nvSpPr>
          <p:spPr>
            <a:xfrm>
              <a:off x="0" y="0"/>
              <a:ext cx="622570" cy="268214"/>
            </a:xfrm>
            <a:custGeom>
              <a:avLst/>
              <a:gdLst/>
              <a:ahLst/>
              <a:cxnLst/>
              <a:rect l="l" t="t" r="r" b="b"/>
              <a:pathLst>
                <a:path w="622570" h="268214">
                  <a:moveTo>
                    <a:pt x="65503" y="0"/>
                  </a:moveTo>
                  <a:lnTo>
                    <a:pt x="557067" y="0"/>
                  </a:lnTo>
                  <a:cubicBezTo>
                    <a:pt x="593244" y="0"/>
                    <a:pt x="622570" y="29327"/>
                    <a:pt x="622570" y="65503"/>
                  </a:cubicBezTo>
                  <a:lnTo>
                    <a:pt x="622570" y="202710"/>
                  </a:lnTo>
                  <a:cubicBezTo>
                    <a:pt x="622570" y="220083"/>
                    <a:pt x="615669" y="236744"/>
                    <a:pt x="603385" y="249028"/>
                  </a:cubicBezTo>
                  <a:cubicBezTo>
                    <a:pt x="591101" y="261313"/>
                    <a:pt x="574440" y="268214"/>
                    <a:pt x="557067" y="268214"/>
                  </a:cubicBezTo>
                  <a:lnTo>
                    <a:pt x="65503" y="268214"/>
                  </a:lnTo>
                  <a:cubicBezTo>
                    <a:pt x="48131" y="268214"/>
                    <a:pt x="31470" y="261313"/>
                    <a:pt x="19186" y="249028"/>
                  </a:cubicBezTo>
                  <a:cubicBezTo>
                    <a:pt x="6901" y="236744"/>
                    <a:pt x="0" y="220083"/>
                    <a:pt x="0" y="202710"/>
                  </a:cubicBezTo>
                  <a:lnTo>
                    <a:pt x="0" y="65503"/>
                  </a:lnTo>
                  <a:cubicBezTo>
                    <a:pt x="0" y="48131"/>
                    <a:pt x="6901" y="31470"/>
                    <a:pt x="19186" y="19186"/>
                  </a:cubicBezTo>
                  <a:cubicBezTo>
                    <a:pt x="31470" y="6901"/>
                    <a:pt x="48131" y="0"/>
                    <a:pt x="65503" y="0"/>
                  </a:cubicBezTo>
                  <a:close/>
                </a:path>
              </a:pathLst>
            </a:custGeom>
            <a:ln w="9525" cap="sq">
              <a:solidFill>
                <a:srgbClr val="E15F4B"/>
              </a:solidFill>
              <a:prstDash val="lgDash"/>
              <a:miter/>
            </a:ln>
          </p:spPr>
          <p:txBody>
            <a:bodyPr/>
            <a:lstStyle/>
            <a:p>
              <a:endParaRPr lang="en-US"/>
            </a:p>
          </p:txBody>
        </p:sp>
        <p:sp>
          <p:nvSpPr>
            <p:cNvPr id="47" name="TextBox 47"/>
            <p:cNvSpPr txBox="1"/>
            <p:nvPr/>
          </p:nvSpPr>
          <p:spPr>
            <a:xfrm>
              <a:off x="0" y="-38100"/>
              <a:ext cx="622570" cy="306314"/>
            </a:xfrm>
            <a:prstGeom prst="rect">
              <a:avLst/>
            </a:prstGeom>
          </p:spPr>
          <p:txBody>
            <a:bodyPr lIns="50800" tIns="50800" rIns="50800" bIns="50800" rtlCol="0" anchor="ctr"/>
            <a:lstStyle/>
            <a:p>
              <a:pPr algn="ctr">
                <a:lnSpc>
                  <a:spcPts val="2800"/>
                </a:lnSpc>
              </a:pPr>
              <a:endParaRPr/>
            </a:p>
          </p:txBody>
        </p:sp>
      </p:grpSp>
      <p:sp>
        <p:nvSpPr>
          <p:cNvPr id="48" name="TextBox 48"/>
          <p:cNvSpPr txBox="1"/>
          <p:nvPr/>
        </p:nvSpPr>
        <p:spPr>
          <a:xfrm>
            <a:off x="6003751" y="7603464"/>
            <a:ext cx="2012122" cy="2667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Budgeting Tools</a:t>
            </a:r>
          </a:p>
        </p:txBody>
      </p:sp>
      <p:grpSp>
        <p:nvGrpSpPr>
          <p:cNvPr id="49" name="Group 49"/>
          <p:cNvGrpSpPr/>
          <p:nvPr/>
        </p:nvGrpSpPr>
        <p:grpSpPr>
          <a:xfrm>
            <a:off x="3179296" y="6361347"/>
            <a:ext cx="2284558" cy="709118"/>
            <a:chOff x="0" y="0"/>
            <a:chExt cx="601694" cy="186763"/>
          </a:xfrm>
        </p:grpSpPr>
        <p:sp>
          <p:nvSpPr>
            <p:cNvPr id="50" name="Freeform 50"/>
            <p:cNvSpPr/>
            <p:nvPr/>
          </p:nvSpPr>
          <p:spPr>
            <a:xfrm>
              <a:off x="0" y="0"/>
              <a:ext cx="601694" cy="186763"/>
            </a:xfrm>
            <a:custGeom>
              <a:avLst/>
              <a:gdLst/>
              <a:ahLst/>
              <a:cxnLst/>
              <a:rect l="l" t="t" r="r" b="b"/>
              <a:pathLst>
                <a:path w="601694" h="186763">
                  <a:moveTo>
                    <a:pt x="67776" y="0"/>
                  </a:moveTo>
                  <a:lnTo>
                    <a:pt x="533918" y="0"/>
                  </a:lnTo>
                  <a:cubicBezTo>
                    <a:pt x="571350" y="0"/>
                    <a:pt x="601694" y="30344"/>
                    <a:pt x="601694" y="67776"/>
                  </a:cubicBezTo>
                  <a:lnTo>
                    <a:pt x="601694" y="118987"/>
                  </a:lnTo>
                  <a:cubicBezTo>
                    <a:pt x="601694" y="156419"/>
                    <a:pt x="571350" y="186763"/>
                    <a:pt x="533918" y="186763"/>
                  </a:cubicBezTo>
                  <a:lnTo>
                    <a:pt x="67776" y="186763"/>
                  </a:lnTo>
                  <a:cubicBezTo>
                    <a:pt x="49801" y="186763"/>
                    <a:pt x="32562" y="179623"/>
                    <a:pt x="19851" y="166912"/>
                  </a:cubicBezTo>
                  <a:cubicBezTo>
                    <a:pt x="7141" y="154202"/>
                    <a:pt x="0" y="136963"/>
                    <a:pt x="0" y="118987"/>
                  </a:cubicBezTo>
                  <a:lnTo>
                    <a:pt x="0" y="67776"/>
                  </a:lnTo>
                  <a:cubicBezTo>
                    <a:pt x="0" y="30344"/>
                    <a:pt x="30344" y="0"/>
                    <a:pt x="67776" y="0"/>
                  </a:cubicBezTo>
                  <a:close/>
                </a:path>
              </a:pathLst>
            </a:custGeom>
            <a:solidFill>
              <a:srgbClr val="FFEAB1">
                <a:alpha val="69804"/>
              </a:srgbClr>
            </a:solidFill>
          </p:spPr>
          <p:txBody>
            <a:bodyPr/>
            <a:lstStyle/>
            <a:p>
              <a:endParaRPr lang="en-US"/>
            </a:p>
          </p:txBody>
        </p:sp>
        <p:sp>
          <p:nvSpPr>
            <p:cNvPr id="51" name="TextBox 51"/>
            <p:cNvSpPr txBox="1"/>
            <p:nvPr/>
          </p:nvSpPr>
          <p:spPr>
            <a:xfrm>
              <a:off x="0" y="-28575"/>
              <a:ext cx="601694" cy="215338"/>
            </a:xfrm>
            <a:prstGeom prst="rect">
              <a:avLst/>
            </a:prstGeom>
          </p:spPr>
          <p:txBody>
            <a:bodyPr lIns="50800" tIns="50800" rIns="50800" bIns="50800" rtlCol="0" anchor="ctr"/>
            <a:lstStyle/>
            <a:p>
              <a:pPr algn="ctr">
                <a:lnSpc>
                  <a:spcPts val="1960"/>
                </a:lnSpc>
              </a:pPr>
              <a:endParaRPr/>
            </a:p>
          </p:txBody>
        </p:sp>
      </p:grpSp>
      <p:sp>
        <p:nvSpPr>
          <p:cNvPr id="52" name="TextBox 52"/>
          <p:cNvSpPr txBox="1"/>
          <p:nvPr/>
        </p:nvSpPr>
        <p:spPr>
          <a:xfrm>
            <a:off x="3131037" y="6523272"/>
            <a:ext cx="1921187"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Low Impact</a:t>
            </a:r>
          </a:p>
        </p:txBody>
      </p:sp>
      <p:grpSp>
        <p:nvGrpSpPr>
          <p:cNvPr id="53" name="Group 53"/>
          <p:cNvGrpSpPr/>
          <p:nvPr/>
        </p:nvGrpSpPr>
        <p:grpSpPr>
          <a:xfrm>
            <a:off x="5763398" y="6338887"/>
            <a:ext cx="2363822" cy="731577"/>
            <a:chOff x="0" y="0"/>
            <a:chExt cx="622570" cy="192679"/>
          </a:xfrm>
        </p:grpSpPr>
        <p:sp>
          <p:nvSpPr>
            <p:cNvPr id="54" name="Freeform 54"/>
            <p:cNvSpPr/>
            <p:nvPr/>
          </p:nvSpPr>
          <p:spPr>
            <a:xfrm>
              <a:off x="0" y="0"/>
              <a:ext cx="622570" cy="192679"/>
            </a:xfrm>
            <a:custGeom>
              <a:avLst/>
              <a:gdLst/>
              <a:ahLst/>
              <a:cxnLst/>
              <a:rect l="l" t="t" r="r" b="b"/>
              <a:pathLst>
                <a:path w="622570" h="192679">
                  <a:moveTo>
                    <a:pt x="65503" y="0"/>
                  </a:moveTo>
                  <a:lnTo>
                    <a:pt x="557067" y="0"/>
                  </a:lnTo>
                  <a:cubicBezTo>
                    <a:pt x="593244" y="0"/>
                    <a:pt x="622570" y="29327"/>
                    <a:pt x="622570" y="65503"/>
                  </a:cubicBezTo>
                  <a:lnTo>
                    <a:pt x="622570" y="127175"/>
                  </a:lnTo>
                  <a:cubicBezTo>
                    <a:pt x="622570" y="144548"/>
                    <a:pt x="615669" y="161209"/>
                    <a:pt x="603385" y="173493"/>
                  </a:cubicBezTo>
                  <a:cubicBezTo>
                    <a:pt x="591101" y="185777"/>
                    <a:pt x="574440" y="192679"/>
                    <a:pt x="557067" y="192679"/>
                  </a:cubicBezTo>
                  <a:lnTo>
                    <a:pt x="65503" y="192679"/>
                  </a:lnTo>
                  <a:cubicBezTo>
                    <a:pt x="48131" y="192679"/>
                    <a:pt x="31470" y="185777"/>
                    <a:pt x="19186" y="173493"/>
                  </a:cubicBezTo>
                  <a:cubicBezTo>
                    <a:pt x="6901" y="161209"/>
                    <a:pt x="0" y="144548"/>
                    <a:pt x="0" y="127175"/>
                  </a:cubicBezTo>
                  <a:lnTo>
                    <a:pt x="0" y="65503"/>
                  </a:lnTo>
                  <a:cubicBezTo>
                    <a:pt x="0" y="48131"/>
                    <a:pt x="6901" y="31470"/>
                    <a:pt x="19186" y="19186"/>
                  </a:cubicBezTo>
                  <a:cubicBezTo>
                    <a:pt x="31470" y="6901"/>
                    <a:pt x="48131" y="0"/>
                    <a:pt x="65503" y="0"/>
                  </a:cubicBezTo>
                  <a:close/>
                </a:path>
              </a:pathLst>
            </a:custGeom>
            <a:solidFill>
              <a:srgbClr val="FFEAB1">
                <a:alpha val="69804"/>
              </a:srgbClr>
            </a:solidFill>
          </p:spPr>
          <p:txBody>
            <a:bodyPr/>
            <a:lstStyle/>
            <a:p>
              <a:endParaRPr lang="en-US"/>
            </a:p>
          </p:txBody>
        </p:sp>
        <p:sp>
          <p:nvSpPr>
            <p:cNvPr id="55" name="TextBox 55"/>
            <p:cNvSpPr txBox="1"/>
            <p:nvPr/>
          </p:nvSpPr>
          <p:spPr>
            <a:xfrm>
              <a:off x="0" y="-28575"/>
              <a:ext cx="622570" cy="221254"/>
            </a:xfrm>
            <a:prstGeom prst="rect">
              <a:avLst/>
            </a:prstGeom>
          </p:spPr>
          <p:txBody>
            <a:bodyPr lIns="50800" tIns="50800" rIns="50800" bIns="50800" rtlCol="0" anchor="ctr"/>
            <a:lstStyle/>
            <a:p>
              <a:pPr algn="ctr">
                <a:lnSpc>
                  <a:spcPts val="1960"/>
                </a:lnSpc>
              </a:pPr>
              <a:endParaRPr/>
            </a:p>
          </p:txBody>
        </p:sp>
      </p:grpSp>
      <p:sp>
        <p:nvSpPr>
          <p:cNvPr id="56" name="TextBox 56"/>
          <p:cNvSpPr txBox="1"/>
          <p:nvPr/>
        </p:nvSpPr>
        <p:spPr>
          <a:xfrm>
            <a:off x="5912902" y="6543503"/>
            <a:ext cx="1921187"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High Impact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FFFF"/>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14557794" y="9842251"/>
            <a:ext cx="3111697" cy="388319"/>
            <a:chOff x="0" y="0"/>
            <a:chExt cx="819542" cy="102273"/>
          </a:xfrm>
        </p:grpSpPr>
        <p:sp>
          <p:nvSpPr>
            <p:cNvPr id="7" name="Freeform 7"/>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8" name="TextBox 8"/>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9" name="AutoShape 9"/>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10" name="Group 10"/>
          <p:cNvGrpSpPr/>
          <p:nvPr/>
        </p:nvGrpSpPr>
        <p:grpSpPr>
          <a:xfrm>
            <a:off x="967149" y="147997"/>
            <a:ext cx="16364245" cy="379415"/>
            <a:chOff x="0" y="0"/>
            <a:chExt cx="21818994" cy="505887"/>
          </a:xfrm>
        </p:grpSpPr>
        <p:sp>
          <p:nvSpPr>
            <p:cNvPr id="11" name="Freeform 11"/>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12" name="TextBox 12"/>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3" name="Group 13"/>
          <p:cNvGrpSpPr/>
          <p:nvPr/>
        </p:nvGrpSpPr>
        <p:grpSpPr>
          <a:xfrm>
            <a:off x="923268" y="147997"/>
            <a:ext cx="16364245" cy="1034066"/>
            <a:chOff x="0" y="0"/>
            <a:chExt cx="21818994" cy="1378755"/>
          </a:xfrm>
        </p:grpSpPr>
        <p:sp>
          <p:nvSpPr>
            <p:cNvPr id="14" name="Freeform 14"/>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5" name="TextBox 15"/>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Recommendation</a:t>
              </a:r>
            </a:p>
            <a:p>
              <a:pPr algn="l">
                <a:lnSpc>
                  <a:spcPts val="3500"/>
                </a:lnSpc>
              </a:pPr>
              <a:r>
                <a:rPr lang="en-US" sz="2500">
                  <a:solidFill>
                    <a:srgbClr val="000000"/>
                  </a:solidFill>
                  <a:latin typeface="Montserrat"/>
                  <a:ea typeface="Montserrat"/>
                  <a:cs typeface="Montserrat"/>
                  <a:sym typeface="Montserrat"/>
                </a:rPr>
                <a:t>Six non-punitive interventions</a:t>
              </a:r>
            </a:p>
          </p:txBody>
        </p:sp>
      </p:grpSp>
      <p:grpSp>
        <p:nvGrpSpPr>
          <p:cNvPr id="16" name="Group 16"/>
          <p:cNvGrpSpPr/>
          <p:nvPr/>
        </p:nvGrpSpPr>
        <p:grpSpPr>
          <a:xfrm>
            <a:off x="3" y="234756"/>
            <a:ext cx="734804" cy="442640"/>
            <a:chOff x="0" y="0"/>
            <a:chExt cx="626275" cy="377263"/>
          </a:xfrm>
        </p:grpSpPr>
        <p:sp>
          <p:nvSpPr>
            <p:cNvPr id="17" name="Freeform 17"/>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18" name="Group 18"/>
          <p:cNvGrpSpPr/>
          <p:nvPr/>
        </p:nvGrpSpPr>
        <p:grpSpPr>
          <a:xfrm>
            <a:off x="523718" y="1545259"/>
            <a:ext cx="5078722" cy="494982"/>
            <a:chOff x="0" y="0"/>
            <a:chExt cx="6771630" cy="659977"/>
          </a:xfrm>
        </p:grpSpPr>
        <p:sp>
          <p:nvSpPr>
            <p:cNvPr id="19" name="Freeform 19"/>
            <p:cNvSpPr/>
            <p:nvPr/>
          </p:nvSpPr>
          <p:spPr>
            <a:xfrm>
              <a:off x="0" y="0"/>
              <a:ext cx="6771629" cy="659975"/>
            </a:xfrm>
            <a:custGeom>
              <a:avLst/>
              <a:gdLst/>
              <a:ahLst/>
              <a:cxnLst/>
              <a:rect l="l" t="t" r="r" b="b"/>
              <a:pathLst>
                <a:path w="6771629" h="659975">
                  <a:moveTo>
                    <a:pt x="0" y="0"/>
                  </a:moveTo>
                  <a:lnTo>
                    <a:pt x="6771629" y="0"/>
                  </a:lnTo>
                  <a:lnTo>
                    <a:pt x="6771629" y="659975"/>
                  </a:lnTo>
                  <a:lnTo>
                    <a:pt x="0" y="659975"/>
                  </a:lnTo>
                  <a:close/>
                </a:path>
              </a:pathLst>
            </a:custGeom>
            <a:blipFill>
              <a:blip r:embed="rId2">
                <a:alphaModFix amt="0"/>
              </a:blip>
              <a:stretch>
                <a:fillRect t="-554243" r="-222211" b="-634119"/>
              </a:stretch>
            </a:blipFill>
          </p:spPr>
          <p:txBody>
            <a:bodyPr/>
            <a:lstStyle/>
            <a:p>
              <a:endParaRPr lang="en-US"/>
            </a:p>
          </p:txBody>
        </p:sp>
        <p:sp>
          <p:nvSpPr>
            <p:cNvPr id="20" name="TextBox 20"/>
            <p:cNvSpPr txBox="1"/>
            <p:nvPr/>
          </p:nvSpPr>
          <p:spPr>
            <a:xfrm>
              <a:off x="0" y="-38100"/>
              <a:ext cx="6771630"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Budgeting tools</a:t>
              </a:r>
            </a:p>
          </p:txBody>
        </p:sp>
      </p:grpSp>
      <p:grpSp>
        <p:nvGrpSpPr>
          <p:cNvPr id="21" name="Group 21"/>
          <p:cNvGrpSpPr/>
          <p:nvPr/>
        </p:nvGrpSpPr>
        <p:grpSpPr>
          <a:xfrm>
            <a:off x="2155156" y="2115819"/>
            <a:ext cx="9095187" cy="1025844"/>
            <a:chOff x="0" y="0"/>
            <a:chExt cx="2395440" cy="270181"/>
          </a:xfrm>
        </p:grpSpPr>
        <p:sp>
          <p:nvSpPr>
            <p:cNvPr id="22" name="Freeform 22"/>
            <p:cNvSpPr/>
            <p:nvPr/>
          </p:nvSpPr>
          <p:spPr>
            <a:xfrm>
              <a:off x="0" y="0"/>
              <a:ext cx="2395440" cy="270181"/>
            </a:xfrm>
            <a:custGeom>
              <a:avLst/>
              <a:gdLst/>
              <a:ahLst/>
              <a:cxnLst/>
              <a:rect l="l" t="t" r="r" b="b"/>
              <a:pathLst>
                <a:path w="2395440" h="270181">
                  <a:moveTo>
                    <a:pt x="17024" y="0"/>
                  </a:moveTo>
                  <a:lnTo>
                    <a:pt x="2378416" y="0"/>
                  </a:lnTo>
                  <a:cubicBezTo>
                    <a:pt x="2382931" y="0"/>
                    <a:pt x="2387261" y="1794"/>
                    <a:pt x="2390454" y="4986"/>
                  </a:cubicBezTo>
                  <a:cubicBezTo>
                    <a:pt x="2393647" y="8179"/>
                    <a:pt x="2395440" y="12509"/>
                    <a:pt x="2395440" y="17024"/>
                  </a:cubicBezTo>
                  <a:lnTo>
                    <a:pt x="2395440" y="253157"/>
                  </a:lnTo>
                  <a:cubicBezTo>
                    <a:pt x="2395440" y="262559"/>
                    <a:pt x="2387818" y="270181"/>
                    <a:pt x="2378416" y="270181"/>
                  </a:cubicBezTo>
                  <a:lnTo>
                    <a:pt x="17024" y="270181"/>
                  </a:lnTo>
                  <a:cubicBezTo>
                    <a:pt x="7622" y="270181"/>
                    <a:pt x="0" y="262559"/>
                    <a:pt x="0" y="253157"/>
                  </a:cubicBezTo>
                  <a:lnTo>
                    <a:pt x="0" y="17024"/>
                  </a:lnTo>
                  <a:cubicBezTo>
                    <a:pt x="0" y="7622"/>
                    <a:pt x="7622" y="0"/>
                    <a:pt x="17024" y="0"/>
                  </a:cubicBezTo>
                  <a:close/>
                </a:path>
              </a:pathLst>
            </a:custGeom>
            <a:ln w="9525" cap="sq">
              <a:solidFill>
                <a:srgbClr val="E15F4B"/>
              </a:solidFill>
              <a:prstDash val="lgDash"/>
              <a:miter/>
            </a:ln>
          </p:spPr>
          <p:txBody>
            <a:bodyPr/>
            <a:lstStyle/>
            <a:p>
              <a:endParaRPr lang="en-US"/>
            </a:p>
          </p:txBody>
        </p:sp>
        <p:sp>
          <p:nvSpPr>
            <p:cNvPr id="23" name="TextBox 23"/>
            <p:cNvSpPr txBox="1"/>
            <p:nvPr/>
          </p:nvSpPr>
          <p:spPr>
            <a:xfrm>
              <a:off x="0" y="-38100"/>
              <a:ext cx="2395440" cy="308281"/>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506621" y="2115819"/>
            <a:ext cx="1542015" cy="1025844"/>
            <a:chOff x="0" y="0"/>
            <a:chExt cx="406128" cy="270181"/>
          </a:xfrm>
        </p:grpSpPr>
        <p:sp>
          <p:nvSpPr>
            <p:cNvPr id="25" name="Freeform 25"/>
            <p:cNvSpPr/>
            <p:nvPr/>
          </p:nvSpPr>
          <p:spPr>
            <a:xfrm>
              <a:off x="0" y="0"/>
              <a:ext cx="406128" cy="270181"/>
            </a:xfrm>
            <a:custGeom>
              <a:avLst/>
              <a:gdLst/>
              <a:ahLst/>
              <a:cxnLst/>
              <a:rect l="l" t="t" r="r" b="b"/>
              <a:pathLst>
                <a:path w="406128" h="270181">
                  <a:moveTo>
                    <a:pt x="100413" y="0"/>
                  </a:moveTo>
                  <a:lnTo>
                    <a:pt x="305715" y="0"/>
                  </a:lnTo>
                  <a:cubicBezTo>
                    <a:pt x="332346" y="0"/>
                    <a:pt x="357886" y="10579"/>
                    <a:pt x="376717" y="29410"/>
                  </a:cubicBezTo>
                  <a:cubicBezTo>
                    <a:pt x="395548" y="48241"/>
                    <a:pt x="406128" y="73782"/>
                    <a:pt x="406128" y="100413"/>
                  </a:cubicBezTo>
                  <a:lnTo>
                    <a:pt x="406128" y="169768"/>
                  </a:lnTo>
                  <a:cubicBezTo>
                    <a:pt x="406128" y="196399"/>
                    <a:pt x="395548" y="221940"/>
                    <a:pt x="376717" y="240771"/>
                  </a:cubicBezTo>
                  <a:cubicBezTo>
                    <a:pt x="357886" y="259602"/>
                    <a:pt x="332346" y="270181"/>
                    <a:pt x="305715" y="270181"/>
                  </a:cubicBezTo>
                  <a:lnTo>
                    <a:pt x="100413" y="270181"/>
                  </a:lnTo>
                  <a:cubicBezTo>
                    <a:pt x="44956" y="270181"/>
                    <a:pt x="0" y="225225"/>
                    <a:pt x="0" y="169768"/>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26" name="TextBox 26"/>
            <p:cNvSpPr txBox="1"/>
            <p:nvPr/>
          </p:nvSpPr>
          <p:spPr>
            <a:xfrm>
              <a:off x="0" y="-28575"/>
              <a:ext cx="406128" cy="298756"/>
            </a:xfrm>
            <a:prstGeom prst="rect">
              <a:avLst/>
            </a:prstGeom>
          </p:spPr>
          <p:txBody>
            <a:bodyPr lIns="50800" tIns="50800" rIns="50800" bIns="50800" rtlCol="0" anchor="ctr"/>
            <a:lstStyle/>
            <a:p>
              <a:pPr algn="ctr">
                <a:lnSpc>
                  <a:spcPts val="1960"/>
                </a:lnSpc>
              </a:pPr>
              <a:endParaRPr/>
            </a:p>
          </p:txBody>
        </p:sp>
      </p:grpSp>
      <p:grpSp>
        <p:nvGrpSpPr>
          <p:cNvPr id="27" name="Group 27"/>
          <p:cNvGrpSpPr/>
          <p:nvPr/>
        </p:nvGrpSpPr>
        <p:grpSpPr>
          <a:xfrm>
            <a:off x="2167223" y="3275013"/>
            <a:ext cx="9095187" cy="997777"/>
            <a:chOff x="0" y="0"/>
            <a:chExt cx="2395440" cy="262789"/>
          </a:xfrm>
        </p:grpSpPr>
        <p:sp>
          <p:nvSpPr>
            <p:cNvPr id="28" name="Freeform 28"/>
            <p:cNvSpPr/>
            <p:nvPr/>
          </p:nvSpPr>
          <p:spPr>
            <a:xfrm>
              <a:off x="0" y="0"/>
              <a:ext cx="2395440" cy="262789"/>
            </a:xfrm>
            <a:custGeom>
              <a:avLst/>
              <a:gdLst/>
              <a:ahLst/>
              <a:cxnLst/>
              <a:rect l="l" t="t" r="r" b="b"/>
              <a:pathLst>
                <a:path w="2395440" h="262789">
                  <a:moveTo>
                    <a:pt x="17024" y="0"/>
                  </a:moveTo>
                  <a:lnTo>
                    <a:pt x="2378416" y="0"/>
                  </a:lnTo>
                  <a:cubicBezTo>
                    <a:pt x="2382931" y="0"/>
                    <a:pt x="2387261" y="1794"/>
                    <a:pt x="2390454" y="4986"/>
                  </a:cubicBezTo>
                  <a:cubicBezTo>
                    <a:pt x="2393647" y="8179"/>
                    <a:pt x="2395440" y="12509"/>
                    <a:pt x="2395440" y="17024"/>
                  </a:cubicBezTo>
                  <a:lnTo>
                    <a:pt x="2395440" y="245765"/>
                  </a:lnTo>
                  <a:cubicBezTo>
                    <a:pt x="2395440" y="255167"/>
                    <a:pt x="2387818" y="262789"/>
                    <a:pt x="2378416" y="262789"/>
                  </a:cubicBezTo>
                  <a:lnTo>
                    <a:pt x="17024" y="262789"/>
                  </a:lnTo>
                  <a:cubicBezTo>
                    <a:pt x="7622" y="262789"/>
                    <a:pt x="0" y="255167"/>
                    <a:pt x="0" y="245765"/>
                  </a:cubicBezTo>
                  <a:lnTo>
                    <a:pt x="0" y="17024"/>
                  </a:lnTo>
                  <a:cubicBezTo>
                    <a:pt x="0" y="7622"/>
                    <a:pt x="7622" y="0"/>
                    <a:pt x="17024" y="0"/>
                  </a:cubicBezTo>
                  <a:close/>
                </a:path>
              </a:pathLst>
            </a:custGeom>
            <a:ln w="9525" cap="sq">
              <a:solidFill>
                <a:srgbClr val="E15F4B"/>
              </a:solidFill>
              <a:prstDash val="lgDash"/>
              <a:miter/>
            </a:ln>
          </p:spPr>
          <p:txBody>
            <a:bodyPr/>
            <a:lstStyle/>
            <a:p>
              <a:endParaRPr lang="en-US"/>
            </a:p>
          </p:txBody>
        </p:sp>
        <p:sp>
          <p:nvSpPr>
            <p:cNvPr id="29" name="TextBox 29"/>
            <p:cNvSpPr txBox="1"/>
            <p:nvPr/>
          </p:nvSpPr>
          <p:spPr>
            <a:xfrm>
              <a:off x="0" y="-38100"/>
              <a:ext cx="2395440" cy="300889"/>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518687" y="3265488"/>
            <a:ext cx="1542015" cy="1007302"/>
            <a:chOff x="0" y="0"/>
            <a:chExt cx="406128" cy="265298"/>
          </a:xfrm>
        </p:grpSpPr>
        <p:sp>
          <p:nvSpPr>
            <p:cNvPr id="31" name="Freeform 31"/>
            <p:cNvSpPr/>
            <p:nvPr/>
          </p:nvSpPr>
          <p:spPr>
            <a:xfrm>
              <a:off x="0" y="0"/>
              <a:ext cx="406128" cy="265298"/>
            </a:xfrm>
            <a:custGeom>
              <a:avLst/>
              <a:gdLst/>
              <a:ahLst/>
              <a:cxnLst/>
              <a:rect l="l" t="t" r="r" b="b"/>
              <a:pathLst>
                <a:path w="406128" h="265298">
                  <a:moveTo>
                    <a:pt x="100413" y="0"/>
                  </a:moveTo>
                  <a:lnTo>
                    <a:pt x="305715" y="0"/>
                  </a:lnTo>
                  <a:cubicBezTo>
                    <a:pt x="332346" y="0"/>
                    <a:pt x="357886" y="10579"/>
                    <a:pt x="376717" y="29410"/>
                  </a:cubicBezTo>
                  <a:cubicBezTo>
                    <a:pt x="395548" y="48241"/>
                    <a:pt x="406128" y="73782"/>
                    <a:pt x="406128" y="100413"/>
                  </a:cubicBezTo>
                  <a:lnTo>
                    <a:pt x="406128" y="164885"/>
                  </a:lnTo>
                  <a:cubicBezTo>
                    <a:pt x="406128" y="191516"/>
                    <a:pt x="395548" y="217056"/>
                    <a:pt x="376717" y="235887"/>
                  </a:cubicBezTo>
                  <a:cubicBezTo>
                    <a:pt x="357886" y="254718"/>
                    <a:pt x="332346" y="265298"/>
                    <a:pt x="305715" y="265298"/>
                  </a:cubicBezTo>
                  <a:lnTo>
                    <a:pt x="100413" y="265298"/>
                  </a:lnTo>
                  <a:cubicBezTo>
                    <a:pt x="73782" y="265298"/>
                    <a:pt x="48241" y="254718"/>
                    <a:pt x="29410" y="235887"/>
                  </a:cubicBezTo>
                  <a:cubicBezTo>
                    <a:pt x="10579" y="217056"/>
                    <a:pt x="0" y="191516"/>
                    <a:pt x="0" y="164885"/>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32" name="TextBox 32"/>
            <p:cNvSpPr txBox="1"/>
            <p:nvPr/>
          </p:nvSpPr>
          <p:spPr>
            <a:xfrm>
              <a:off x="0" y="-28575"/>
              <a:ext cx="406128" cy="293873"/>
            </a:xfrm>
            <a:prstGeom prst="rect">
              <a:avLst/>
            </a:prstGeom>
          </p:spPr>
          <p:txBody>
            <a:bodyPr lIns="50800" tIns="50800" rIns="50800" bIns="50800" rtlCol="0" anchor="ctr"/>
            <a:lstStyle/>
            <a:p>
              <a:pPr algn="ctr">
                <a:lnSpc>
                  <a:spcPts val="1960"/>
                </a:lnSpc>
              </a:pPr>
              <a:endParaRPr/>
            </a:p>
          </p:txBody>
        </p:sp>
      </p:grpSp>
      <p:grpSp>
        <p:nvGrpSpPr>
          <p:cNvPr id="33" name="Group 33"/>
          <p:cNvGrpSpPr/>
          <p:nvPr/>
        </p:nvGrpSpPr>
        <p:grpSpPr>
          <a:xfrm>
            <a:off x="2192242" y="4406140"/>
            <a:ext cx="3479137" cy="1018374"/>
            <a:chOff x="0" y="0"/>
            <a:chExt cx="916316" cy="268214"/>
          </a:xfrm>
        </p:grpSpPr>
        <p:sp>
          <p:nvSpPr>
            <p:cNvPr id="34" name="Freeform 34"/>
            <p:cNvSpPr/>
            <p:nvPr/>
          </p:nvSpPr>
          <p:spPr>
            <a:xfrm>
              <a:off x="0" y="0"/>
              <a:ext cx="916316" cy="268214"/>
            </a:xfrm>
            <a:custGeom>
              <a:avLst/>
              <a:gdLst/>
              <a:ahLst/>
              <a:cxnLst/>
              <a:rect l="l" t="t" r="r" b="b"/>
              <a:pathLst>
                <a:path w="916316" h="268214">
                  <a:moveTo>
                    <a:pt x="44505" y="0"/>
                  </a:moveTo>
                  <a:lnTo>
                    <a:pt x="871811" y="0"/>
                  </a:lnTo>
                  <a:cubicBezTo>
                    <a:pt x="883614" y="0"/>
                    <a:pt x="894934" y="4689"/>
                    <a:pt x="903281" y="13035"/>
                  </a:cubicBezTo>
                  <a:cubicBezTo>
                    <a:pt x="911627" y="21381"/>
                    <a:pt x="916316" y="32701"/>
                    <a:pt x="916316" y="44505"/>
                  </a:cubicBezTo>
                  <a:lnTo>
                    <a:pt x="916316" y="223709"/>
                  </a:lnTo>
                  <a:cubicBezTo>
                    <a:pt x="916316" y="248288"/>
                    <a:pt x="896390" y="268214"/>
                    <a:pt x="871811" y="268214"/>
                  </a:cubicBezTo>
                  <a:lnTo>
                    <a:pt x="44505" y="268214"/>
                  </a:lnTo>
                  <a:cubicBezTo>
                    <a:pt x="32701" y="268214"/>
                    <a:pt x="21381" y="263525"/>
                    <a:pt x="13035" y="255179"/>
                  </a:cubicBezTo>
                  <a:cubicBezTo>
                    <a:pt x="4689" y="246832"/>
                    <a:pt x="0" y="235512"/>
                    <a:pt x="0" y="223709"/>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35" name="TextBox 35"/>
            <p:cNvSpPr txBox="1"/>
            <p:nvPr/>
          </p:nvSpPr>
          <p:spPr>
            <a:xfrm>
              <a:off x="0" y="-38100"/>
              <a:ext cx="916316" cy="306314"/>
            </a:xfrm>
            <a:prstGeom prst="rect">
              <a:avLst/>
            </a:prstGeom>
          </p:spPr>
          <p:txBody>
            <a:bodyPr lIns="50800" tIns="50800" rIns="50800" bIns="50800" rtlCol="0" anchor="ctr"/>
            <a:lstStyle/>
            <a:p>
              <a:pPr algn="ctr">
                <a:lnSpc>
                  <a:spcPts val="2800"/>
                </a:lnSpc>
              </a:pPr>
              <a:endParaRPr/>
            </a:p>
          </p:txBody>
        </p:sp>
      </p:grpSp>
      <p:grpSp>
        <p:nvGrpSpPr>
          <p:cNvPr id="36" name="Group 36"/>
          <p:cNvGrpSpPr/>
          <p:nvPr/>
        </p:nvGrpSpPr>
        <p:grpSpPr>
          <a:xfrm>
            <a:off x="516681" y="4396615"/>
            <a:ext cx="1570786" cy="1027899"/>
            <a:chOff x="0" y="0"/>
            <a:chExt cx="413705" cy="270722"/>
          </a:xfrm>
        </p:grpSpPr>
        <p:sp>
          <p:nvSpPr>
            <p:cNvPr id="37" name="Freeform 37"/>
            <p:cNvSpPr/>
            <p:nvPr/>
          </p:nvSpPr>
          <p:spPr>
            <a:xfrm>
              <a:off x="0" y="0"/>
              <a:ext cx="413705" cy="270722"/>
            </a:xfrm>
            <a:custGeom>
              <a:avLst/>
              <a:gdLst/>
              <a:ahLst/>
              <a:cxnLst/>
              <a:rect l="l" t="t" r="r" b="b"/>
              <a:pathLst>
                <a:path w="413705" h="270722">
                  <a:moveTo>
                    <a:pt x="98574" y="0"/>
                  </a:moveTo>
                  <a:lnTo>
                    <a:pt x="315131" y="0"/>
                  </a:lnTo>
                  <a:cubicBezTo>
                    <a:pt x="341274" y="0"/>
                    <a:pt x="366347" y="10385"/>
                    <a:pt x="384833" y="28872"/>
                  </a:cubicBezTo>
                  <a:cubicBezTo>
                    <a:pt x="403319" y="47358"/>
                    <a:pt x="413705" y="72430"/>
                    <a:pt x="413705" y="98574"/>
                  </a:cubicBezTo>
                  <a:lnTo>
                    <a:pt x="413705" y="172149"/>
                  </a:lnTo>
                  <a:cubicBezTo>
                    <a:pt x="413705" y="198292"/>
                    <a:pt x="403319" y="223365"/>
                    <a:pt x="384833" y="241851"/>
                  </a:cubicBezTo>
                  <a:cubicBezTo>
                    <a:pt x="366347" y="260337"/>
                    <a:pt x="341274" y="270722"/>
                    <a:pt x="315131" y="270722"/>
                  </a:cubicBezTo>
                  <a:lnTo>
                    <a:pt x="98574" y="270722"/>
                  </a:lnTo>
                  <a:cubicBezTo>
                    <a:pt x="44133" y="270722"/>
                    <a:pt x="0" y="226589"/>
                    <a:pt x="0" y="172149"/>
                  </a:cubicBezTo>
                  <a:lnTo>
                    <a:pt x="0" y="98574"/>
                  </a:lnTo>
                  <a:cubicBezTo>
                    <a:pt x="0" y="44133"/>
                    <a:pt x="44133" y="0"/>
                    <a:pt x="98574" y="0"/>
                  </a:cubicBezTo>
                  <a:close/>
                </a:path>
              </a:pathLst>
            </a:custGeom>
            <a:solidFill>
              <a:srgbClr val="FFEAB1">
                <a:alpha val="69804"/>
              </a:srgbClr>
            </a:solidFill>
          </p:spPr>
          <p:txBody>
            <a:bodyPr/>
            <a:lstStyle/>
            <a:p>
              <a:endParaRPr lang="en-US"/>
            </a:p>
          </p:txBody>
        </p:sp>
        <p:sp>
          <p:nvSpPr>
            <p:cNvPr id="38" name="TextBox 38"/>
            <p:cNvSpPr txBox="1"/>
            <p:nvPr/>
          </p:nvSpPr>
          <p:spPr>
            <a:xfrm>
              <a:off x="0" y="-28575"/>
              <a:ext cx="413705" cy="299297"/>
            </a:xfrm>
            <a:prstGeom prst="rect">
              <a:avLst/>
            </a:prstGeom>
          </p:spPr>
          <p:txBody>
            <a:bodyPr lIns="50800" tIns="50800" rIns="50800" bIns="50800" rtlCol="0" anchor="ctr"/>
            <a:lstStyle/>
            <a:p>
              <a:pPr algn="ctr">
                <a:lnSpc>
                  <a:spcPts val="1960"/>
                </a:lnSpc>
              </a:pPr>
              <a:endParaRPr/>
            </a:p>
          </p:txBody>
        </p:sp>
      </p:grpSp>
      <p:grpSp>
        <p:nvGrpSpPr>
          <p:cNvPr id="39" name="Group 39"/>
          <p:cNvGrpSpPr/>
          <p:nvPr/>
        </p:nvGrpSpPr>
        <p:grpSpPr>
          <a:xfrm>
            <a:off x="7783273" y="4396615"/>
            <a:ext cx="3479137" cy="1027899"/>
            <a:chOff x="0" y="0"/>
            <a:chExt cx="916316" cy="270722"/>
          </a:xfrm>
        </p:grpSpPr>
        <p:sp>
          <p:nvSpPr>
            <p:cNvPr id="40" name="Freeform 40"/>
            <p:cNvSpPr/>
            <p:nvPr/>
          </p:nvSpPr>
          <p:spPr>
            <a:xfrm>
              <a:off x="0" y="0"/>
              <a:ext cx="916316" cy="270722"/>
            </a:xfrm>
            <a:custGeom>
              <a:avLst/>
              <a:gdLst/>
              <a:ahLst/>
              <a:cxnLst/>
              <a:rect l="l" t="t" r="r" b="b"/>
              <a:pathLst>
                <a:path w="916316" h="270722">
                  <a:moveTo>
                    <a:pt x="44505" y="0"/>
                  </a:moveTo>
                  <a:lnTo>
                    <a:pt x="871811" y="0"/>
                  </a:lnTo>
                  <a:cubicBezTo>
                    <a:pt x="883614" y="0"/>
                    <a:pt x="894934" y="4689"/>
                    <a:pt x="903281" y="13035"/>
                  </a:cubicBezTo>
                  <a:cubicBezTo>
                    <a:pt x="911627" y="21381"/>
                    <a:pt x="916316" y="32701"/>
                    <a:pt x="916316" y="44505"/>
                  </a:cubicBezTo>
                  <a:lnTo>
                    <a:pt x="916316" y="226218"/>
                  </a:lnTo>
                  <a:cubicBezTo>
                    <a:pt x="916316" y="238021"/>
                    <a:pt x="911627" y="249341"/>
                    <a:pt x="903281" y="257687"/>
                  </a:cubicBezTo>
                  <a:cubicBezTo>
                    <a:pt x="894934" y="266034"/>
                    <a:pt x="883614" y="270722"/>
                    <a:pt x="871811" y="270722"/>
                  </a:cubicBezTo>
                  <a:lnTo>
                    <a:pt x="44505" y="270722"/>
                  </a:lnTo>
                  <a:cubicBezTo>
                    <a:pt x="19925" y="270722"/>
                    <a:pt x="0" y="250797"/>
                    <a:pt x="0" y="226218"/>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41" name="TextBox 41"/>
            <p:cNvSpPr txBox="1"/>
            <p:nvPr/>
          </p:nvSpPr>
          <p:spPr>
            <a:xfrm>
              <a:off x="0" y="-38100"/>
              <a:ext cx="916316" cy="308822"/>
            </a:xfrm>
            <a:prstGeom prst="rect">
              <a:avLst/>
            </a:prstGeom>
          </p:spPr>
          <p:txBody>
            <a:bodyPr lIns="50800" tIns="50800" rIns="50800" bIns="50800" rtlCol="0" anchor="ctr"/>
            <a:lstStyle/>
            <a:p>
              <a:pPr algn="ctr">
                <a:lnSpc>
                  <a:spcPts val="2800"/>
                </a:lnSpc>
              </a:pPr>
              <a:endParaRPr/>
            </a:p>
          </p:txBody>
        </p:sp>
      </p:grpSp>
      <p:grpSp>
        <p:nvGrpSpPr>
          <p:cNvPr id="42" name="Group 42"/>
          <p:cNvGrpSpPr/>
          <p:nvPr/>
        </p:nvGrpSpPr>
        <p:grpSpPr>
          <a:xfrm>
            <a:off x="5774474" y="4396615"/>
            <a:ext cx="1899954" cy="1027899"/>
            <a:chOff x="0" y="0"/>
            <a:chExt cx="500399" cy="270722"/>
          </a:xfrm>
        </p:grpSpPr>
        <p:sp>
          <p:nvSpPr>
            <p:cNvPr id="43" name="Freeform 43"/>
            <p:cNvSpPr/>
            <p:nvPr/>
          </p:nvSpPr>
          <p:spPr>
            <a:xfrm>
              <a:off x="0" y="0"/>
              <a:ext cx="500399" cy="270722"/>
            </a:xfrm>
            <a:custGeom>
              <a:avLst/>
              <a:gdLst/>
              <a:ahLst/>
              <a:cxnLst/>
              <a:rect l="l" t="t" r="r" b="b"/>
              <a:pathLst>
                <a:path w="500399" h="270722">
                  <a:moveTo>
                    <a:pt x="81496" y="0"/>
                  </a:moveTo>
                  <a:lnTo>
                    <a:pt x="418904" y="0"/>
                  </a:lnTo>
                  <a:cubicBezTo>
                    <a:pt x="440518" y="0"/>
                    <a:pt x="461246" y="8586"/>
                    <a:pt x="476530" y="23870"/>
                  </a:cubicBezTo>
                  <a:cubicBezTo>
                    <a:pt x="491813" y="39153"/>
                    <a:pt x="500399" y="59882"/>
                    <a:pt x="500399" y="81496"/>
                  </a:cubicBezTo>
                  <a:lnTo>
                    <a:pt x="500399" y="189227"/>
                  </a:lnTo>
                  <a:cubicBezTo>
                    <a:pt x="500399" y="210841"/>
                    <a:pt x="491813" y="231569"/>
                    <a:pt x="476530" y="246853"/>
                  </a:cubicBezTo>
                  <a:cubicBezTo>
                    <a:pt x="461246" y="262136"/>
                    <a:pt x="440518" y="270722"/>
                    <a:pt x="418904" y="270722"/>
                  </a:cubicBezTo>
                  <a:lnTo>
                    <a:pt x="81496" y="270722"/>
                  </a:lnTo>
                  <a:cubicBezTo>
                    <a:pt x="59882" y="270722"/>
                    <a:pt x="39153" y="262136"/>
                    <a:pt x="23870" y="246853"/>
                  </a:cubicBezTo>
                  <a:cubicBezTo>
                    <a:pt x="8586" y="231569"/>
                    <a:pt x="0" y="210841"/>
                    <a:pt x="0" y="189227"/>
                  </a:cubicBezTo>
                  <a:lnTo>
                    <a:pt x="0" y="81496"/>
                  </a:lnTo>
                  <a:cubicBezTo>
                    <a:pt x="0" y="59882"/>
                    <a:pt x="8586" y="39153"/>
                    <a:pt x="23870" y="23870"/>
                  </a:cubicBezTo>
                  <a:cubicBezTo>
                    <a:pt x="39153" y="8586"/>
                    <a:pt x="59882" y="0"/>
                    <a:pt x="81496" y="0"/>
                  </a:cubicBezTo>
                  <a:close/>
                </a:path>
              </a:pathLst>
            </a:custGeom>
            <a:solidFill>
              <a:srgbClr val="FFEAB1">
                <a:alpha val="69804"/>
              </a:srgbClr>
            </a:solidFill>
          </p:spPr>
          <p:txBody>
            <a:bodyPr/>
            <a:lstStyle/>
            <a:p>
              <a:endParaRPr lang="en-US"/>
            </a:p>
          </p:txBody>
        </p:sp>
        <p:sp>
          <p:nvSpPr>
            <p:cNvPr id="44" name="TextBox 44"/>
            <p:cNvSpPr txBox="1"/>
            <p:nvPr/>
          </p:nvSpPr>
          <p:spPr>
            <a:xfrm>
              <a:off x="0" y="-38100"/>
              <a:ext cx="500399" cy="308822"/>
            </a:xfrm>
            <a:prstGeom prst="rect">
              <a:avLst/>
            </a:prstGeom>
          </p:spPr>
          <p:txBody>
            <a:bodyPr lIns="50800" tIns="50800" rIns="50800" bIns="50800" rtlCol="0" anchor="ctr"/>
            <a:lstStyle/>
            <a:p>
              <a:pPr algn="ctr">
                <a:lnSpc>
                  <a:spcPts val="2800"/>
                </a:lnSpc>
              </a:pPr>
              <a:endParaRPr/>
            </a:p>
          </p:txBody>
        </p:sp>
      </p:grpSp>
      <p:sp>
        <p:nvSpPr>
          <p:cNvPr id="45" name="Freeform 45"/>
          <p:cNvSpPr/>
          <p:nvPr/>
        </p:nvSpPr>
        <p:spPr>
          <a:xfrm>
            <a:off x="11481910" y="1957490"/>
            <a:ext cx="4716143" cy="3871338"/>
          </a:xfrm>
          <a:custGeom>
            <a:avLst/>
            <a:gdLst/>
            <a:ahLst/>
            <a:cxnLst/>
            <a:rect l="l" t="t" r="r" b="b"/>
            <a:pathLst>
              <a:path w="4716143" h="3871338">
                <a:moveTo>
                  <a:pt x="0" y="0"/>
                </a:moveTo>
                <a:lnTo>
                  <a:pt x="4716142" y="0"/>
                </a:lnTo>
                <a:lnTo>
                  <a:pt x="4716142" y="3871338"/>
                </a:lnTo>
                <a:lnTo>
                  <a:pt x="0" y="3871338"/>
                </a:lnTo>
                <a:lnTo>
                  <a:pt x="0" y="0"/>
                </a:lnTo>
                <a:close/>
              </a:path>
            </a:pathLst>
          </a:custGeom>
          <a:blipFill>
            <a:blip r:embed="rId3"/>
            <a:stretch>
              <a:fillRect/>
            </a:stretch>
          </a:blipFill>
        </p:spPr>
        <p:txBody>
          <a:bodyPr/>
          <a:lstStyle/>
          <a:p>
            <a:endParaRPr lang="en-US"/>
          </a:p>
        </p:txBody>
      </p:sp>
      <p:sp>
        <p:nvSpPr>
          <p:cNvPr id="46" name="Freeform 46"/>
          <p:cNvSpPr/>
          <p:nvPr/>
        </p:nvSpPr>
        <p:spPr>
          <a:xfrm>
            <a:off x="11481910" y="6124103"/>
            <a:ext cx="6570627" cy="3423413"/>
          </a:xfrm>
          <a:custGeom>
            <a:avLst/>
            <a:gdLst/>
            <a:ahLst/>
            <a:cxnLst/>
            <a:rect l="l" t="t" r="r" b="b"/>
            <a:pathLst>
              <a:path w="6570627" h="3423413">
                <a:moveTo>
                  <a:pt x="0" y="0"/>
                </a:moveTo>
                <a:lnTo>
                  <a:pt x="6570627" y="0"/>
                </a:lnTo>
                <a:lnTo>
                  <a:pt x="6570627" y="3423413"/>
                </a:lnTo>
                <a:lnTo>
                  <a:pt x="0" y="3423413"/>
                </a:lnTo>
                <a:lnTo>
                  <a:pt x="0" y="0"/>
                </a:lnTo>
                <a:close/>
              </a:path>
            </a:pathLst>
          </a:custGeom>
          <a:blipFill>
            <a:blip r:embed="rId4"/>
            <a:stretch>
              <a:fillRect/>
            </a:stretch>
          </a:blipFill>
        </p:spPr>
        <p:txBody>
          <a:bodyPr/>
          <a:lstStyle/>
          <a:p>
            <a:endParaRPr lang="en-US"/>
          </a:p>
        </p:txBody>
      </p:sp>
      <p:sp>
        <p:nvSpPr>
          <p:cNvPr id="47" name="TextBox 47"/>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48" name="TextBox 48"/>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49" name="TextBox 49"/>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50" name="TextBox 50"/>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51" name="TextBox 51"/>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Recommendation</a:t>
            </a:r>
          </a:p>
        </p:txBody>
      </p:sp>
      <p:sp>
        <p:nvSpPr>
          <p:cNvPr id="52" name="TextBox 52"/>
          <p:cNvSpPr txBox="1"/>
          <p:nvPr/>
        </p:nvSpPr>
        <p:spPr>
          <a:xfrm>
            <a:off x="817668" y="2444433"/>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53" name="TextBox 53"/>
          <p:cNvSpPr txBox="1"/>
          <p:nvPr/>
        </p:nvSpPr>
        <p:spPr>
          <a:xfrm>
            <a:off x="2307381" y="2198688"/>
            <a:ext cx="8325153"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Customers in the Health &lt; 40 band show a severe imbalance in their spending structure: Non-essential spending accounts for a significantly higher proportion of total expenditure compared to essential needs, driving up the Spend-to-Income ratio.</a:t>
            </a:r>
          </a:p>
        </p:txBody>
      </p:sp>
      <p:sp>
        <p:nvSpPr>
          <p:cNvPr id="54" name="TextBox 54"/>
          <p:cNvSpPr txBox="1"/>
          <p:nvPr/>
        </p:nvSpPr>
        <p:spPr>
          <a:xfrm>
            <a:off x="2319447" y="3348357"/>
            <a:ext cx="8325153"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Provide automated Category Budgeting with a focus on Capping Discretionary/Non-essential Spending (e.g., setting a 30% threshold of monthly income for non-essential items using a standard 50/30/20 framework).</a:t>
            </a:r>
          </a:p>
        </p:txBody>
      </p:sp>
      <p:sp>
        <p:nvSpPr>
          <p:cNvPr id="55" name="TextBox 55"/>
          <p:cNvSpPr txBox="1"/>
          <p:nvPr/>
        </p:nvSpPr>
        <p:spPr>
          <a:xfrm>
            <a:off x="884969" y="3594102"/>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sp>
        <p:nvSpPr>
          <p:cNvPr id="56" name="TextBox 56"/>
          <p:cNvSpPr txBox="1"/>
          <p:nvPr/>
        </p:nvSpPr>
        <p:spPr>
          <a:xfrm>
            <a:off x="2451063" y="4469005"/>
            <a:ext cx="2961494"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Customers whose spending exceeded income at least once in the past three months. </a:t>
            </a:r>
          </a:p>
        </p:txBody>
      </p:sp>
      <p:sp>
        <p:nvSpPr>
          <p:cNvPr id="57" name="TextBox 57"/>
          <p:cNvSpPr txBox="1"/>
          <p:nvPr/>
        </p:nvSpPr>
        <p:spPr>
          <a:xfrm>
            <a:off x="477904" y="4558540"/>
            <a:ext cx="1543721" cy="621030"/>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Target Group</a:t>
            </a:r>
          </a:p>
        </p:txBody>
      </p:sp>
      <p:sp>
        <p:nvSpPr>
          <p:cNvPr id="58" name="TextBox 58"/>
          <p:cNvSpPr txBox="1"/>
          <p:nvPr/>
        </p:nvSpPr>
        <p:spPr>
          <a:xfrm>
            <a:off x="7975203" y="4429319"/>
            <a:ext cx="3070812" cy="909955"/>
          </a:xfrm>
          <a:prstGeom prst="rect">
            <a:avLst/>
          </a:prstGeom>
        </p:spPr>
        <p:txBody>
          <a:bodyPr lIns="0" tIns="0" rIns="0" bIns="0" rtlCol="0" anchor="t">
            <a:spAutoFit/>
          </a:bodyPr>
          <a:lstStyle/>
          <a:p>
            <a:pPr algn="just">
              <a:lnSpc>
                <a:spcPts val="1820"/>
              </a:lnSpc>
              <a:spcBef>
                <a:spcPct val="0"/>
              </a:spcBef>
            </a:pPr>
            <a:r>
              <a:rPr lang="en-US" sz="1300">
                <a:solidFill>
                  <a:srgbClr val="000000"/>
                </a:solidFill>
                <a:latin typeface="Montserrat"/>
                <a:ea typeface="Montserrat"/>
                <a:cs typeface="Montserrat"/>
                <a:sym typeface="Montserrat"/>
              </a:rPr>
              <a:t>707 customers (77.0% of December customers), prioritizing the 687 who spent more than their income in December.</a:t>
            </a:r>
          </a:p>
        </p:txBody>
      </p:sp>
      <p:sp>
        <p:nvSpPr>
          <p:cNvPr id="59" name="TextBox 59"/>
          <p:cNvSpPr txBox="1"/>
          <p:nvPr/>
        </p:nvSpPr>
        <p:spPr>
          <a:xfrm>
            <a:off x="5727099" y="4715703"/>
            <a:ext cx="2000454"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grpSp>
        <p:nvGrpSpPr>
          <p:cNvPr id="60" name="Group 60"/>
          <p:cNvGrpSpPr/>
          <p:nvPr/>
        </p:nvGrpSpPr>
        <p:grpSpPr>
          <a:xfrm>
            <a:off x="884969" y="5622484"/>
            <a:ext cx="5078722" cy="494982"/>
            <a:chOff x="0" y="0"/>
            <a:chExt cx="6771630" cy="659977"/>
          </a:xfrm>
        </p:grpSpPr>
        <p:sp>
          <p:nvSpPr>
            <p:cNvPr id="61" name="Freeform 61"/>
            <p:cNvSpPr/>
            <p:nvPr/>
          </p:nvSpPr>
          <p:spPr>
            <a:xfrm>
              <a:off x="0" y="0"/>
              <a:ext cx="6771629" cy="659975"/>
            </a:xfrm>
            <a:custGeom>
              <a:avLst/>
              <a:gdLst/>
              <a:ahLst/>
              <a:cxnLst/>
              <a:rect l="l" t="t" r="r" b="b"/>
              <a:pathLst>
                <a:path w="6771629" h="659975">
                  <a:moveTo>
                    <a:pt x="0" y="0"/>
                  </a:moveTo>
                  <a:lnTo>
                    <a:pt x="6771629" y="0"/>
                  </a:lnTo>
                  <a:lnTo>
                    <a:pt x="6771629" y="659975"/>
                  </a:lnTo>
                  <a:lnTo>
                    <a:pt x="0" y="659975"/>
                  </a:lnTo>
                  <a:close/>
                </a:path>
              </a:pathLst>
            </a:custGeom>
            <a:blipFill>
              <a:blip r:embed="rId2">
                <a:alphaModFix amt="0"/>
              </a:blip>
              <a:stretch>
                <a:fillRect t="-554243" r="-222211" b="-634119"/>
              </a:stretch>
            </a:blipFill>
          </p:spPr>
          <p:txBody>
            <a:bodyPr/>
            <a:lstStyle/>
            <a:p>
              <a:endParaRPr lang="en-US"/>
            </a:p>
          </p:txBody>
        </p:sp>
        <p:sp>
          <p:nvSpPr>
            <p:cNvPr id="62" name="TextBox 62"/>
            <p:cNvSpPr txBox="1"/>
            <p:nvPr/>
          </p:nvSpPr>
          <p:spPr>
            <a:xfrm>
              <a:off x="0" y="-38100"/>
              <a:ext cx="6771630"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Financial education</a:t>
              </a:r>
            </a:p>
          </p:txBody>
        </p:sp>
      </p:grpSp>
      <p:grpSp>
        <p:nvGrpSpPr>
          <p:cNvPr id="63" name="Group 63"/>
          <p:cNvGrpSpPr/>
          <p:nvPr/>
        </p:nvGrpSpPr>
        <p:grpSpPr>
          <a:xfrm>
            <a:off x="2200970" y="6193044"/>
            <a:ext cx="9095187" cy="797244"/>
            <a:chOff x="0" y="0"/>
            <a:chExt cx="2395440" cy="209974"/>
          </a:xfrm>
        </p:grpSpPr>
        <p:sp>
          <p:nvSpPr>
            <p:cNvPr id="64" name="Freeform 64"/>
            <p:cNvSpPr/>
            <p:nvPr/>
          </p:nvSpPr>
          <p:spPr>
            <a:xfrm>
              <a:off x="0" y="0"/>
              <a:ext cx="2395440" cy="209974"/>
            </a:xfrm>
            <a:custGeom>
              <a:avLst/>
              <a:gdLst/>
              <a:ahLst/>
              <a:cxnLst/>
              <a:rect l="l" t="t" r="r" b="b"/>
              <a:pathLst>
                <a:path w="2395440" h="209974">
                  <a:moveTo>
                    <a:pt x="17024" y="0"/>
                  </a:moveTo>
                  <a:lnTo>
                    <a:pt x="2378416" y="0"/>
                  </a:lnTo>
                  <a:cubicBezTo>
                    <a:pt x="2382931" y="0"/>
                    <a:pt x="2387261" y="1794"/>
                    <a:pt x="2390454" y="4986"/>
                  </a:cubicBezTo>
                  <a:cubicBezTo>
                    <a:pt x="2393647" y="8179"/>
                    <a:pt x="2395440" y="12509"/>
                    <a:pt x="2395440" y="17024"/>
                  </a:cubicBezTo>
                  <a:lnTo>
                    <a:pt x="2395440" y="192950"/>
                  </a:lnTo>
                  <a:cubicBezTo>
                    <a:pt x="2395440" y="202352"/>
                    <a:pt x="2387818" y="209974"/>
                    <a:pt x="2378416" y="209974"/>
                  </a:cubicBezTo>
                  <a:lnTo>
                    <a:pt x="17024" y="209974"/>
                  </a:lnTo>
                  <a:cubicBezTo>
                    <a:pt x="7622" y="209974"/>
                    <a:pt x="0" y="202352"/>
                    <a:pt x="0" y="192950"/>
                  </a:cubicBezTo>
                  <a:lnTo>
                    <a:pt x="0" y="17024"/>
                  </a:lnTo>
                  <a:cubicBezTo>
                    <a:pt x="0" y="7622"/>
                    <a:pt x="7622" y="0"/>
                    <a:pt x="17024" y="0"/>
                  </a:cubicBezTo>
                  <a:close/>
                </a:path>
              </a:pathLst>
            </a:custGeom>
            <a:ln w="9525" cap="sq">
              <a:solidFill>
                <a:srgbClr val="E15F4B"/>
              </a:solidFill>
              <a:prstDash val="lgDash"/>
              <a:miter/>
            </a:ln>
          </p:spPr>
          <p:txBody>
            <a:bodyPr/>
            <a:lstStyle/>
            <a:p>
              <a:endParaRPr lang="en-US"/>
            </a:p>
          </p:txBody>
        </p:sp>
        <p:sp>
          <p:nvSpPr>
            <p:cNvPr id="65" name="TextBox 65"/>
            <p:cNvSpPr txBox="1"/>
            <p:nvPr/>
          </p:nvSpPr>
          <p:spPr>
            <a:xfrm>
              <a:off x="0" y="-38100"/>
              <a:ext cx="2395440" cy="248074"/>
            </a:xfrm>
            <a:prstGeom prst="rect">
              <a:avLst/>
            </a:prstGeom>
          </p:spPr>
          <p:txBody>
            <a:bodyPr lIns="50800" tIns="50800" rIns="50800" bIns="50800" rtlCol="0" anchor="ctr"/>
            <a:lstStyle/>
            <a:p>
              <a:pPr algn="ctr">
                <a:lnSpc>
                  <a:spcPts val="2800"/>
                </a:lnSpc>
              </a:pPr>
              <a:endParaRPr/>
            </a:p>
          </p:txBody>
        </p:sp>
      </p:grpSp>
      <p:grpSp>
        <p:nvGrpSpPr>
          <p:cNvPr id="66" name="Group 66"/>
          <p:cNvGrpSpPr/>
          <p:nvPr/>
        </p:nvGrpSpPr>
        <p:grpSpPr>
          <a:xfrm>
            <a:off x="552435" y="6193044"/>
            <a:ext cx="1542015" cy="812293"/>
            <a:chOff x="0" y="0"/>
            <a:chExt cx="406128" cy="213937"/>
          </a:xfrm>
        </p:grpSpPr>
        <p:sp>
          <p:nvSpPr>
            <p:cNvPr id="67" name="Freeform 67"/>
            <p:cNvSpPr/>
            <p:nvPr/>
          </p:nvSpPr>
          <p:spPr>
            <a:xfrm>
              <a:off x="0" y="0"/>
              <a:ext cx="406128" cy="213937"/>
            </a:xfrm>
            <a:custGeom>
              <a:avLst/>
              <a:gdLst/>
              <a:ahLst/>
              <a:cxnLst/>
              <a:rect l="l" t="t" r="r" b="b"/>
              <a:pathLst>
                <a:path w="406128" h="213937">
                  <a:moveTo>
                    <a:pt x="100413" y="0"/>
                  </a:moveTo>
                  <a:lnTo>
                    <a:pt x="305715" y="0"/>
                  </a:lnTo>
                  <a:cubicBezTo>
                    <a:pt x="332346" y="0"/>
                    <a:pt x="357886" y="10579"/>
                    <a:pt x="376717" y="29410"/>
                  </a:cubicBezTo>
                  <a:cubicBezTo>
                    <a:pt x="395548" y="48241"/>
                    <a:pt x="406128" y="73782"/>
                    <a:pt x="406128" y="100413"/>
                  </a:cubicBezTo>
                  <a:lnTo>
                    <a:pt x="406128" y="113524"/>
                  </a:lnTo>
                  <a:cubicBezTo>
                    <a:pt x="406128" y="140155"/>
                    <a:pt x="395548" y="165696"/>
                    <a:pt x="376717" y="184527"/>
                  </a:cubicBezTo>
                  <a:cubicBezTo>
                    <a:pt x="357886" y="203358"/>
                    <a:pt x="332346" y="213937"/>
                    <a:pt x="305715" y="213937"/>
                  </a:cubicBezTo>
                  <a:lnTo>
                    <a:pt x="100413" y="213937"/>
                  </a:lnTo>
                  <a:cubicBezTo>
                    <a:pt x="73782" y="213937"/>
                    <a:pt x="48241" y="203358"/>
                    <a:pt x="29410" y="184527"/>
                  </a:cubicBezTo>
                  <a:cubicBezTo>
                    <a:pt x="10579" y="165696"/>
                    <a:pt x="0" y="140155"/>
                    <a:pt x="0" y="113524"/>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68" name="TextBox 68"/>
            <p:cNvSpPr txBox="1"/>
            <p:nvPr/>
          </p:nvSpPr>
          <p:spPr>
            <a:xfrm>
              <a:off x="0" y="-28575"/>
              <a:ext cx="406128" cy="242512"/>
            </a:xfrm>
            <a:prstGeom prst="rect">
              <a:avLst/>
            </a:prstGeom>
          </p:spPr>
          <p:txBody>
            <a:bodyPr lIns="50800" tIns="50800" rIns="50800" bIns="50800" rtlCol="0" anchor="ctr"/>
            <a:lstStyle/>
            <a:p>
              <a:pPr algn="ctr">
                <a:lnSpc>
                  <a:spcPts val="1960"/>
                </a:lnSpc>
              </a:pPr>
              <a:endParaRPr/>
            </a:p>
          </p:txBody>
        </p:sp>
      </p:grpSp>
      <p:grpSp>
        <p:nvGrpSpPr>
          <p:cNvPr id="69" name="Group 69"/>
          <p:cNvGrpSpPr/>
          <p:nvPr/>
        </p:nvGrpSpPr>
        <p:grpSpPr>
          <a:xfrm>
            <a:off x="2213036" y="7129162"/>
            <a:ext cx="9095187" cy="1220853"/>
            <a:chOff x="0" y="0"/>
            <a:chExt cx="2395440" cy="321541"/>
          </a:xfrm>
        </p:grpSpPr>
        <p:sp>
          <p:nvSpPr>
            <p:cNvPr id="70" name="Freeform 70"/>
            <p:cNvSpPr/>
            <p:nvPr/>
          </p:nvSpPr>
          <p:spPr>
            <a:xfrm>
              <a:off x="0" y="0"/>
              <a:ext cx="2395440" cy="321541"/>
            </a:xfrm>
            <a:custGeom>
              <a:avLst/>
              <a:gdLst/>
              <a:ahLst/>
              <a:cxnLst/>
              <a:rect l="l" t="t" r="r" b="b"/>
              <a:pathLst>
                <a:path w="2395440" h="321541">
                  <a:moveTo>
                    <a:pt x="17024" y="0"/>
                  </a:moveTo>
                  <a:lnTo>
                    <a:pt x="2378416" y="0"/>
                  </a:lnTo>
                  <a:cubicBezTo>
                    <a:pt x="2382931" y="0"/>
                    <a:pt x="2387261" y="1794"/>
                    <a:pt x="2390454" y="4986"/>
                  </a:cubicBezTo>
                  <a:cubicBezTo>
                    <a:pt x="2393647" y="8179"/>
                    <a:pt x="2395440" y="12509"/>
                    <a:pt x="2395440" y="17024"/>
                  </a:cubicBezTo>
                  <a:lnTo>
                    <a:pt x="2395440" y="304517"/>
                  </a:lnTo>
                  <a:cubicBezTo>
                    <a:pt x="2395440" y="313919"/>
                    <a:pt x="2387818" y="321541"/>
                    <a:pt x="2378416" y="321541"/>
                  </a:cubicBezTo>
                  <a:lnTo>
                    <a:pt x="17024" y="321541"/>
                  </a:lnTo>
                  <a:cubicBezTo>
                    <a:pt x="7622" y="321541"/>
                    <a:pt x="0" y="313919"/>
                    <a:pt x="0" y="304517"/>
                  </a:cubicBezTo>
                  <a:lnTo>
                    <a:pt x="0" y="17024"/>
                  </a:lnTo>
                  <a:cubicBezTo>
                    <a:pt x="0" y="7622"/>
                    <a:pt x="7622" y="0"/>
                    <a:pt x="17024" y="0"/>
                  </a:cubicBezTo>
                  <a:close/>
                </a:path>
              </a:pathLst>
            </a:custGeom>
            <a:ln w="9525" cap="sq">
              <a:solidFill>
                <a:srgbClr val="E15F4B"/>
              </a:solidFill>
              <a:prstDash val="lgDash"/>
              <a:miter/>
            </a:ln>
          </p:spPr>
          <p:txBody>
            <a:bodyPr/>
            <a:lstStyle/>
            <a:p>
              <a:endParaRPr lang="en-US"/>
            </a:p>
          </p:txBody>
        </p:sp>
        <p:sp>
          <p:nvSpPr>
            <p:cNvPr id="71" name="TextBox 71"/>
            <p:cNvSpPr txBox="1"/>
            <p:nvPr/>
          </p:nvSpPr>
          <p:spPr>
            <a:xfrm>
              <a:off x="0" y="-38100"/>
              <a:ext cx="2395440" cy="359641"/>
            </a:xfrm>
            <a:prstGeom prst="rect">
              <a:avLst/>
            </a:prstGeom>
          </p:spPr>
          <p:txBody>
            <a:bodyPr lIns="50800" tIns="50800" rIns="50800" bIns="50800" rtlCol="0" anchor="ctr"/>
            <a:lstStyle/>
            <a:p>
              <a:pPr algn="ctr">
                <a:lnSpc>
                  <a:spcPts val="2800"/>
                </a:lnSpc>
              </a:pPr>
              <a:endParaRPr/>
            </a:p>
          </p:txBody>
        </p:sp>
      </p:grpSp>
      <p:grpSp>
        <p:nvGrpSpPr>
          <p:cNvPr id="72" name="Group 72"/>
          <p:cNvGrpSpPr/>
          <p:nvPr/>
        </p:nvGrpSpPr>
        <p:grpSpPr>
          <a:xfrm>
            <a:off x="564501" y="7129162"/>
            <a:ext cx="1542015" cy="1220853"/>
            <a:chOff x="0" y="0"/>
            <a:chExt cx="406128" cy="321541"/>
          </a:xfrm>
        </p:grpSpPr>
        <p:sp>
          <p:nvSpPr>
            <p:cNvPr id="73" name="Freeform 73"/>
            <p:cNvSpPr/>
            <p:nvPr/>
          </p:nvSpPr>
          <p:spPr>
            <a:xfrm>
              <a:off x="0" y="0"/>
              <a:ext cx="406128" cy="321541"/>
            </a:xfrm>
            <a:custGeom>
              <a:avLst/>
              <a:gdLst/>
              <a:ahLst/>
              <a:cxnLst/>
              <a:rect l="l" t="t" r="r" b="b"/>
              <a:pathLst>
                <a:path w="406128" h="321541">
                  <a:moveTo>
                    <a:pt x="100413" y="0"/>
                  </a:moveTo>
                  <a:lnTo>
                    <a:pt x="305715" y="0"/>
                  </a:lnTo>
                  <a:cubicBezTo>
                    <a:pt x="332346" y="0"/>
                    <a:pt x="357886" y="10579"/>
                    <a:pt x="376717" y="29410"/>
                  </a:cubicBezTo>
                  <a:cubicBezTo>
                    <a:pt x="395548" y="48241"/>
                    <a:pt x="406128" y="73782"/>
                    <a:pt x="406128" y="100413"/>
                  </a:cubicBezTo>
                  <a:lnTo>
                    <a:pt x="406128" y="221128"/>
                  </a:lnTo>
                  <a:cubicBezTo>
                    <a:pt x="406128" y="247760"/>
                    <a:pt x="395548" y="273300"/>
                    <a:pt x="376717" y="292131"/>
                  </a:cubicBezTo>
                  <a:cubicBezTo>
                    <a:pt x="357886" y="310962"/>
                    <a:pt x="332346" y="321541"/>
                    <a:pt x="305715" y="321541"/>
                  </a:cubicBezTo>
                  <a:lnTo>
                    <a:pt x="100413" y="321541"/>
                  </a:lnTo>
                  <a:cubicBezTo>
                    <a:pt x="73782" y="321541"/>
                    <a:pt x="48241" y="310962"/>
                    <a:pt x="29410" y="292131"/>
                  </a:cubicBezTo>
                  <a:cubicBezTo>
                    <a:pt x="10579" y="273300"/>
                    <a:pt x="0" y="247760"/>
                    <a:pt x="0" y="221128"/>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74" name="TextBox 74"/>
            <p:cNvSpPr txBox="1"/>
            <p:nvPr/>
          </p:nvSpPr>
          <p:spPr>
            <a:xfrm>
              <a:off x="0" y="-28575"/>
              <a:ext cx="406128" cy="350116"/>
            </a:xfrm>
            <a:prstGeom prst="rect">
              <a:avLst/>
            </a:prstGeom>
          </p:spPr>
          <p:txBody>
            <a:bodyPr lIns="50800" tIns="50800" rIns="50800" bIns="50800" rtlCol="0" anchor="ctr"/>
            <a:lstStyle/>
            <a:p>
              <a:pPr algn="ctr">
                <a:lnSpc>
                  <a:spcPts val="1960"/>
                </a:lnSpc>
              </a:pPr>
              <a:endParaRPr/>
            </a:p>
          </p:txBody>
        </p:sp>
      </p:grpSp>
      <p:grpSp>
        <p:nvGrpSpPr>
          <p:cNvPr id="75" name="Group 75"/>
          <p:cNvGrpSpPr/>
          <p:nvPr/>
        </p:nvGrpSpPr>
        <p:grpSpPr>
          <a:xfrm>
            <a:off x="2238056" y="8483365"/>
            <a:ext cx="3479137" cy="1018374"/>
            <a:chOff x="0" y="0"/>
            <a:chExt cx="916316" cy="268214"/>
          </a:xfrm>
        </p:grpSpPr>
        <p:sp>
          <p:nvSpPr>
            <p:cNvPr id="76" name="Freeform 76"/>
            <p:cNvSpPr/>
            <p:nvPr/>
          </p:nvSpPr>
          <p:spPr>
            <a:xfrm>
              <a:off x="0" y="0"/>
              <a:ext cx="916316" cy="268214"/>
            </a:xfrm>
            <a:custGeom>
              <a:avLst/>
              <a:gdLst/>
              <a:ahLst/>
              <a:cxnLst/>
              <a:rect l="l" t="t" r="r" b="b"/>
              <a:pathLst>
                <a:path w="916316" h="268214">
                  <a:moveTo>
                    <a:pt x="44505" y="0"/>
                  </a:moveTo>
                  <a:lnTo>
                    <a:pt x="871811" y="0"/>
                  </a:lnTo>
                  <a:cubicBezTo>
                    <a:pt x="883614" y="0"/>
                    <a:pt x="894934" y="4689"/>
                    <a:pt x="903281" y="13035"/>
                  </a:cubicBezTo>
                  <a:cubicBezTo>
                    <a:pt x="911627" y="21381"/>
                    <a:pt x="916316" y="32701"/>
                    <a:pt x="916316" y="44505"/>
                  </a:cubicBezTo>
                  <a:lnTo>
                    <a:pt x="916316" y="223709"/>
                  </a:lnTo>
                  <a:cubicBezTo>
                    <a:pt x="916316" y="248288"/>
                    <a:pt x="896390" y="268214"/>
                    <a:pt x="871811" y="268214"/>
                  </a:cubicBezTo>
                  <a:lnTo>
                    <a:pt x="44505" y="268214"/>
                  </a:lnTo>
                  <a:cubicBezTo>
                    <a:pt x="32701" y="268214"/>
                    <a:pt x="21381" y="263525"/>
                    <a:pt x="13035" y="255179"/>
                  </a:cubicBezTo>
                  <a:cubicBezTo>
                    <a:pt x="4689" y="246832"/>
                    <a:pt x="0" y="235512"/>
                    <a:pt x="0" y="223709"/>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77" name="TextBox 77"/>
            <p:cNvSpPr txBox="1"/>
            <p:nvPr/>
          </p:nvSpPr>
          <p:spPr>
            <a:xfrm>
              <a:off x="0" y="-38100"/>
              <a:ext cx="916316" cy="306314"/>
            </a:xfrm>
            <a:prstGeom prst="rect">
              <a:avLst/>
            </a:prstGeom>
          </p:spPr>
          <p:txBody>
            <a:bodyPr lIns="50800" tIns="50800" rIns="50800" bIns="50800" rtlCol="0" anchor="ctr"/>
            <a:lstStyle/>
            <a:p>
              <a:pPr algn="ctr">
                <a:lnSpc>
                  <a:spcPts val="2800"/>
                </a:lnSpc>
              </a:pPr>
              <a:endParaRPr/>
            </a:p>
          </p:txBody>
        </p:sp>
      </p:grpSp>
      <p:grpSp>
        <p:nvGrpSpPr>
          <p:cNvPr id="78" name="Group 78"/>
          <p:cNvGrpSpPr/>
          <p:nvPr/>
        </p:nvGrpSpPr>
        <p:grpSpPr>
          <a:xfrm>
            <a:off x="562495" y="8473840"/>
            <a:ext cx="1570786" cy="1027899"/>
            <a:chOff x="0" y="0"/>
            <a:chExt cx="413705" cy="270722"/>
          </a:xfrm>
        </p:grpSpPr>
        <p:sp>
          <p:nvSpPr>
            <p:cNvPr id="79" name="Freeform 79"/>
            <p:cNvSpPr/>
            <p:nvPr/>
          </p:nvSpPr>
          <p:spPr>
            <a:xfrm>
              <a:off x="0" y="0"/>
              <a:ext cx="413705" cy="270722"/>
            </a:xfrm>
            <a:custGeom>
              <a:avLst/>
              <a:gdLst/>
              <a:ahLst/>
              <a:cxnLst/>
              <a:rect l="l" t="t" r="r" b="b"/>
              <a:pathLst>
                <a:path w="413705" h="270722">
                  <a:moveTo>
                    <a:pt x="98574" y="0"/>
                  </a:moveTo>
                  <a:lnTo>
                    <a:pt x="315131" y="0"/>
                  </a:lnTo>
                  <a:cubicBezTo>
                    <a:pt x="341274" y="0"/>
                    <a:pt x="366347" y="10385"/>
                    <a:pt x="384833" y="28872"/>
                  </a:cubicBezTo>
                  <a:cubicBezTo>
                    <a:pt x="403319" y="47358"/>
                    <a:pt x="413705" y="72430"/>
                    <a:pt x="413705" y="98574"/>
                  </a:cubicBezTo>
                  <a:lnTo>
                    <a:pt x="413705" y="172149"/>
                  </a:lnTo>
                  <a:cubicBezTo>
                    <a:pt x="413705" y="198292"/>
                    <a:pt x="403319" y="223365"/>
                    <a:pt x="384833" y="241851"/>
                  </a:cubicBezTo>
                  <a:cubicBezTo>
                    <a:pt x="366347" y="260337"/>
                    <a:pt x="341274" y="270722"/>
                    <a:pt x="315131" y="270722"/>
                  </a:cubicBezTo>
                  <a:lnTo>
                    <a:pt x="98574" y="270722"/>
                  </a:lnTo>
                  <a:cubicBezTo>
                    <a:pt x="44133" y="270722"/>
                    <a:pt x="0" y="226589"/>
                    <a:pt x="0" y="172149"/>
                  </a:cubicBezTo>
                  <a:lnTo>
                    <a:pt x="0" y="98574"/>
                  </a:lnTo>
                  <a:cubicBezTo>
                    <a:pt x="0" y="44133"/>
                    <a:pt x="44133" y="0"/>
                    <a:pt x="98574" y="0"/>
                  </a:cubicBezTo>
                  <a:close/>
                </a:path>
              </a:pathLst>
            </a:custGeom>
            <a:solidFill>
              <a:srgbClr val="FFEAB1">
                <a:alpha val="69804"/>
              </a:srgbClr>
            </a:solidFill>
          </p:spPr>
          <p:txBody>
            <a:bodyPr/>
            <a:lstStyle/>
            <a:p>
              <a:endParaRPr lang="en-US"/>
            </a:p>
          </p:txBody>
        </p:sp>
        <p:sp>
          <p:nvSpPr>
            <p:cNvPr id="80" name="TextBox 80"/>
            <p:cNvSpPr txBox="1"/>
            <p:nvPr/>
          </p:nvSpPr>
          <p:spPr>
            <a:xfrm>
              <a:off x="0" y="-28575"/>
              <a:ext cx="413705" cy="299297"/>
            </a:xfrm>
            <a:prstGeom prst="rect">
              <a:avLst/>
            </a:prstGeom>
          </p:spPr>
          <p:txBody>
            <a:bodyPr lIns="50800" tIns="50800" rIns="50800" bIns="50800" rtlCol="0" anchor="ctr"/>
            <a:lstStyle/>
            <a:p>
              <a:pPr algn="ctr">
                <a:lnSpc>
                  <a:spcPts val="1960"/>
                </a:lnSpc>
              </a:pPr>
              <a:endParaRPr/>
            </a:p>
          </p:txBody>
        </p:sp>
      </p:grpSp>
      <p:grpSp>
        <p:nvGrpSpPr>
          <p:cNvPr id="81" name="Group 81"/>
          <p:cNvGrpSpPr/>
          <p:nvPr/>
        </p:nvGrpSpPr>
        <p:grpSpPr>
          <a:xfrm>
            <a:off x="7829086" y="8473840"/>
            <a:ext cx="3479137" cy="1027899"/>
            <a:chOff x="0" y="0"/>
            <a:chExt cx="916316" cy="270722"/>
          </a:xfrm>
        </p:grpSpPr>
        <p:sp>
          <p:nvSpPr>
            <p:cNvPr id="82" name="Freeform 82"/>
            <p:cNvSpPr/>
            <p:nvPr/>
          </p:nvSpPr>
          <p:spPr>
            <a:xfrm>
              <a:off x="0" y="0"/>
              <a:ext cx="916316" cy="270722"/>
            </a:xfrm>
            <a:custGeom>
              <a:avLst/>
              <a:gdLst/>
              <a:ahLst/>
              <a:cxnLst/>
              <a:rect l="l" t="t" r="r" b="b"/>
              <a:pathLst>
                <a:path w="916316" h="270722">
                  <a:moveTo>
                    <a:pt x="44505" y="0"/>
                  </a:moveTo>
                  <a:lnTo>
                    <a:pt x="871811" y="0"/>
                  </a:lnTo>
                  <a:cubicBezTo>
                    <a:pt x="883614" y="0"/>
                    <a:pt x="894934" y="4689"/>
                    <a:pt x="903281" y="13035"/>
                  </a:cubicBezTo>
                  <a:cubicBezTo>
                    <a:pt x="911627" y="21381"/>
                    <a:pt x="916316" y="32701"/>
                    <a:pt x="916316" y="44505"/>
                  </a:cubicBezTo>
                  <a:lnTo>
                    <a:pt x="916316" y="226218"/>
                  </a:lnTo>
                  <a:cubicBezTo>
                    <a:pt x="916316" y="238021"/>
                    <a:pt x="911627" y="249341"/>
                    <a:pt x="903281" y="257687"/>
                  </a:cubicBezTo>
                  <a:cubicBezTo>
                    <a:pt x="894934" y="266034"/>
                    <a:pt x="883614" y="270722"/>
                    <a:pt x="871811" y="270722"/>
                  </a:cubicBezTo>
                  <a:lnTo>
                    <a:pt x="44505" y="270722"/>
                  </a:lnTo>
                  <a:cubicBezTo>
                    <a:pt x="19925" y="270722"/>
                    <a:pt x="0" y="250797"/>
                    <a:pt x="0" y="226218"/>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83" name="TextBox 83"/>
            <p:cNvSpPr txBox="1"/>
            <p:nvPr/>
          </p:nvSpPr>
          <p:spPr>
            <a:xfrm>
              <a:off x="0" y="-38100"/>
              <a:ext cx="916316" cy="308822"/>
            </a:xfrm>
            <a:prstGeom prst="rect">
              <a:avLst/>
            </a:prstGeom>
          </p:spPr>
          <p:txBody>
            <a:bodyPr lIns="50800" tIns="50800" rIns="50800" bIns="50800" rtlCol="0" anchor="ctr"/>
            <a:lstStyle/>
            <a:p>
              <a:pPr algn="ctr">
                <a:lnSpc>
                  <a:spcPts val="2800"/>
                </a:lnSpc>
              </a:pPr>
              <a:endParaRPr/>
            </a:p>
          </p:txBody>
        </p:sp>
      </p:grpSp>
      <p:grpSp>
        <p:nvGrpSpPr>
          <p:cNvPr id="84" name="Group 84"/>
          <p:cNvGrpSpPr/>
          <p:nvPr/>
        </p:nvGrpSpPr>
        <p:grpSpPr>
          <a:xfrm>
            <a:off x="5820288" y="8473840"/>
            <a:ext cx="1899954" cy="1027899"/>
            <a:chOff x="0" y="0"/>
            <a:chExt cx="500399" cy="270722"/>
          </a:xfrm>
        </p:grpSpPr>
        <p:sp>
          <p:nvSpPr>
            <p:cNvPr id="85" name="Freeform 85"/>
            <p:cNvSpPr/>
            <p:nvPr/>
          </p:nvSpPr>
          <p:spPr>
            <a:xfrm>
              <a:off x="0" y="0"/>
              <a:ext cx="500399" cy="270722"/>
            </a:xfrm>
            <a:custGeom>
              <a:avLst/>
              <a:gdLst/>
              <a:ahLst/>
              <a:cxnLst/>
              <a:rect l="l" t="t" r="r" b="b"/>
              <a:pathLst>
                <a:path w="500399" h="270722">
                  <a:moveTo>
                    <a:pt x="81496" y="0"/>
                  </a:moveTo>
                  <a:lnTo>
                    <a:pt x="418904" y="0"/>
                  </a:lnTo>
                  <a:cubicBezTo>
                    <a:pt x="440518" y="0"/>
                    <a:pt x="461246" y="8586"/>
                    <a:pt x="476530" y="23870"/>
                  </a:cubicBezTo>
                  <a:cubicBezTo>
                    <a:pt x="491813" y="39153"/>
                    <a:pt x="500399" y="59882"/>
                    <a:pt x="500399" y="81496"/>
                  </a:cubicBezTo>
                  <a:lnTo>
                    <a:pt x="500399" y="189227"/>
                  </a:lnTo>
                  <a:cubicBezTo>
                    <a:pt x="500399" y="210841"/>
                    <a:pt x="491813" y="231569"/>
                    <a:pt x="476530" y="246853"/>
                  </a:cubicBezTo>
                  <a:cubicBezTo>
                    <a:pt x="461246" y="262136"/>
                    <a:pt x="440518" y="270722"/>
                    <a:pt x="418904" y="270722"/>
                  </a:cubicBezTo>
                  <a:lnTo>
                    <a:pt x="81496" y="270722"/>
                  </a:lnTo>
                  <a:cubicBezTo>
                    <a:pt x="59882" y="270722"/>
                    <a:pt x="39153" y="262136"/>
                    <a:pt x="23870" y="246853"/>
                  </a:cubicBezTo>
                  <a:cubicBezTo>
                    <a:pt x="8586" y="231569"/>
                    <a:pt x="0" y="210841"/>
                    <a:pt x="0" y="189227"/>
                  </a:cubicBezTo>
                  <a:lnTo>
                    <a:pt x="0" y="81496"/>
                  </a:lnTo>
                  <a:cubicBezTo>
                    <a:pt x="0" y="59882"/>
                    <a:pt x="8586" y="39153"/>
                    <a:pt x="23870" y="23870"/>
                  </a:cubicBezTo>
                  <a:cubicBezTo>
                    <a:pt x="39153" y="8586"/>
                    <a:pt x="59882" y="0"/>
                    <a:pt x="81496" y="0"/>
                  </a:cubicBezTo>
                  <a:close/>
                </a:path>
              </a:pathLst>
            </a:custGeom>
            <a:solidFill>
              <a:srgbClr val="FFEAB1">
                <a:alpha val="69804"/>
              </a:srgbClr>
            </a:solidFill>
          </p:spPr>
          <p:txBody>
            <a:bodyPr/>
            <a:lstStyle/>
            <a:p>
              <a:endParaRPr lang="en-US"/>
            </a:p>
          </p:txBody>
        </p:sp>
        <p:sp>
          <p:nvSpPr>
            <p:cNvPr id="86" name="TextBox 86"/>
            <p:cNvSpPr txBox="1"/>
            <p:nvPr/>
          </p:nvSpPr>
          <p:spPr>
            <a:xfrm>
              <a:off x="0" y="-38100"/>
              <a:ext cx="500399" cy="308822"/>
            </a:xfrm>
            <a:prstGeom prst="rect">
              <a:avLst/>
            </a:prstGeom>
          </p:spPr>
          <p:txBody>
            <a:bodyPr lIns="50800" tIns="50800" rIns="50800" bIns="50800" rtlCol="0" anchor="ctr"/>
            <a:lstStyle/>
            <a:p>
              <a:pPr algn="ctr">
                <a:lnSpc>
                  <a:spcPts val="2800"/>
                </a:lnSpc>
              </a:pPr>
              <a:endParaRPr/>
            </a:p>
          </p:txBody>
        </p:sp>
      </p:grpSp>
      <p:sp>
        <p:nvSpPr>
          <p:cNvPr id="87" name="TextBox 87"/>
          <p:cNvSpPr txBox="1"/>
          <p:nvPr/>
        </p:nvSpPr>
        <p:spPr>
          <a:xfrm>
            <a:off x="863168" y="6441317"/>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88" name="TextBox 88"/>
          <p:cNvSpPr txBox="1"/>
          <p:nvPr/>
        </p:nvSpPr>
        <p:spPr>
          <a:xfrm>
            <a:off x="2540173" y="6305916"/>
            <a:ext cx="8325153" cy="533400"/>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Montserrat"/>
                <a:ea typeface="Montserrat"/>
                <a:cs typeface="Montserrat"/>
                <a:sym typeface="Montserrat"/>
              </a:rPr>
              <a:t>86.9% of unique customers (869/1,000) experience at least one vulnerable month (Health &lt; 60).</a:t>
            </a:r>
          </a:p>
        </p:txBody>
      </p:sp>
      <p:sp>
        <p:nvSpPr>
          <p:cNvPr id="89" name="TextBox 89"/>
          <p:cNvSpPr txBox="1"/>
          <p:nvPr/>
        </p:nvSpPr>
        <p:spPr>
          <a:xfrm>
            <a:off x="2359922" y="7228413"/>
            <a:ext cx="8325153" cy="909955"/>
          </a:xfrm>
          <a:prstGeom prst="rect">
            <a:avLst/>
          </a:prstGeom>
        </p:spPr>
        <p:txBody>
          <a:bodyPr lIns="0" tIns="0" rIns="0" bIns="0" rtlCol="0" anchor="t">
            <a:spAutoFit/>
          </a:bodyPr>
          <a:lstStyle/>
          <a:p>
            <a:pPr algn="l">
              <a:lnSpc>
                <a:spcPts val="1820"/>
              </a:lnSpc>
              <a:spcBef>
                <a:spcPct val="0"/>
              </a:spcBef>
            </a:pPr>
            <a:r>
              <a:rPr lang="en-US" sz="1300">
                <a:solidFill>
                  <a:srgbClr val="000000"/>
                </a:solidFill>
                <a:latin typeface="Montserrat"/>
                <a:ea typeface="Montserrat"/>
                <a:cs typeface="Montserrat"/>
                <a:sym typeface="Montserrat"/>
              </a:rPr>
              <a:t>Deliver In-App Micro-Learning Modules (1–2 minute interactive guides &amp; nudges) focusing on:</a:t>
            </a:r>
          </a:p>
          <a:p>
            <a:pPr marL="280671" lvl="1" indent="-140336" algn="l">
              <a:lnSpc>
                <a:spcPts val="1820"/>
              </a:lnSpc>
              <a:spcBef>
                <a:spcPct val="0"/>
              </a:spcBef>
              <a:buAutoNum type="arabicPeriod"/>
            </a:pPr>
            <a:r>
              <a:rPr lang="en-US" sz="1300">
                <a:solidFill>
                  <a:srgbClr val="000000"/>
                </a:solidFill>
                <a:latin typeface="Montserrat"/>
                <a:ea typeface="Montserrat"/>
                <a:cs typeface="Montserrat"/>
                <a:sym typeface="Montserrat"/>
              </a:rPr>
              <a:t>Managing discretionary vs. essential cash flows.</a:t>
            </a:r>
          </a:p>
          <a:p>
            <a:pPr marL="280671" lvl="1" indent="-140336" algn="l">
              <a:lnSpc>
                <a:spcPts val="1820"/>
              </a:lnSpc>
              <a:spcBef>
                <a:spcPct val="0"/>
              </a:spcBef>
              <a:buAutoNum type="arabicPeriod"/>
            </a:pPr>
            <a:r>
              <a:rPr lang="en-US" sz="1300">
                <a:solidFill>
                  <a:srgbClr val="000000"/>
                </a:solidFill>
                <a:latin typeface="Montserrat"/>
                <a:ea typeface="Montserrat"/>
                <a:cs typeface="Montserrat"/>
                <a:sym typeface="Montserrat"/>
              </a:rPr>
              <a:t>Building emergency savings buffers to cushion volatility.</a:t>
            </a:r>
          </a:p>
          <a:p>
            <a:pPr marL="280671" lvl="1" indent="-140336" algn="l">
              <a:lnSpc>
                <a:spcPts val="1820"/>
              </a:lnSpc>
              <a:spcBef>
                <a:spcPct val="0"/>
              </a:spcBef>
              <a:buAutoNum type="arabicPeriod"/>
            </a:pPr>
            <a:r>
              <a:rPr lang="en-US" sz="1300">
                <a:solidFill>
                  <a:srgbClr val="000000"/>
                </a:solidFill>
                <a:latin typeface="Montserrat"/>
                <a:ea typeface="Montserrat"/>
                <a:cs typeface="Montserrat"/>
                <a:sym typeface="Montserrat"/>
              </a:rPr>
              <a:t>Smart credit card usage (avoiding high credit utilization penalties).</a:t>
            </a:r>
          </a:p>
        </p:txBody>
      </p:sp>
      <p:sp>
        <p:nvSpPr>
          <p:cNvPr id="90" name="TextBox 90"/>
          <p:cNvSpPr txBox="1"/>
          <p:nvPr/>
        </p:nvSpPr>
        <p:spPr>
          <a:xfrm>
            <a:off x="930782" y="7538485"/>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sp>
        <p:nvSpPr>
          <p:cNvPr id="91" name="TextBox 91"/>
          <p:cNvSpPr txBox="1"/>
          <p:nvPr/>
        </p:nvSpPr>
        <p:spPr>
          <a:xfrm>
            <a:off x="2629063" y="8568689"/>
            <a:ext cx="2488223"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Customers experiencing financial health stress (Financial Health &lt; 60).</a:t>
            </a:r>
          </a:p>
        </p:txBody>
      </p:sp>
      <p:sp>
        <p:nvSpPr>
          <p:cNvPr id="92" name="TextBox 92"/>
          <p:cNvSpPr txBox="1"/>
          <p:nvPr/>
        </p:nvSpPr>
        <p:spPr>
          <a:xfrm>
            <a:off x="523718" y="8635765"/>
            <a:ext cx="1543721" cy="621030"/>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Target Group</a:t>
            </a:r>
          </a:p>
        </p:txBody>
      </p:sp>
      <p:sp>
        <p:nvSpPr>
          <p:cNvPr id="93" name="TextBox 93"/>
          <p:cNvSpPr txBox="1"/>
          <p:nvPr/>
        </p:nvSpPr>
        <p:spPr>
          <a:xfrm>
            <a:off x="7906027" y="8559565"/>
            <a:ext cx="3433008"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869 customers (86.9%) (All unique customers who recorded at least one month in the vulnerable zone).</a:t>
            </a:r>
          </a:p>
        </p:txBody>
      </p:sp>
      <p:sp>
        <p:nvSpPr>
          <p:cNvPr id="94" name="TextBox 94"/>
          <p:cNvSpPr txBox="1"/>
          <p:nvPr/>
        </p:nvSpPr>
        <p:spPr>
          <a:xfrm>
            <a:off x="5772912" y="8792927"/>
            <a:ext cx="2000454"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FFFF"/>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14557794" y="9842251"/>
            <a:ext cx="3111697" cy="388319"/>
            <a:chOff x="0" y="0"/>
            <a:chExt cx="819542" cy="102273"/>
          </a:xfrm>
        </p:grpSpPr>
        <p:sp>
          <p:nvSpPr>
            <p:cNvPr id="7" name="Freeform 7"/>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8" name="TextBox 8"/>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9" name="AutoShape 9"/>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10" name="Group 10"/>
          <p:cNvGrpSpPr/>
          <p:nvPr/>
        </p:nvGrpSpPr>
        <p:grpSpPr>
          <a:xfrm>
            <a:off x="967149" y="147997"/>
            <a:ext cx="16364245" cy="379415"/>
            <a:chOff x="0" y="0"/>
            <a:chExt cx="21818994" cy="505887"/>
          </a:xfrm>
        </p:grpSpPr>
        <p:sp>
          <p:nvSpPr>
            <p:cNvPr id="11" name="Freeform 11"/>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12" name="TextBox 12"/>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3" name="Group 13"/>
          <p:cNvGrpSpPr/>
          <p:nvPr/>
        </p:nvGrpSpPr>
        <p:grpSpPr>
          <a:xfrm>
            <a:off x="923268" y="147997"/>
            <a:ext cx="16364245" cy="1034066"/>
            <a:chOff x="0" y="0"/>
            <a:chExt cx="21818994" cy="1378755"/>
          </a:xfrm>
        </p:grpSpPr>
        <p:sp>
          <p:nvSpPr>
            <p:cNvPr id="14" name="Freeform 14"/>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5" name="TextBox 15"/>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Recommendation</a:t>
              </a:r>
            </a:p>
            <a:p>
              <a:pPr algn="l">
                <a:lnSpc>
                  <a:spcPts val="3500"/>
                </a:lnSpc>
              </a:pPr>
              <a:r>
                <a:rPr lang="en-US" sz="2500">
                  <a:solidFill>
                    <a:srgbClr val="000000"/>
                  </a:solidFill>
                  <a:latin typeface="Montserrat"/>
                  <a:ea typeface="Montserrat"/>
                  <a:cs typeface="Montserrat"/>
                  <a:sym typeface="Montserrat"/>
                </a:rPr>
                <a:t>Six non-punitive interventions</a:t>
              </a:r>
            </a:p>
          </p:txBody>
        </p:sp>
      </p:grpSp>
      <p:grpSp>
        <p:nvGrpSpPr>
          <p:cNvPr id="16" name="Group 16"/>
          <p:cNvGrpSpPr/>
          <p:nvPr/>
        </p:nvGrpSpPr>
        <p:grpSpPr>
          <a:xfrm>
            <a:off x="3" y="234756"/>
            <a:ext cx="734804" cy="442640"/>
            <a:chOff x="0" y="0"/>
            <a:chExt cx="626275" cy="377263"/>
          </a:xfrm>
        </p:grpSpPr>
        <p:sp>
          <p:nvSpPr>
            <p:cNvPr id="17" name="Freeform 17"/>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sp>
        <p:nvSpPr>
          <p:cNvPr id="18" name="TextBox 18"/>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19" name="TextBox 19"/>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20" name="TextBox 20"/>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21" name="TextBox 21"/>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22" name="TextBox 22"/>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Recommendation</a:t>
            </a:r>
          </a:p>
        </p:txBody>
      </p:sp>
      <p:grpSp>
        <p:nvGrpSpPr>
          <p:cNvPr id="23" name="Group 23"/>
          <p:cNvGrpSpPr/>
          <p:nvPr/>
        </p:nvGrpSpPr>
        <p:grpSpPr>
          <a:xfrm>
            <a:off x="2200970" y="6420833"/>
            <a:ext cx="7766456" cy="860729"/>
            <a:chOff x="0" y="0"/>
            <a:chExt cx="2045486" cy="226694"/>
          </a:xfrm>
        </p:grpSpPr>
        <p:sp>
          <p:nvSpPr>
            <p:cNvPr id="24" name="Freeform 24"/>
            <p:cNvSpPr/>
            <p:nvPr/>
          </p:nvSpPr>
          <p:spPr>
            <a:xfrm>
              <a:off x="0" y="0"/>
              <a:ext cx="2045486" cy="226694"/>
            </a:xfrm>
            <a:custGeom>
              <a:avLst/>
              <a:gdLst/>
              <a:ahLst/>
              <a:cxnLst/>
              <a:rect l="l" t="t" r="r" b="b"/>
              <a:pathLst>
                <a:path w="2045486" h="226694">
                  <a:moveTo>
                    <a:pt x="19937" y="0"/>
                  </a:moveTo>
                  <a:lnTo>
                    <a:pt x="2025549" y="0"/>
                  </a:lnTo>
                  <a:cubicBezTo>
                    <a:pt x="2030837" y="0"/>
                    <a:pt x="2035908" y="2100"/>
                    <a:pt x="2039647" y="5839"/>
                  </a:cubicBezTo>
                  <a:cubicBezTo>
                    <a:pt x="2043386" y="9578"/>
                    <a:pt x="2045486" y="14649"/>
                    <a:pt x="2045486" y="19937"/>
                  </a:cubicBezTo>
                  <a:lnTo>
                    <a:pt x="2045486" y="206757"/>
                  </a:lnTo>
                  <a:cubicBezTo>
                    <a:pt x="2045486" y="217768"/>
                    <a:pt x="2036560" y="226694"/>
                    <a:pt x="2025549" y="226694"/>
                  </a:cubicBezTo>
                  <a:lnTo>
                    <a:pt x="19937" y="226694"/>
                  </a:lnTo>
                  <a:cubicBezTo>
                    <a:pt x="8926" y="226694"/>
                    <a:pt x="0" y="217768"/>
                    <a:pt x="0" y="206757"/>
                  </a:cubicBezTo>
                  <a:lnTo>
                    <a:pt x="0" y="19937"/>
                  </a:lnTo>
                  <a:cubicBezTo>
                    <a:pt x="0" y="8926"/>
                    <a:pt x="8926" y="0"/>
                    <a:pt x="19937" y="0"/>
                  </a:cubicBezTo>
                  <a:close/>
                </a:path>
              </a:pathLst>
            </a:custGeom>
            <a:ln w="9525" cap="sq">
              <a:solidFill>
                <a:srgbClr val="E15F4B"/>
              </a:solidFill>
              <a:prstDash val="lgDash"/>
              <a:miter/>
            </a:ln>
          </p:spPr>
          <p:txBody>
            <a:bodyPr/>
            <a:lstStyle/>
            <a:p>
              <a:endParaRPr lang="en-US"/>
            </a:p>
          </p:txBody>
        </p:sp>
        <p:sp>
          <p:nvSpPr>
            <p:cNvPr id="25" name="TextBox 25"/>
            <p:cNvSpPr txBox="1"/>
            <p:nvPr/>
          </p:nvSpPr>
          <p:spPr>
            <a:xfrm>
              <a:off x="0" y="-38100"/>
              <a:ext cx="2045486" cy="264794"/>
            </a:xfrm>
            <a:prstGeom prst="rect">
              <a:avLst/>
            </a:prstGeom>
          </p:spPr>
          <p:txBody>
            <a:bodyPr lIns="50800" tIns="50800" rIns="50800" bIns="50800" rtlCol="0" anchor="ctr"/>
            <a:lstStyle/>
            <a:p>
              <a:pPr algn="ctr">
                <a:lnSpc>
                  <a:spcPts val="2800"/>
                </a:lnSpc>
              </a:pPr>
              <a:endParaRPr/>
            </a:p>
          </p:txBody>
        </p:sp>
      </p:grpSp>
      <p:grpSp>
        <p:nvGrpSpPr>
          <p:cNvPr id="26" name="Group 26"/>
          <p:cNvGrpSpPr/>
          <p:nvPr/>
        </p:nvGrpSpPr>
        <p:grpSpPr>
          <a:xfrm>
            <a:off x="564501" y="6445051"/>
            <a:ext cx="1542015" cy="812293"/>
            <a:chOff x="0" y="0"/>
            <a:chExt cx="406128" cy="213937"/>
          </a:xfrm>
        </p:grpSpPr>
        <p:sp>
          <p:nvSpPr>
            <p:cNvPr id="27" name="Freeform 27"/>
            <p:cNvSpPr/>
            <p:nvPr/>
          </p:nvSpPr>
          <p:spPr>
            <a:xfrm>
              <a:off x="0" y="0"/>
              <a:ext cx="406128" cy="213937"/>
            </a:xfrm>
            <a:custGeom>
              <a:avLst/>
              <a:gdLst/>
              <a:ahLst/>
              <a:cxnLst/>
              <a:rect l="l" t="t" r="r" b="b"/>
              <a:pathLst>
                <a:path w="406128" h="213937">
                  <a:moveTo>
                    <a:pt x="100413" y="0"/>
                  </a:moveTo>
                  <a:lnTo>
                    <a:pt x="305715" y="0"/>
                  </a:lnTo>
                  <a:cubicBezTo>
                    <a:pt x="332346" y="0"/>
                    <a:pt x="357886" y="10579"/>
                    <a:pt x="376717" y="29410"/>
                  </a:cubicBezTo>
                  <a:cubicBezTo>
                    <a:pt x="395548" y="48241"/>
                    <a:pt x="406128" y="73782"/>
                    <a:pt x="406128" y="100413"/>
                  </a:cubicBezTo>
                  <a:lnTo>
                    <a:pt x="406128" y="113524"/>
                  </a:lnTo>
                  <a:cubicBezTo>
                    <a:pt x="406128" y="140155"/>
                    <a:pt x="395548" y="165696"/>
                    <a:pt x="376717" y="184527"/>
                  </a:cubicBezTo>
                  <a:cubicBezTo>
                    <a:pt x="357886" y="203358"/>
                    <a:pt x="332346" y="213937"/>
                    <a:pt x="305715" y="213937"/>
                  </a:cubicBezTo>
                  <a:lnTo>
                    <a:pt x="100413" y="213937"/>
                  </a:lnTo>
                  <a:cubicBezTo>
                    <a:pt x="73782" y="213937"/>
                    <a:pt x="48241" y="203358"/>
                    <a:pt x="29410" y="184527"/>
                  </a:cubicBezTo>
                  <a:cubicBezTo>
                    <a:pt x="10579" y="165696"/>
                    <a:pt x="0" y="140155"/>
                    <a:pt x="0" y="113524"/>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28" name="TextBox 28"/>
            <p:cNvSpPr txBox="1"/>
            <p:nvPr/>
          </p:nvSpPr>
          <p:spPr>
            <a:xfrm>
              <a:off x="0" y="-28575"/>
              <a:ext cx="406128" cy="242512"/>
            </a:xfrm>
            <a:prstGeom prst="rect">
              <a:avLst/>
            </a:prstGeom>
          </p:spPr>
          <p:txBody>
            <a:bodyPr lIns="50800" tIns="50800" rIns="50800" bIns="50800" rtlCol="0" anchor="ctr"/>
            <a:lstStyle/>
            <a:p>
              <a:pPr algn="ctr">
                <a:lnSpc>
                  <a:spcPts val="1960"/>
                </a:lnSpc>
              </a:pPr>
              <a:endParaRPr/>
            </a:p>
          </p:txBody>
        </p:sp>
      </p:grpSp>
      <p:grpSp>
        <p:nvGrpSpPr>
          <p:cNvPr id="29" name="Group 29"/>
          <p:cNvGrpSpPr/>
          <p:nvPr/>
        </p:nvGrpSpPr>
        <p:grpSpPr>
          <a:xfrm>
            <a:off x="2213036" y="7376812"/>
            <a:ext cx="7754389" cy="973203"/>
            <a:chOff x="0" y="0"/>
            <a:chExt cx="2042308" cy="256317"/>
          </a:xfrm>
        </p:grpSpPr>
        <p:sp>
          <p:nvSpPr>
            <p:cNvPr id="30" name="Freeform 30"/>
            <p:cNvSpPr/>
            <p:nvPr/>
          </p:nvSpPr>
          <p:spPr>
            <a:xfrm>
              <a:off x="0" y="0"/>
              <a:ext cx="2042308" cy="256317"/>
            </a:xfrm>
            <a:custGeom>
              <a:avLst/>
              <a:gdLst/>
              <a:ahLst/>
              <a:cxnLst/>
              <a:rect l="l" t="t" r="r" b="b"/>
              <a:pathLst>
                <a:path w="2042308" h="256317">
                  <a:moveTo>
                    <a:pt x="19968" y="0"/>
                  </a:moveTo>
                  <a:lnTo>
                    <a:pt x="2022341" y="0"/>
                  </a:lnTo>
                  <a:cubicBezTo>
                    <a:pt x="2027636" y="0"/>
                    <a:pt x="2032715" y="2104"/>
                    <a:pt x="2036460" y="5848"/>
                  </a:cubicBezTo>
                  <a:cubicBezTo>
                    <a:pt x="2040205" y="9593"/>
                    <a:pt x="2042308" y="14672"/>
                    <a:pt x="2042308" y="19968"/>
                  </a:cubicBezTo>
                  <a:lnTo>
                    <a:pt x="2042308" y="236349"/>
                  </a:lnTo>
                  <a:cubicBezTo>
                    <a:pt x="2042308" y="241645"/>
                    <a:pt x="2040205" y="246724"/>
                    <a:pt x="2036460" y="250468"/>
                  </a:cubicBezTo>
                  <a:cubicBezTo>
                    <a:pt x="2032715" y="254213"/>
                    <a:pt x="2027636" y="256317"/>
                    <a:pt x="2022341" y="256317"/>
                  </a:cubicBezTo>
                  <a:lnTo>
                    <a:pt x="19968" y="256317"/>
                  </a:lnTo>
                  <a:cubicBezTo>
                    <a:pt x="8940" y="256317"/>
                    <a:pt x="0" y="247377"/>
                    <a:pt x="0" y="236349"/>
                  </a:cubicBezTo>
                  <a:lnTo>
                    <a:pt x="0" y="19968"/>
                  </a:lnTo>
                  <a:cubicBezTo>
                    <a:pt x="0" y="8940"/>
                    <a:pt x="8940" y="0"/>
                    <a:pt x="19968" y="0"/>
                  </a:cubicBezTo>
                  <a:close/>
                </a:path>
              </a:pathLst>
            </a:custGeom>
            <a:ln w="9525" cap="sq">
              <a:solidFill>
                <a:srgbClr val="E15F4B"/>
              </a:solidFill>
              <a:prstDash val="lgDash"/>
              <a:miter/>
            </a:ln>
          </p:spPr>
          <p:txBody>
            <a:bodyPr/>
            <a:lstStyle/>
            <a:p>
              <a:endParaRPr lang="en-US"/>
            </a:p>
          </p:txBody>
        </p:sp>
        <p:sp>
          <p:nvSpPr>
            <p:cNvPr id="31" name="TextBox 31"/>
            <p:cNvSpPr txBox="1"/>
            <p:nvPr/>
          </p:nvSpPr>
          <p:spPr>
            <a:xfrm>
              <a:off x="0" y="-38100"/>
              <a:ext cx="2042308" cy="294417"/>
            </a:xfrm>
            <a:prstGeom prst="rect">
              <a:avLst/>
            </a:prstGeom>
          </p:spPr>
          <p:txBody>
            <a:bodyPr lIns="50800" tIns="50800" rIns="50800" bIns="50800" rtlCol="0" anchor="ctr"/>
            <a:lstStyle/>
            <a:p>
              <a:pPr algn="ctr">
                <a:lnSpc>
                  <a:spcPts val="2800"/>
                </a:lnSpc>
              </a:pPr>
              <a:endParaRPr/>
            </a:p>
          </p:txBody>
        </p:sp>
      </p:grpSp>
      <p:grpSp>
        <p:nvGrpSpPr>
          <p:cNvPr id="32" name="Group 32"/>
          <p:cNvGrpSpPr/>
          <p:nvPr/>
        </p:nvGrpSpPr>
        <p:grpSpPr>
          <a:xfrm>
            <a:off x="564501" y="7376812"/>
            <a:ext cx="1542015" cy="973203"/>
            <a:chOff x="0" y="0"/>
            <a:chExt cx="406128" cy="256317"/>
          </a:xfrm>
        </p:grpSpPr>
        <p:sp>
          <p:nvSpPr>
            <p:cNvPr id="33" name="Freeform 33"/>
            <p:cNvSpPr/>
            <p:nvPr/>
          </p:nvSpPr>
          <p:spPr>
            <a:xfrm>
              <a:off x="0" y="0"/>
              <a:ext cx="406128" cy="256317"/>
            </a:xfrm>
            <a:custGeom>
              <a:avLst/>
              <a:gdLst/>
              <a:ahLst/>
              <a:cxnLst/>
              <a:rect l="l" t="t" r="r" b="b"/>
              <a:pathLst>
                <a:path w="406128" h="256317">
                  <a:moveTo>
                    <a:pt x="100413" y="0"/>
                  </a:moveTo>
                  <a:lnTo>
                    <a:pt x="305715" y="0"/>
                  </a:lnTo>
                  <a:cubicBezTo>
                    <a:pt x="332346" y="0"/>
                    <a:pt x="357886" y="10579"/>
                    <a:pt x="376717" y="29410"/>
                  </a:cubicBezTo>
                  <a:cubicBezTo>
                    <a:pt x="395548" y="48241"/>
                    <a:pt x="406128" y="73782"/>
                    <a:pt x="406128" y="100413"/>
                  </a:cubicBezTo>
                  <a:lnTo>
                    <a:pt x="406128" y="155904"/>
                  </a:lnTo>
                  <a:cubicBezTo>
                    <a:pt x="406128" y="182535"/>
                    <a:pt x="395548" y="208075"/>
                    <a:pt x="376717" y="226906"/>
                  </a:cubicBezTo>
                  <a:cubicBezTo>
                    <a:pt x="357886" y="245738"/>
                    <a:pt x="332346" y="256317"/>
                    <a:pt x="305715" y="256317"/>
                  </a:cubicBezTo>
                  <a:lnTo>
                    <a:pt x="100413" y="256317"/>
                  </a:lnTo>
                  <a:cubicBezTo>
                    <a:pt x="73782" y="256317"/>
                    <a:pt x="48241" y="245738"/>
                    <a:pt x="29410" y="226906"/>
                  </a:cubicBezTo>
                  <a:cubicBezTo>
                    <a:pt x="10579" y="208075"/>
                    <a:pt x="0" y="182535"/>
                    <a:pt x="0" y="155904"/>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34" name="TextBox 34"/>
            <p:cNvSpPr txBox="1"/>
            <p:nvPr/>
          </p:nvSpPr>
          <p:spPr>
            <a:xfrm>
              <a:off x="0" y="-28575"/>
              <a:ext cx="406128" cy="284892"/>
            </a:xfrm>
            <a:prstGeom prst="rect">
              <a:avLst/>
            </a:prstGeom>
          </p:spPr>
          <p:txBody>
            <a:bodyPr lIns="50800" tIns="50800" rIns="50800" bIns="50800" rtlCol="0" anchor="ctr"/>
            <a:lstStyle/>
            <a:p>
              <a:pPr algn="ctr">
                <a:lnSpc>
                  <a:spcPts val="1960"/>
                </a:lnSpc>
              </a:pPr>
              <a:endParaRPr/>
            </a:p>
          </p:txBody>
        </p:sp>
      </p:grpSp>
      <p:grpSp>
        <p:nvGrpSpPr>
          <p:cNvPr id="35" name="Group 35"/>
          <p:cNvGrpSpPr/>
          <p:nvPr/>
        </p:nvGrpSpPr>
        <p:grpSpPr>
          <a:xfrm>
            <a:off x="2238056" y="8483365"/>
            <a:ext cx="4025975" cy="1196961"/>
            <a:chOff x="0" y="0"/>
            <a:chExt cx="1060339" cy="315249"/>
          </a:xfrm>
        </p:grpSpPr>
        <p:sp>
          <p:nvSpPr>
            <p:cNvPr id="36" name="Freeform 36"/>
            <p:cNvSpPr/>
            <p:nvPr/>
          </p:nvSpPr>
          <p:spPr>
            <a:xfrm>
              <a:off x="0" y="0"/>
              <a:ext cx="1060339" cy="315249"/>
            </a:xfrm>
            <a:custGeom>
              <a:avLst/>
              <a:gdLst/>
              <a:ahLst/>
              <a:cxnLst/>
              <a:rect l="l" t="t" r="r" b="b"/>
              <a:pathLst>
                <a:path w="1060339" h="315249">
                  <a:moveTo>
                    <a:pt x="38460" y="0"/>
                  </a:moveTo>
                  <a:lnTo>
                    <a:pt x="1021879" y="0"/>
                  </a:lnTo>
                  <a:cubicBezTo>
                    <a:pt x="1032080" y="0"/>
                    <a:pt x="1041862" y="4052"/>
                    <a:pt x="1049075" y="11265"/>
                  </a:cubicBezTo>
                  <a:cubicBezTo>
                    <a:pt x="1056287" y="18477"/>
                    <a:pt x="1060339" y="28260"/>
                    <a:pt x="1060339" y="38460"/>
                  </a:cubicBezTo>
                  <a:lnTo>
                    <a:pt x="1060339" y="276789"/>
                  </a:lnTo>
                  <a:cubicBezTo>
                    <a:pt x="1060339" y="286989"/>
                    <a:pt x="1056287" y="296772"/>
                    <a:pt x="1049075" y="303984"/>
                  </a:cubicBezTo>
                  <a:cubicBezTo>
                    <a:pt x="1041862" y="311197"/>
                    <a:pt x="1032080" y="315249"/>
                    <a:pt x="1021879" y="315249"/>
                  </a:cubicBezTo>
                  <a:lnTo>
                    <a:pt x="38460" y="315249"/>
                  </a:lnTo>
                  <a:cubicBezTo>
                    <a:pt x="28260" y="315249"/>
                    <a:pt x="18477" y="311197"/>
                    <a:pt x="11265" y="303984"/>
                  </a:cubicBezTo>
                  <a:cubicBezTo>
                    <a:pt x="4052" y="296772"/>
                    <a:pt x="0" y="286989"/>
                    <a:pt x="0" y="276789"/>
                  </a:cubicBezTo>
                  <a:lnTo>
                    <a:pt x="0" y="38460"/>
                  </a:lnTo>
                  <a:cubicBezTo>
                    <a:pt x="0" y="28260"/>
                    <a:pt x="4052" y="18477"/>
                    <a:pt x="11265" y="11265"/>
                  </a:cubicBezTo>
                  <a:cubicBezTo>
                    <a:pt x="18477" y="4052"/>
                    <a:pt x="28260" y="0"/>
                    <a:pt x="38460" y="0"/>
                  </a:cubicBezTo>
                  <a:close/>
                </a:path>
              </a:pathLst>
            </a:custGeom>
            <a:ln w="9525" cap="sq">
              <a:solidFill>
                <a:srgbClr val="E15F4B"/>
              </a:solidFill>
              <a:prstDash val="lgDash"/>
              <a:miter/>
            </a:ln>
          </p:spPr>
          <p:txBody>
            <a:bodyPr/>
            <a:lstStyle/>
            <a:p>
              <a:endParaRPr lang="en-US"/>
            </a:p>
          </p:txBody>
        </p:sp>
        <p:sp>
          <p:nvSpPr>
            <p:cNvPr id="37" name="TextBox 37"/>
            <p:cNvSpPr txBox="1"/>
            <p:nvPr/>
          </p:nvSpPr>
          <p:spPr>
            <a:xfrm>
              <a:off x="0" y="-38100"/>
              <a:ext cx="1060339" cy="353349"/>
            </a:xfrm>
            <a:prstGeom prst="rect">
              <a:avLst/>
            </a:prstGeom>
          </p:spPr>
          <p:txBody>
            <a:bodyPr lIns="50800" tIns="50800" rIns="50800" bIns="50800" rtlCol="0" anchor="ctr"/>
            <a:lstStyle/>
            <a:p>
              <a:pPr algn="ctr">
                <a:lnSpc>
                  <a:spcPts val="2800"/>
                </a:lnSpc>
              </a:pPr>
              <a:endParaRPr/>
            </a:p>
          </p:txBody>
        </p:sp>
      </p:grpSp>
      <p:grpSp>
        <p:nvGrpSpPr>
          <p:cNvPr id="38" name="Group 38"/>
          <p:cNvGrpSpPr/>
          <p:nvPr/>
        </p:nvGrpSpPr>
        <p:grpSpPr>
          <a:xfrm>
            <a:off x="562495" y="8473840"/>
            <a:ext cx="1570786" cy="1027899"/>
            <a:chOff x="0" y="0"/>
            <a:chExt cx="413705" cy="270722"/>
          </a:xfrm>
        </p:grpSpPr>
        <p:sp>
          <p:nvSpPr>
            <p:cNvPr id="39" name="Freeform 39"/>
            <p:cNvSpPr/>
            <p:nvPr/>
          </p:nvSpPr>
          <p:spPr>
            <a:xfrm>
              <a:off x="0" y="0"/>
              <a:ext cx="413705" cy="270722"/>
            </a:xfrm>
            <a:custGeom>
              <a:avLst/>
              <a:gdLst/>
              <a:ahLst/>
              <a:cxnLst/>
              <a:rect l="l" t="t" r="r" b="b"/>
              <a:pathLst>
                <a:path w="413705" h="270722">
                  <a:moveTo>
                    <a:pt x="98574" y="0"/>
                  </a:moveTo>
                  <a:lnTo>
                    <a:pt x="315131" y="0"/>
                  </a:lnTo>
                  <a:cubicBezTo>
                    <a:pt x="341274" y="0"/>
                    <a:pt x="366347" y="10385"/>
                    <a:pt x="384833" y="28872"/>
                  </a:cubicBezTo>
                  <a:cubicBezTo>
                    <a:pt x="403319" y="47358"/>
                    <a:pt x="413705" y="72430"/>
                    <a:pt x="413705" y="98574"/>
                  </a:cubicBezTo>
                  <a:lnTo>
                    <a:pt x="413705" y="172149"/>
                  </a:lnTo>
                  <a:cubicBezTo>
                    <a:pt x="413705" y="198292"/>
                    <a:pt x="403319" y="223365"/>
                    <a:pt x="384833" y="241851"/>
                  </a:cubicBezTo>
                  <a:cubicBezTo>
                    <a:pt x="366347" y="260337"/>
                    <a:pt x="341274" y="270722"/>
                    <a:pt x="315131" y="270722"/>
                  </a:cubicBezTo>
                  <a:lnTo>
                    <a:pt x="98574" y="270722"/>
                  </a:lnTo>
                  <a:cubicBezTo>
                    <a:pt x="44133" y="270722"/>
                    <a:pt x="0" y="226589"/>
                    <a:pt x="0" y="172149"/>
                  </a:cubicBezTo>
                  <a:lnTo>
                    <a:pt x="0" y="98574"/>
                  </a:lnTo>
                  <a:cubicBezTo>
                    <a:pt x="0" y="44133"/>
                    <a:pt x="44133" y="0"/>
                    <a:pt x="98574" y="0"/>
                  </a:cubicBezTo>
                  <a:close/>
                </a:path>
              </a:pathLst>
            </a:custGeom>
            <a:solidFill>
              <a:srgbClr val="FFEAB1">
                <a:alpha val="69804"/>
              </a:srgbClr>
            </a:solidFill>
          </p:spPr>
          <p:txBody>
            <a:bodyPr/>
            <a:lstStyle/>
            <a:p>
              <a:endParaRPr lang="en-US"/>
            </a:p>
          </p:txBody>
        </p:sp>
        <p:sp>
          <p:nvSpPr>
            <p:cNvPr id="40" name="TextBox 40"/>
            <p:cNvSpPr txBox="1"/>
            <p:nvPr/>
          </p:nvSpPr>
          <p:spPr>
            <a:xfrm>
              <a:off x="0" y="-28575"/>
              <a:ext cx="413705" cy="299297"/>
            </a:xfrm>
            <a:prstGeom prst="rect">
              <a:avLst/>
            </a:prstGeom>
          </p:spPr>
          <p:txBody>
            <a:bodyPr lIns="50800" tIns="50800" rIns="50800" bIns="50800" rtlCol="0" anchor="ctr"/>
            <a:lstStyle/>
            <a:p>
              <a:pPr algn="ctr">
                <a:lnSpc>
                  <a:spcPts val="1960"/>
                </a:lnSpc>
              </a:pPr>
              <a:endParaRPr/>
            </a:p>
          </p:txBody>
        </p:sp>
      </p:grpSp>
      <p:grpSp>
        <p:nvGrpSpPr>
          <p:cNvPr id="41" name="Group 41"/>
          <p:cNvGrpSpPr/>
          <p:nvPr/>
        </p:nvGrpSpPr>
        <p:grpSpPr>
          <a:xfrm>
            <a:off x="7829086" y="8473840"/>
            <a:ext cx="2138339" cy="700046"/>
            <a:chOff x="0" y="0"/>
            <a:chExt cx="563184" cy="184374"/>
          </a:xfrm>
        </p:grpSpPr>
        <p:sp>
          <p:nvSpPr>
            <p:cNvPr id="42" name="Freeform 42"/>
            <p:cNvSpPr/>
            <p:nvPr/>
          </p:nvSpPr>
          <p:spPr>
            <a:xfrm>
              <a:off x="0" y="0"/>
              <a:ext cx="563184" cy="184374"/>
            </a:xfrm>
            <a:custGeom>
              <a:avLst/>
              <a:gdLst/>
              <a:ahLst/>
              <a:cxnLst/>
              <a:rect l="l" t="t" r="r" b="b"/>
              <a:pathLst>
                <a:path w="563184" h="184374">
                  <a:moveTo>
                    <a:pt x="72411" y="0"/>
                  </a:moveTo>
                  <a:lnTo>
                    <a:pt x="490773" y="0"/>
                  </a:lnTo>
                  <a:cubicBezTo>
                    <a:pt x="530765" y="0"/>
                    <a:pt x="563184" y="32419"/>
                    <a:pt x="563184" y="72411"/>
                  </a:cubicBezTo>
                  <a:lnTo>
                    <a:pt x="563184" y="111964"/>
                  </a:lnTo>
                  <a:cubicBezTo>
                    <a:pt x="563184" y="131168"/>
                    <a:pt x="555555" y="149586"/>
                    <a:pt x="541975" y="163166"/>
                  </a:cubicBezTo>
                  <a:cubicBezTo>
                    <a:pt x="528396" y="176745"/>
                    <a:pt x="509978" y="184374"/>
                    <a:pt x="490773" y="184374"/>
                  </a:cubicBezTo>
                  <a:lnTo>
                    <a:pt x="72411" y="184374"/>
                  </a:lnTo>
                  <a:cubicBezTo>
                    <a:pt x="32419" y="184374"/>
                    <a:pt x="0" y="151955"/>
                    <a:pt x="0" y="111964"/>
                  </a:cubicBezTo>
                  <a:lnTo>
                    <a:pt x="0" y="72411"/>
                  </a:lnTo>
                  <a:cubicBezTo>
                    <a:pt x="0" y="32419"/>
                    <a:pt x="32419" y="0"/>
                    <a:pt x="72411" y="0"/>
                  </a:cubicBezTo>
                  <a:close/>
                </a:path>
              </a:pathLst>
            </a:custGeom>
            <a:ln w="9525" cap="sq">
              <a:solidFill>
                <a:srgbClr val="E15F4B"/>
              </a:solidFill>
              <a:prstDash val="lgDash"/>
              <a:miter/>
            </a:ln>
          </p:spPr>
          <p:txBody>
            <a:bodyPr/>
            <a:lstStyle/>
            <a:p>
              <a:endParaRPr lang="en-US"/>
            </a:p>
          </p:txBody>
        </p:sp>
        <p:sp>
          <p:nvSpPr>
            <p:cNvPr id="43" name="TextBox 43"/>
            <p:cNvSpPr txBox="1"/>
            <p:nvPr/>
          </p:nvSpPr>
          <p:spPr>
            <a:xfrm>
              <a:off x="0" y="-38100"/>
              <a:ext cx="563184" cy="222474"/>
            </a:xfrm>
            <a:prstGeom prst="rect">
              <a:avLst/>
            </a:prstGeom>
          </p:spPr>
          <p:txBody>
            <a:bodyPr lIns="50800" tIns="50800" rIns="50800" bIns="50800" rtlCol="0" anchor="ctr"/>
            <a:lstStyle/>
            <a:p>
              <a:pPr algn="ctr">
                <a:lnSpc>
                  <a:spcPts val="2800"/>
                </a:lnSpc>
              </a:pPr>
              <a:endParaRPr/>
            </a:p>
          </p:txBody>
        </p:sp>
      </p:grpSp>
      <p:grpSp>
        <p:nvGrpSpPr>
          <p:cNvPr id="44" name="Group 44"/>
          <p:cNvGrpSpPr/>
          <p:nvPr/>
        </p:nvGrpSpPr>
        <p:grpSpPr>
          <a:xfrm>
            <a:off x="6368806" y="8473840"/>
            <a:ext cx="1354332" cy="1027899"/>
            <a:chOff x="0" y="0"/>
            <a:chExt cx="356697" cy="270722"/>
          </a:xfrm>
        </p:grpSpPr>
        <p:sp>
          <p:nvSpPr>
            <p:cNvPr id="45" name="Freeform 45"/>
            <p:cNvSpPr/>
            <p:nvPr/>
          </p:nvSpPr>
          <p:spPr>
            <a:xfrm>
              <a:off x="0" y="0"/>
              <a:ext cx="356697" cy="270722"/>
            </a:xfrm>
            <a:custGeom>
              <a:avLst/>
              <a:gdLst/>
              <a:ahLst/>
              <a:cxnLst/>
              <a:rect l="l" t="t" r="r" b="b"/>
              <a:pathLst>
                <a:path w="356697" h="270722">
                  <a:moveTo>
                    <a:pt x="114328" y="0"/>
                  </a:moveTo>
                  <a:lnTo>
                    <a:pt x="242368" y="0"/>
                  </a:lnTo>
                  <a:cubicBezTo>
                    <a:pt x="272690" y="0"/>
                    <a:pt x="301770" y="12045"/>
                    <a:pt x="323211" y="33486"/>
                  </a:cubicBezTo>
                  <a:cubicBezTo>
                    <a:pt x="344651" y="54927"/>
                    <a:pt x="356697" y="84007"/>
                    <a:pt x="356697" y="114328"/>
                  </a:cubicBezTo>
                  <a:lnTo>
                    <a:pt x="356697" y="156394"/>
                  </a:lnTo>
                  <a:cubicBezTo>
                    <a:pt x="356697" y="219536"/>
                    <a:pt x="305510" y="270722"/>
                    <a:pt x="242368" y="270722"/>
                  </a:cubicBezTo>
                  <a:lnTo>
                    <a:pt x="114328" y="270722"/>
                  </a:lnTo>
                  <a:cubicBezTo>
                    <a:pt x="51186" y="270722"/>
                    <a:pt x="0" y="219536"/>
                    <a:pt x="0" y="156394"/>
                  </a:cubicBezTo>
                  <a:lnTo>
                    <a:pt x="0" y="114328"/>
                  </a:lnTo>
                  <a:cubicBezTo>
                    <a:pt x="0" y="51186"/>
                    <a:pt x="51186" y="0"/>
                    <a:pt x="114328" y="0"/>
                  </a:cubicBezTo>
                  <a:close/>
                </a:path>
              </a:pathLst>
            </a:custGeom>
            <a:solidFill>
              <a:srgbClr val="FFEAB1">
                <a:alpha val="69804"/>
              </a:srgbClr>
            </a:solidFill>
          </p:spPr>
          <p:txBody>
            <a:bodyPr/>
            <a:lstStyle/>
            <a:p>
              <a:endParaRPr lang="en-US"/>
            </a:p>
          </p:txBody>
        </p:sp>
        <p:sp>
          <p:nvSpPr>
            <p:cNvPr id="46" name="TextBox 46"/>
            <p:cNvSpPr txBox="1"/>
            <p:nvPr/>
          </p:nvSpPr>
          <p:spPr>
            <a:xfrm>
              <a:off x="0" y="-38100"/>
              <a:ext cx="356697" cy="308822"/>
            </a:xfrm>
            <a:prstGeom prst="rect">
              <a:avLst/>
            </a:prstGeom>
          </p:spPr>
          <p:txBody>
            <a:bodyPr lIns="50800" tIns="50800" rIns="50800" bIns="50800" rtlCol="0" anchor="ctr"/>
            <a:lstStyle/>
            <a:p>
              <a:pPr algn="ctr">
                <a:lnSpc>
                  <a:spcPts val="2800"/>
                </a:lnSpc>
              </a:pPr>
              <a:endParaRPr/>
            </a:p>
          </p:txBody>
        </p:sp>
      </p:grpSp>
      <p:sp>
        <p:nvSpPr>
          <p:cNvPr id="47" name="TextBox 47"/>
          <p:cNvSpPr txBox="1"/>
          <p:nvPr/>
        </p:nvSpPr>
        <p:spPr>
          <a:xfrm>
            <a:off x="875547" y="6678795"/>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48" name="TextBox 48"/>
          <p:cNvSpPr txBox="1"/>
          <p:nvPr/>
        </p:nvSpPr>
        <p:spPr>
          <a:xfrm>
            <a:off x="2359922" y="6414787"/>
            <a:ext cx="7405430"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Among full-year customers, digital transaction share falls from 43.7% for ages 18–24 to 39.1% for ages 65+. Engagement rises from 71.3 to 83.9 across online-spend-ratio quintiles (|ρ| = 0.83).</a:t>
            </a:r>
          </a:p>
        </p:txBody>
      </p:sp>
      <p:sp>
        <p:nvSpPr>
          <p:cNvPr id="49" name="TextBox 49"/>
          <p:cNvSpPr txBox="1"/>
          <p:nvPr/>
        </p:nvSpPr>
        <p:spPr>
          <a:xfrm>
            <a:off x="2359922" y="7468015"/>
            <a:ext cx="7360796"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Deepen digital use with assisted QR/app setup and recurring-payment guidance for POS-heavy customers aged 55+. Offer guided onboarding to customers with only 1–2 observed months.</a:t>
            </a:r>
          </a:p>
        </p:txBody>
      </p:sp>
      <p:sp>
        <p:nvSpPr>
          <p:cNvPr id="50" name="TextBox 50"/>
          <p:cNvSpPr txBox="1"/>
          <p:nvPr/>
        </p:nvSpPr>
        <p:spPr>
          <a:xfrm>
            <a:off x="930782" y="7691011"/>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sp>
        <p:nvSpPr>
          <p:cNvPr id="51" name="TextBox 51"/>
          <p:cNvSpPr txBox="1"/>
          <p:nvPr/>
        </p:nvSpPr>
        <p:spPr>
          <a:xfrm>
            <a:off x="2344454" y="8529396"/>
            <a:ext cx="3739743" cy="10668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Full-year customers aged 55+ with digital transaction share below 40% (203 customers), plus customers in the New/Low-history group (91 customers)</a:t>
            </a:r>
          </a:p>
        </p:txBody>
      </p:sp>
      <p:sp>
        <p:nvSpPr>
          <p:cNvPr id="52" name="TextBox 52"/>
          <p:cNvSpPr txBox="1"/>
          <p:nvPr/>
        </p:nvSpPr>
        <p:spPr>
          <a:xfrm>
            <a:off x="523718" y="8635765"/>
            <a:ext cx="1543721" cy="621030"/>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Target Group</a:t>
            </a:r>
          </a:p>
        </p:txBody>
      </p:sp>
      <p:sp>
        <p:nvSpPr>
          <p:cNvPr id="53" name="TextBox 53"/>
          <p:cNvSpPr txBox="1"/>
          <p:nvPr/>
        </p:nvSpPr>
        <p:spPr>
          <a:xfrm>
            <a:off x="8031160" y="8548446"/>
            <a:ext cx="1734192" cy="5334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294 customers (29.4% of 999)</a:t>
            </a:r>
          </a:p>
        </p:txBody>
      </p:sp>
      <p:sp>
        <p:nvSpPr>
          <p:cNvPr id="54" name="TextBox 54"/>
          <p:cNvSpPr txBox="1"/>
          <p:nvPr/>
        </p:nvSpPr>
        <p:spPr>
          <a:xfrm>
            <a:off x="6045745" y="8792927"/>
            <a:ext cx="2000454"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sp>
        <p:nvSpPr>
          <p:cNvPr id="55" name="Freeform 55"/>
          <p:cNvSpPr/>
          <p:nvPr/>
        </p:nvSpPr>
        <p:spPr>
          <a:xfrm>
            <a:off x="3036084" y="1564554"/>
            <a:ext cx="4687055" cy="4249515"/>
          </a:xfrm>
          <a:custGeom>
            <a:avLst/>
            <a:gdLst/>
            <a:ahLst/>
            <a:cxnLst/>
            <a:rect l="l" t="t" r="r" b="b"/>
            <a:pathLst>
              <a:path w="4687055" h="4249515">
                <a:moveTo>
                  <a:pt x="0" y="0"/>
                </a:moveTo>
                <a:lnTo>
                  <a:pt x="4687054" y="0"/>
                </a:lnTo>
                <a:lnTo>
                  <a:pt x="4687054" y="4249515"/>
                </a:lnTo>
                <a:lnTo>
                  <a:pt x="0" y="4249515"/>
                </a:lnTo>
                <a:lnTo>
                  <a:pt x="0" y="0"/>
                </a:lnTo>
                <a:close/>
              </a:path>
            </a:pathLst>
          </a:custGeom>
          <a:blipFill>
            <a:blip r:embed="rId3"/>
            <a:stretch>
              <a:fillRect t="-4865" b="-992"/>
            </a:stretch>
          </a:blipFill>
        </p:spPr>
        <p:txBody>
          <a:bodyPr/>
          <a:lstStyle/>
          <a:p>
            <a:endParaRPr lang="en-US"/>
          </a:p>
        </p:txBody>
      </p:sp>
      <p:grpSp>
        <p:nvGrpSpPr>
          <p:cNvPr id="56" name="Group 56"/>
          <p:cNvGrpSpPr/>
          <p:nvPr/>
        </p:nvGrpSpPr>
        <p:grpSpPr>
          <a:xfrm>
            <a:off x="8681729" y="1803249"/>
            <a:ext cx="1133297" cy="605642"/>
            <a:chOff x="0" y="0"/>
            <a:chExt cx="298481" cy="159511"/>
          </a:xfrm>
        </p:grpSpPr>
        <p:sp>
          <p:nvSpPr>
            <p:cNvPr id="57" name="Freeform 57"/>
            <p:cNvSpPr/>
            <p:nvPr/>
          </p:nvSpPr>
          <p:spPr>
            <a:xfrm>
              <a:off x="0" y="0"/>
              <a:ext cx="298481" cy="159511"/>
            </a:xfrm>
            <a:custGeom>
              <a:avLst/>
              <a:gdLst/>
              <a:ahLst/>
              <a:cxnLst/>
              <a:rect l="l" t="t" r="r" b="b"/>
              <a:pathLst>
                <a:path w="298481" h="159511">
                  <a:moveTo>
                    <a:pt x="79755" y="0"/>
                  </a:moveTo>
                  <a:lnTo>
                    <a:pt x="218726" y="0"/>
                  </a:lnTo>
                  <a:cubicBezTo>
                    <a:pt x="239879" y="0"/>
                    <a:pt x="260165" y="8403"/>
                    <a:pt x="275122" y="23360"/>
                  </a:cubicBezTo>
                  <a:cubicBezTo>
                    <a:pt x="290079" y="38317"/>
                    <a:pt x="298481" y="58603"/>
                    <a:pt x="298481" y="79755"/>
                  </a:cubicBezTo>
                  <a:lnTo>
                    <a:pt x="298481" y="79755"/>
                  </a:lnTo>
                  <a:cubicBezTo>
                    <a:pt x="298481" y="100908"/>
                    <a:pt x="290079" y="121194"/>
                    <a:pt x="275122" y="136151"/>
                  </a:cubicBezTo>
                  <a:cubicBezTo>
                    <a:pt x="260165" y="151108"/>
                    <a:pt x="239879" y="159511"/>
                    <a:pt x="218726" y="159511"/>
                  </a:cubicBezTo>
                  <a:lnTo>
                    <a:pt x="79755" y="159511"/>
                  </a:lnTo>
                  <a:cubicBezTo>
                    <a:pt x="58603" y="159511"/>
                    <a:pt x="38317" y="151108"/>
                    <a:pt x="23360" y="136151"/>
                  </a:cubicBezTo>
                  <a:cubicBezTo>
                    <a:pt x="8403" y="121194"/>
                    <a:pt x="0" y="100908"/>
                    <a:pt x="0" y="79755"/>
                  </a:cubicBezTo>
                  <a:lnTo>
                    <a:pt x="0" y="79755"/>
                  </a:lnTo>
                  <a:cubicBezTo>
                    <a:pt x="0" y="58603"/>
                    <a:pt x="8403" y="38317"/>
                    <a:pt x="23360" y="23360"/>
                  </a:cubicBezTo>
                  <a:cubicBezTo>
                    <a:pt x="38317" y="8403"/>
                    <a:pt x="58603" y="0"/>
                    <a:pt x="79755" y="0"/>
                  </a:cubicBezTo>
                  <a:close/>
                </a:path>
              </a:pathLst>
            </a:custGeom>
            <a:solidFill>
              <a:srgbClr val="FFEAB1">
                <a:alpha val="69804"/>
              </a:srgbClr>
            </a:solidFill>
          </p:spPr>
          <p:txBody>
            <a:bodyPr/>
            <a:lstStyle/>
            <a:p>
              <a:endParaRPr lang="en-US"/>
            </a:p>
          </p:txBody>
        </p:sp>
        <p:sp>
          <p:nvSpPr>
            <p:cNvPr id="58" name="TextBox 58"/>
            <p:cNvSpPr txBox="1"/>
            <p:nvPr/>
          </p:nvSpPr>
          <p:spPr>
            <a:xfrm>
              <a:off x="0" y="-28575"/>
              <a:ext cx="298481" cy="188086"/>
            </a:xfrm>
            <a:prstGeom prst="rect">
              <a:avLst/>
            </a:prstGeom>
          </p:spPr>
          <p:txBody>
            <a:bodyPr lIns="50800" tIns="50800" rIns="50800" bIns="50800" rtlCol="0" anchor="ctr"/>
            <a:lstStyle/>
            <a:p>
              <a:pPr algn="ctr">
                <a:lnSpc>
                  <a:spcPts val="1960"/>
                </a:lnSpc>
              </a:pPr>
              <a:endParaRPr/>
            </a:p>
          </p:txBody>
        </p:sp>
      </p:grpSp>
      <p:grpSp>
        <p:nvGrpSpPr>
          <p:cNvPr id="59" name="Group 59"/>
          <p:cNvGrpSpPr/>
          <p:nvPr/>
        </p:nvGrpSpPr>
        <p:grpSpPr>
          <a:xfrm>
            <a:off x="8655960" y="3717719"/>
            <a:ext cx="1159066" cy="705896"/>
            <a:chOff x="0" y="0"/>
            <a:chExt cx="305268" cy="185915"/>
          </a:xfrm>
        </p:grpSpPr>
        <p:sp>
          <p:nvSpPr>
            <p:cNvPr id="60" name="Freeform 60"/>
            <p:cNvSpPr/>
            <p:nvPr/>
          </p:nvSpPr>
          <p:spPr>
            <a:xfrm>
              <a:off x="0" y="0"/>
              <a:ext cx="305268" cy="185915"/>
            </a:xfrm>
            <a:custGeom>
              <a:avLst/>
              <a:gdLst/>
              <a:ahLst/>
              <a:cxnLst/>
              <a:rect l="l" t="t" r="r" b="b"/>
              <a:pathLst>
                <a:path w="305268" h="185915">
                  <a:moveTo>
                    <a:pt x="92957" y="0"/>
                  </a:moveTo>
                  <a:lnTo>
                    <a:pt x="212311" y="0"/>
                  </a:lnTo>
                  <a:cubicBezTo>
                    <a:pt x="236965" y="0"/>
                    <a:pt x="260609" y="9794"/>
                    <a:pt x="278042" y="27227"/>
                  </a:cubicBezTo>
                  <a:cubicBezTo>
                    <a:pt x="295475" y="44660"/>
                    <a:pt x="305268" y="68304"/>
                    <a:pt x="305268" y="92957"/>
                  </a:cubicBezTo>
                  <a:lnTo>
                    <a:pt x="305268" y="92957"/>
                  </a:lnTo>
                  <a:cubicBezTo>
                    <a:pt x="305268" y="117611"/>
                    <a:pt x="295475" y="141255"/>
                    <a:pt x="278042" y="158688"/>
                  </a:cubicBezTo>
                  <a:cubicBezTo>
                    <a:pt x="260609" y="176121"/>
                    <a:pt x="236965" y="185915"/>
                    <a:pt x="212311" y="185915"/>
                  </a:cubicBezTo>
                  <a:lnTo>
                    <a:pt x="92957" y="185915"/>
                  </a:lnTo>
                  <a:cubicBezTo>
                    <a:pt x="68304" y="185915"/>
                    <a:pt x="44660" y="176121"/>
                    <a:pt x="27227" y="158688"/>
                  </a:cubicBezTo>
                  <a:cubicBezTo>
                    <a:pt x="9794" y="141255"/>
                    <a:pt x="0" y="117611"/>
                    <a:pt x="0" y="92957"/>
                  </a:cubicBezTo>
                  <a:lnTo>
                    <a:pt x="0" y="92957"/>
                  </a:lnTo>
                  <a:cubicBezTo>
                    <a:pt x="0" y="68304"/>
                    <a:pt x="9794" y="44660"/>
                    <a:pt x="27227" y="27227"/>
                  </a:cubicBezTo>
                  <a:cubicBezTo>
                    <a:pt x="44660" y="9794"/>
                    <a:pt x="68304" y="0"/>
                    <a:pt x="92957" y="0"/>
                  </a:cubicBezTo>
                  <a:close/>
                </a:path>
              </a:pathLst>
            </a:custGeom>
            <a:solidFill>
              <a:srgbClr val="FFEAB1">
                <a:alpha val="69804"/>
              </a:srgbClr>
            </a:solidFill>
          </p:spPr>
          <p:txBody>
            <a:bodyPr/>
            <a:lstStyle/>
            <a:p>
              <a:endParaRPr lang="en-US"/>
            </a:p>
          </p:txBody>
        </p:sp>
        <p:sp>
          <p:nvSpPr>
            <p:cNvPr id="61" name="TextBox 61"/>
            <p:cNvSpPr txBox="1"/>
            <p:nvPr/>
          </p:nvSpPr>
          <p:spPr>
            <a:xfrm>
              <a:off x="0" y="-28575"/>
              <a:ext cx="305268" cy="214490"/>
            </a:xfrm>
            <a:prstGeom prst="rect">
              <a:avLst/>
            </a:prstGeom>
          </p:spPr>
          <p:txBody>
            <a:bodyPr lIns="50800" tIns="50800" rIns="50800" bIns="50800" rtlCol="0" anchor="ctr"/>
            <a:lstStyle/>
            <a:p>
              <a:pPr algn="ctr">
                <a:lnSpc>
                  <a:spcPts val="1960"/>
                </a:lnSpc>
              </a:pPr>
              <a:endParaRPr/>
            </a:p>
          </p:txBody>
        </p:sp>
      </p:grpSp>
      <p:grpSp>
        <p:nvGrpSpPr>
          <p:cNvPr id="62" name="Group 62"/>
          <p:cNvGrpSpPr/>
          <p:nvPr/>
        </p:nvGrpSpPr>
        <p:grpSpPr>
          <a:xfrm>
            <a:off x="9967425" y="1728326"/>
            <a:ext cx="3668875" cy="1808418"/>
            <a:chOff x="0" y="0"/>
            <a:chExt cx="966288" cy="476291"/>
          </a:xfrm>
        </p:grpSpPr>
        <p:sp>
          <p:nvSpPr>
            <p:cNvPr id="63" name="Freeform 63"/>
            <p:cNvSpPr/>
            <p:nvPr/>
          </p:nvSpPr>
          <p:spPr>
            <a:xfrm>
              <a:off x="0" y="0"/>
              <a:ext cx="966288" cy="476291"/>
            </a:xfrm>
            <a:custGeom>
              <a:avLst/>
              <a:gdLst/>
              <a:ahLst/>
              <a:cxnLst/>
              <a:rect l="l" t="t" r="r" b="b"/>
              <a:pathLst>
                <a:path w="966288" h="476291">
                  <a:moveTo>
                    <a:pt x="42203" y="0"/>
                  </a:moveTo>
                  <a:lnTo>
                    <a:pt x="924085" y="0"/>
                  </a:lnTo>
                  <a:cubicBezTo>
                    <a:pt x="947393" y="0"/>
                    <a:pt x="966288" y="18895"/>
                    <a:pt x="966288" y="42203"/>
                  </a:cubicBezTo>
                  <a:lnTo>
                    <a:pt x="966288" y="434088"/>
                  </a:lnTo>
                  <a:cubicBezTo>
                    <a:pt x="966288" y="457396"/>
                    <a:pt x="947393" y="476291"/>
                    <a:pt x="924085" y="476291"/>
                  </a:cubicBezTo>
                  <a:lnTo>
                    <a:pt x="42203" y="476291"/>
                  </a:lnTo>
                  <a:cubicBezTo>
                    <a:pt x="31010" y="476291"/>
                    <a:pt x="20276" y="471845"/>
                    <a:pt x="12361" y="463930"/>
                  </a:cubicBezTo>
                  <a:cubicBezTo>
                    <a:pt x="4446" y="456015"/>
                    <a:pt x="0" y="445281"/>
                    <a:pt x="0" y="434088"/>
                  </a:cubicBezTo>
                  <a:lnTo>
                    <a:pt x="0" y="42203"/>
                  </a:lnTo>
                  <a:cubicBezTo>
                    <a:pt x="0" y="18895"/>
                    <a:pt x="18895" y="0"/>
                    <a:pt x="42203" y="0"/>
                  </a:cubicBezTo>
                  <a:close/>
                </a:path>
              </a:pathLst>
            </a:custGeom>
            <a:ln w="9525" cap="sq">
              <a:solidFill>
                <a:srgbClr val="E15F4B"/>
              </a:solidFill>
              <a:prstDash val="lgDash"/>
              <a:miter/>
            </a:ln>
          </p:spPr>
          <p:txBody>
            <a:bodyPr/>
            <a:lstStyle/>
            <a:p>
              <a:endParaRPr lang="en-US"/>
            </a:p>
          </p:txBody>
        </p:sp>
        <p:sp>
          <p:nvSpPr>
            <p:cNvPr id="64" name="TextBox 64"/>
            <p:cNvSpPr txBox="1"/>
            <p:nvPr/>
          </p:nvSpPr>
          <p:spPr>
            <a:xfrm>
              <a:off x="0" y="-38100"/>
              <a:ext cx="966288" cy="514391"/>
            </a:xfrm>
            <a:prstGeom prst="rect">
              <a:avLst/>
            </a:prstGeom>
          </p:spPr>
          <p:txBody>
            <a:bodyPr lIns="50800" tIns="50800" rIns="50800" bIns="50800" rtlCol="0" anchor="ctr"/>
            <a:lstStyle/>
            <a:p>
              <a:pPr algn="ctr">
                <a:lnSpc>
                  <a:spcPts val="2800"/>
                </a:lnSpc>
              </a:pPr>
              <a:endParaRPr/>
            </a:p>
          </p:txBody>
        </p:sp>
      </p:grpSp>
      <p:sp>
        <p:nvSpPr>
          <p:cNvPr id="65" name="TextBox 65"/>
          <p:cNvSpPr txBox="1"/>
          <p:nvPr/>
        </p:nvSpPr>
        <p:spPr>
          <a:xfrm>
            <a:off x="8776036" y="1933667"/>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66" name="TextBox 66"/>
          <p:cNvSpPr txBox="1"/>
          <p:nvPr/>
        </p:nvSpPr>
        <p:spPr>
          <a:xfrm>
            <a:off x="10096119" y="1790176"/>
            <a:ext cx="3485793" cy="1595214"/>
          </a:xfrm>
          <a:prstGeom prst="rect">
            <a:avLst/>
          </a:prstGeom>
        </p:spPr>
        <p:txBody>
          <a:bodyPr lIns="0" tIns="0" rIns="0" bIns="0" rtlCol="0" anchor="t">
            <a:spAutoFit/>
          </a:bodyPr>
          <a:lstStyle/>
          <a:p>
            <a:pPr algn="just">
              <a:lnSpc>
                <a:spcPts val="1849"/>
              </a:lnSpc>
              <a:spcBef>
                <a:spcPct val="0"/>
              </a:spcBef>
            </a:pPr>
            <a:r>
              <a:rPr lang="en-US" sz="1321">
                <a:solidFill>
                  <a:srgbClr val="000000"/>
                </a:solidFill>
                <a:latin typeface="Montserrat"/>
                <a:ea typeface="Montserrat"/>
                <a:cs typeface="Montserrat"/>
                <a:sym typeface="Montserrat"/>
              </a:rPr>
              <a:t>Customers in the Health &lt; 40 band show a severe imbalance in their spending structure: Non-essential spending accounts for a significantly higher proportion of total expenditure compared to essential needs, driving up the Spend-to-Income ratio.</a:t>
            </a:r>
          </a:p>
        </p:txBody>
      </p:sp>
      <p:sp>
        <p:nvSpPr>
          <p:cNvPr id="67" name="TextBox 67"/>
          <p:cNvSpPr txBox="1"/>
          <p:nvPr/>
        </p:nvSpPr>
        <p:spPr>
          <a:xfrm>
            <a:off x="8830766" y="3898265"/>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grpSp>
        <p:nvGrpSpPr>
          <p:cNvPr id="68" name="Group 68"/>
          <p:cNvGrpSpPr/>
          <p:nvPr/>
        </p:nvGrpSpPr>
        <p:grpSpPr>
          <a:xfrm>
            <a:off x="9967425" y="3717719"/>
            <a:ext cx="3668875" cy="1808418"/>
            <a:chOff x="0" y="0"/>
            <a:chExt cx="966288" cy="476291"/>
          </a:xfrm>
        </p:grpSpPr>
        <p:sp>
          <p:nvSpPr>
            <p:cNvPr id="69" name="Freeform 69"/>
            <p:cNvSpPr/>
            <p:nvPr/>
          </p:nvSpPr>
          <p:spPr>
            <a:xfrm>
              <a:off x="0" y="0"/>
              <a:ext cx="966288" cy="476291"/>
            </a:xfrm>
            <a:custGeom>
              <a:avLst/>
              <a:gdLst/>
              <a:ahLst/>
              <a:cxnLst/>
              <a:rect l="l" t="t" r="r" b="b"/>
              <a:pathLst>
                <a:path w="966288" h="476291">
                  <a:moveTo>
                    <a:pt x="42203" y="0"/>
                  </a:moveTo>
                  <a:lnTo>
                    <a:pt x="924085" y="0"/>
                  </a:lnTo>
                  <a:cubicBezTo>
                    <a:pt x="947393" y="0"/>
                    <a:pt x="966288" y="18895"/>
                    <a:pt x="966288" y="42203"/>
                  </a:cubicBezTo>
                  <a:lnTo>
                    <a:pt x="966288" y="434088"/>
                  </a:lnTo>
                  <a:cubicBezTo>
                    <a:pt x="966288" y="457396"/>
                    <a:pt x="947393" y="476291"/>
                    <a:pt x="924085" y="476291"/>
                  </a:cubicBezTo>
                  <a:lnTo>
                    <a:pt x="42203" y="476291"/>
                  </a:lnTo>
                  <a:cubicBezTo>
                    <a:pt x="31010" y="476291"/>
                    <a:pt x="20276" y="471845"/>
                    <a:pt x="12361" y="463930"/>
                  </a:cubicBezTo>
                  <a:cubicBezTo>
                    <a:pt x="4446" y="456015"/>
                    <a:pt x="0" y="445281"/>
                    <a:pt x="0" y="434088"/>
                  </a:cubicBezTo>
                  <a:lnTo>
                    <a:pt x="0" y="42203"/>
                  </a:lnTo>
                  <a:cubicBezTo>
                    <a:pt x="0" y="18895"/>
                    <a:pt x="18895" y="0"/>
                    <a:pt x="42203" y="0"/>
                  </a:cubicBezTo>
                  <a:close/>
                </a:path>
              </a:pathLst>
            </a:custGeom>
            <a:ln w="9525" cap="sq">
              <a:solidFill>
                <a:srgbClr val="E15F4B"/>
              </a:solidFill>
              <a:prstDash val="lgDash"/>
              <a:miter/>
            </a:ln>
          </p:spPr>
          <p:txBody>
            <a:bodyPr/>
            <a:lstStyle/>
            <a:p>
              <a:endParaRPr lang="en-US"/>
            </a:p>
          </p:txBody>
        </p:sp>
        <p:sp>
          <p:nvSpPr>
            <p:cNvPr id="70" name="TextBox 70"/>
            <p:cNvSpPr txBox="1"/>
            <p:nvPr/>
          </p:nvSpPr>
          <p:spPr>
            <a:xfrm>
              <a:off x="0" y="-38100"/>
              <a:ext cx="966288" cy="514391"/>
            </a:xfrm>
            <a:prstGeom prst="rect">
              <a:avLst/>
            </a:prstGeom>
          </p:spPr>
          <p:txBody>
            <a:bodyPr lIns="50800" tIns="50800" rIns="50800" bIns="50800" rtlCol="0" anchor="ctr"/>
            <a:lstStyle/>
            <a:p>
              <a:pPr algn="ctr">
                <a:lnSpc>
                  <a:spcPts val="2800"/>
                </a:lnSpc>
              </a:pPr>
              <a:endParaRPr/>
            </a:p>
          </p:txBody>
        </p:sp>
      </p:grpSp>
      <p:sp>
        <p:nvSpPr>
          <p:cNvPr id="71" name="TextBox 71"/>
          <p:cNvSpPr txBox="1"/>
          <p:nvPr/>
        </p:nvSpPr>
        <p:spPr>
          <a:xfrm>
            <a:off x="10197975" y="3758506"/>
            <a:ext cx="3282081" cy="1651481"/>
          </a:xfrm>
          <a:prstGeom prst="rect">
            <a:avLst/>
          </a:prstGeom>
        </p:spPr>
        <p:txBody>
          <a:bodyPr lIns="0" tIns="0" rIns="0" bIns="0" rtlCol="0" anchor="t">
            <a:spAutoFit/>
          </a:bodyPr>
          <a:lstStyle/>
          <a:p>
            <a:pPr algn="just">
              <a:lnSpc>
                <a:spcPts val="1898"/>
              </a:lnSpc>
              <a:spcBef>
                <a:spcPct val="0"/>
              </a:spcBef>
            </a:pPr>
            <a:r>
              <a:rPr lang="en-US" sz="1356">
                <a:solidFill>
                  <a:srgbClr val="000000"/>
                </a:solidFill>
                <a:latin typeface="Montserrat"/>
                <a:ea typeface="Montserrat"/>
                <a:cs typeface="Montserrat"/>
                <a:sym typeface="Montserrat"/>
              </a:rPr>
              <a:t>Provide automated Category Budgeting with a focus on Capping Discretionary/Non-essential Spending (e.g., setting a 30% threshold of monthly income for non-essential items using a standard 50/30/20 framework).</a:t>
            </a:r>
          </a:p>
        </p:txBody>
      </p:sp>
      <p:grpSp>
        <p:nvGrpSpPr>
          <p:cNvPr id="72" name="Group 72"/>
          <p:cNvGrpSpPr/>
          <p:nvPr/>
        </p:nvGrpSpPr>
        <p:grpSpPr>
          <a:xfrm>
            <a:off x="15237054" y="3613466"/>
            <a:ext cx="2785504" cy="1607750"/>
            <a:chOff x="0" y="0"/>
            <a:chExt cx="733631" cy="423440"/>
          </a:xfrm>
        </p:grpSpPr>
        <p:sp>
          <p:nvSpPr>
            <p:cNvPr id="73" name="Freeform 73"/>
            <p:cNvSpPr/>
            <p:nvPr/>
          </p:nvSpPr>
          <p:spPr>
            <a:xfrm>
              <a:off x="0" y="0"/>
              <a:ext cx="733631" cy="423440"/>
            </a:xfrm>
            <a:custGeom>
              <a:avLst/>
              <a:gdLst/>
              <a:ahLst/>
              <a:cxnLst/>
              <a:rect l="l" t="t" r="r" b="b"/>
              <a:pathLst>
                <a:path w="733631" h="423440">
                  <a:moveTo>
                    <a:pt x="55587" y="0"/>
                  </a:moveTo>
                  <a:lnTo>
                    <a:pt x="678044" y="0"/>
                  </a:lnTo>
                  <a:cubicBezTo>
                    <a:pt x="708744" y="0"/>
                    <a:pt x="733631" y="24887"/>
                    <a:pt x="733631" y="55587"/>
                  </a:cubicBezTo>
                  <a:lnTo>
                    <a:pt x="733631" y="367853"/>
                  </a:lnTo>
                  <a:cubicBezTo>
                    <a:pt x="733631" y="382596"/>
                    <a:pt x="727774" y="396735"/>
                    <a:pt x="717350" y="407159"/>
                  </a:cubicBezTo>
                  <a:cubicBezTo>
                    <a:pt x="706925" y="417584"/>
                    <a:pt x="692786" y="423440"/>
                    <a:pt x="678044" y="423440"/>
                  </a:cubicBezTo>
                  <a:lnTo>
                    <a:pt x="55587" y="423440"/>
                  </a:lnTo>
                  <a:cubicBezTo>
                    <a:pt x="24887" y="423440"/>
                    <a:pt x="0" y="398553"/>
                    <a:pt x="0" y="367853"/>
                  </a:cubicBezTo>
                  <a:lnTo>
                    <a:pt x="0" y="55587"/>
                  </a:lnTo>
                  <a:cubicBezTo>
                    <a:pt x="0" y="40845"/>
                    <a:pt x="5856" y="26706"/>
                    <a:pt x="16281" y="16281"/>
                  </a:cubicBezTo>
                  <a:cubicBezTo>
                    <a:pt x="26706" y="5856"/>
                    <a:pt x="40845" y="0"/>
                    <a:pt x="55587" y="0"/>
                  </a:cubicBezTo>
                  <a:close/>
                </a:path>
              </a:pathLst>
            </a:custGeom>
            <a:ln w="9525" cap="sq">
              <a:solidFill>
                <a:srgbClr val="E15F4B"/>
              </a:solidFill>
              <a:prstDash val="lgDash"/>
              <a:miter/>
            </a:ln>
          </p:spPr>
          <p:txBody>
            <a:bodyPr/>
            <a:lstStyle/>
            <a:p>
              <a:endParaRPr lang="en-US"/>
            </a:p>
          </p:txBody>
        </p:sp>
        <p:sp>
          <p:nvSpPr>
            <p:cNvPr id="74" name="TextBox 74"/>
            <p:cNvSpPr txBox="1"/>
            <p:nvPr/>
          </p:nvSpPr>
          <p:spPr>
            <a:xfrm>
              <a:off x="0" y="-38100"/>
              <a:ext cx="733631" cy="461540"/>
            </a:xfrm>
            <a:prstGeom prst="rect">
              <a:avLst/>
            </a:prstGeom>
          </p:spPr>
          <p:txBody>
            <a:bodyPr lIns="50800" tIns="50800" rIns="50800" bIns="50800" rtlCol="0" anchor="ctr"/>
            <a:lstStyle/>
            <a:p>
              <a:pPr algn="ctr">
                <a:lnSpc>
                  <a:spcPts val="2800"/>
                </a:lnSpc>
              </a:pPr>
              <a:endParaRPr/>
            </a:p>
          </p:txBody>
        </p:sp>
      </p:grpSp>
      <p:grpSp>
        <p:nvGrpSpPr>
          <p:cNvPr id="75" name="Group 75"/>
          <p:cNvGrpSpPr/>
          <p:nvPr/>
        </p:nvGrpSpPr>
        <p:grpSpPr>
          <a:xfrm>
            <a:off x="15197876" y="1709457"/>
            <a:ext cx="2863861" cy="1675933"/>
            <a:chOff x="0" y="0"/>
            <a:chExt cx="754268" cy="441398"/>
          </a:xfrm>
        </p:grpSpPr>
        <p:sp>
          <p:nvSpPr>
            <p:cNvPr id="76" name="Freeform 76"/>
            <p:cNvSpPr/>
            <p:nvPr/>
          </p:nvSpPr>
          <p:spPr>
            <a:xfrm>
              <a:off x="0" y="0"/>
              <a:ext cx="754268" cy="441398"/>
            </a:xfrm>
            <a:custGeom>
              <a:avLst/>
              <a:gdLst/>
              <a:ahLst/>
              <a:cxnLst/>
              <a:rect l="l" t="t" r="r" b="b"/>
              <a:pathLst>
                <a:path w="754268" h="441398">
                  <a:moveTo>
                    <a:pt x="54066" y="0"/>
                  </a:moveTo>
                  <a:lnTo>
                    <a:pt x="700202" y="0"/>
                  </a:lnTo>
                  <a:cubicBezTo>
                    <a:pt x="730062" y="0"/>
                    <a:pt x="754268" y="24206"/>
                    <a:pt x="754268" y="54066"/>
                  </a:cubicBezTo>
                  <a:lnTo>
                    <a:pt x="754268" y="387332"/>
                  </a:lnTo>
                  <a:cubicBezTo>
                    <a:pt x="754268" y="417192"/>
                    <a:pt x="730062" y="441398"/>
                    <a:pt x="700202" y="441398"/>
                  </a:cubicBezTo>
                  <a:lnTo>
                    <a:pt x="54066" y="441398"/>
                  </a:lnTo>
                  <a:cubicBezTo>
                    <a:pt x="24206" y="441398"/>
                    <a:pt x="0" y="417192"/>
                    <a:pt x="0" y="387332"/>
                  </a:cubicBezTo>
                  <a:lnTo>
                    <a:pt x="0" y="54066"/>
                  </a:lnTo>
                  <a:cubicBezTo>
                    <a:pt x="0" y="24206"/>
                    <a:pt x="24206" y="0"/>
                    <a:pt x="54066" y="0"/>
                  </a:cubicBezTo>
                  <a:close/>
                </a:path>
              </a:pathLst>
            </a:custGeom>
            <a:ln w="9525" cap="sq">
              <a:solidFill>
                <a:srgbClr val="E15F4B"/>
              </a:solidFill>
              <a:prstDash val="lgDash"/>
              <a:miter/>
            </a:ln>
          </p:spPr>
          <p:txBody>
            <a:bodyPr/>
            <a:lstStyle/>
            <a:p>
              <a:endParaRPr lang="en-US"/>
            </a:p>
          </p:txBody>
        </p:sp>
        <p:sp>
          <p:nvSpPr>
            <p:cNvPr id="77" name="TextBox 77"/>
            <p:cNvSpPr txBox="1"/>
            <p:nvPr/>
          </p:nvSpPr>
          <p:spPr>
            <a:xfrm>
              <a:off x="0" y="-38100"/>
              <a:ext cx="754268" cy="479498"/>
            </a:xfrm>
            <a:prstGeom prst="rect">
              <a:avLst/>
            </a:prstGeom>
          </p:spPr>
          <p:txBody>
            <a:bodyPr lIns="50800" tIns="50800" rIns="50800" bIns="50800" rtlCol="0" anchor="ctr"/>
            <a:lstStyle/>
            <a:p>
              <a:pPr algn="ctr">
                <a:lnSpc>
                  <a:spcPts val="2800"/>
                </a:lnSpc>
              </a:pPr>
              <a:endParaRPr/>
            </a:p>
          </p:txBody>
        </p:sp>
      </p:grpSp>
      <p:grpSp>
        <p:nvGrpSpPr>
          <p:cNvPr id="78" name="Group 78"/>
          <p:cNvGrpSpPr/>
          <p:nvPr/>
        </p:nvGrpSpPr>
        <p:grpSpPr>
          <a:xfrm>
            <a:off x="13800493" y="3640859"/>
            <a:ext cx="1236616" cy="793763"/>
            <a:chOff x="0" y="0"/>
            <a:chExt cx="325693" cy="209057"/>
          </a:xfrm>
        </p:grpSpPr>
        <p:sp>
          <p:nvSpPr>
            <p:cNvPr id="79" name="Freeform 79"/>
            <p:cNvSpPr/>
            <p:nvPr/>
          </p:nvSpPr>
          <p:spPr>
            <a:xfrm>
              <a:off x="0" y="0"/>
              <a:ext cx="325693" cy="209057"/>
            </a:xfrm>
            <a:custGeom>
              <a:avLst/>
              <a:gdLst/>
              <a:ahLst/>
              <a:cxnLst/>
              <a:rect l="l" t="t" r="r" b="b"/>
              <a:pathLst>
                <a:path w="325693" h="209057">
                  <a:moveTo>
                    <a:pt x="104528" y="0"/>
                  </a:moveTo>
                  <a:lnTo>
                    <a:pt x="221165" y="0"/>
                  </a:lnTo>
                  <a:cubicBezTo>
                    <a:pt x="278894" y="0"/>
                    <a:pt x="325693" y="46799"/>
                    <a:pt x="325693" y="104528"/>
                  </a:cubicBezTo>
                  <a:lnTo>
                    <a:pt x="325693" y="104528"/>
                  </a:lnTo>
                  <a:cubicBezTo>
                    <a:pt x="325693" y="162258"/>
                    <a:pt x="278894" y="209057"/>
                    <a:pt x="221165" y="209057"/>
                  </a:cubicBezTo>
                  <a:lnTo>
                    <a:pt x="104528" y="209057"/>
                  </a:lnTo>
                  <a:cubicBezTo>
                    <a:pt x="46799" y="209057"/>
                    <a:pt x="0" y="162258"/>
                    <a:pt x="0" y="104528"/>
                  </a:cubicBezTo>
                  <a:lnTo>
                    <a:pt x="0" y="104528"/>
                  </a:lnTo>
                  <a:cubicBezTo>
                    <a:pt x="0" y="46799"/>
                    <a:pt x="46799" y="0"/>
                    <a:pt x="104528" y="0"/>
                  </a:cubicBezTo>
                  <a:close/>
                </a:path>
              </a:pathLst>
            </a:custGeom>
            <a:solidFill>
              <a:srgbClr val="FFEAB1">
                <a:alpha val="69804"/>
              </a:srgbClr>
            </a:solidFill>
          </p:spPr>
          <p:txBody>
            <a:bodyPr/>
            <a:lstStyle/>
            <a:p>
              <a:endParaRPr lang="en-US"/>
            </a:p>
          </p:txBody>
        </p:sp>
        <p:sp>
          <p:nvSpPr>
            <p:cNvPr id="80" name="TextBox 80"/>
            <p:cNvSpPr txBox="1"/>
            <p:nvPr/>
          </p:nvSpPr>
          <p:spPr>
            <a:xfrm>
              <a:off x="0" y="-28575"/>
              <a:ext cx="325693" cy="237632"/>
            </a:xfrm>
            <a:prstGeom prst="rect">
              <a:avLst/>
            </a:prstGeom>
          </p:spPr>
          <p:txBody>
            <a:bodyPr lIns="50800" tIns="50800" rIns="50800" bIns="50800" rtlCol="0" anchor="ctr"/>
            <a:lstStyle/>
            <a:p>
              <a:pPr algn="ctr">
                <a:lnSpc>
                  <a:spcPts val="1960"/>
                </a:lnSpc>
              </a:pPr>
              <a:endParaRPr/>
            </a:p>
          </p:txBody>
        </p:sp>
      </p:grpSp>
      <p:grpSp>
        <p:nvGrpSpPr>
          <p:cNvPr id="81" name="Group 81"/>
          <p:cNvGrpSpPr/>
          <p:nvPr/>
        </p:nvGrpSpPr>
        <p:grpSpPr>
          <a:xfrm>
            <a:off x="13734976" y="1761666"/>
            <a:ext cx="1367649" cy="840405"/>
            <a:chOff x="0" y="0"/>
            <a:chExt cx="360204" cy="221341"/>
          </a:xfrm>
        </p:grpSpPr>
        <p:sp>
          <p:nvSpPr>
            <p:cNvPr id="82" name="Freeform 82"/>
            <p:cNvSpPr/>
            <p:nvPr/>
          </p:nvSpPr>
          <p:spPr>
            <a:xfrm>
              <a:off x="0" y="0"/>
              <a:ext cx="360204" cy="221341"/>
            </a:xfrm>
            <a:custGeom>
              <a:avLst/>
              <a:gdLst/>
              <a:ahLst/>
              <a:cxnLst/>
              <a:rect l="l" t="t" r="r" b="b"/>
              <a:pathLst>
                <a:path w="360204" h="221341">
                  <a:moveTo>
                    <a:pt x="110671" y="0"/>
                  </a:moveTo>
                  <a:lnTo>
                    <a:pt x="249533" y="0"/>
                  </a:lnTo>
                  <a:cubicBezTo>
                    <a:pt x="278885" y="0"/>
                    <a:pt x="307035" y="11660"/>
                    <a:pt x="327789" y="32415"/>
                  </a:cubicBezTo>
                  <a:cubicBezTo>
                    <a:pt x="348544" y="53169"/>
                    <a:pt x="360204" y="81319"/>
                    <a:pt x="360204" y="110671"/>
                  </a:cubicBezTo>
                  <a:lnTo>
                    <a:pt x="360204" y="110671"/>
                  </a:lnTo>
                  <a:cubicBezTo>
                    <a:pt x="360204" y="171792"/>
                    <a:pt x="310655" y="221341"/>
                    <a:pt x="249533" y="221341"/>
                  </a:cubicBezTo>
                  <a:lnTo>
                    <a:pt x="110671" y="221341"/>
                  </a:lnTo>
                  <a:cubicBezTo>
                    <a:pt x="49549" y="221341"/>
                    <a:pt x="0" y="171792"/>
                    <a:pt x="0" y="110671"/>
                  </a:cubicBezTo>
                  <a:lnTo>
                    <a:pt x="0" y="110671"/>
                  </a:lnTo>
                  <a:cubicBezTo>
                    <a:pt x="0" y="49549"/>
                    <a:pt x="49549" y="0"/>
                    <a:pt x="110671" y="0"/>
                  </a:cubicBezTo>
                  <a:close/>
                </a:path>
              </a:pathLst>
            </a:custGeom>
            <a:solidFill>
              <a:srgbClr val="FFEAB1">
                <a:alpha val="69804"/>
              </a:srgbClr>
            </a:solidFill>
          </p:spPr>
          <p:txBody>
            <a:bodyPr/>
            <a:lstStyle/>
            <a:p>
              <a:endParaRPr lang="en-US"/>
            </a:p>
          </p:txBody>
        </p:sp>
        <p:sp>
          <p:nvSpPr>
            <p:cNvPr id="83" name="TextBox 83"/>
            <p:cNvSpPr txBox="1"/>
            <p:nvPr/>
          </p:nvSpPr>
          <p:spPr>
            <a:xfrm>
              <a:off x="0" y="-38100"/>
              <a:ext cx="360204" cy="259441"/>
            </a:xfrm>
            <a:prstGeom prst="rect">
              <a:avLst/>
            </a:prstGeom>
          </p:spPr>
          <p:txBody>
            <a:bodyPr lIns="50800" tIns="50800" rIns="50800" bIns="50800" rtlCol="0" anchor="ctr"/>
            <a:lstStyle/>
            <a:p>
              <a:pPr algn="ctr">
                <a:lnSpc>
                  <a:spcPts val="2800"/>
                </a:lnSpc>
              </a:pPr>
              <a:endParaRPr/>
            </a:p>
          </p:txBody>
        </p:sp>
      </p:grpSp>
      <p:sp>
        <p:nvSpPr>
          <p:cNvPr id="84" name="TextBox 84"/>
          <p:cNvSpPr txBox="1"/>
          <p:nvPr/>
        </p:nvSpPr>
        <p:spPr>
          <a:xfrm>
            <a:off x="15569947" y="3739456"/>
            <a:ext cx="1891730" cy="13335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Customers whose spending exceeded income at least once in the past three months. </a:t>
            </a:r>
          </a:p>
        </p:txBody>
      </p:sp>
      <p:sp>
        <p:nvSpPr>
          <p:cNvPr id="85" name="TextBox 85"/>
          <p:cNvSpPr txBox="1"/>
          <p:nvPr/>
        </p:nvSpPr>
        <p:spPr>
          <a:xfrm>
            <a:off x="13734976" y="3770280"/>
            <a:ext cx="1265238" cy="506346"/>
          </a:xfrm>
          <a:prstGeom prst="rect">
            <a:avLst/>
          </a:prstGeom>
        </p:spPr>
        <p:txBody>
          <a:bodyPr lIns="0" tIns="0" rIns="0" bIns="0" rtlCol="0" anchor="t">
            <a:spAutoFit/>
          </a:bodyPr>
          <a:lstStyle/>
          <a:p>
            <a:pPr algn="ctr">
              <a:lnSpc>
                <a:spcPts val="2065"/>
              </a:lnSpc>
              <a:spcBef>
                <a:spcPct val="0"/>
              </a:spcBef>
            </a:pPr>
            <a:r>
              <a:rPr lang="en-US" sz="1475" b="1">
                <a:solidFill>
                  <a:srgbClr val="DF1A34"/>
                </a:solidFill>
                <a:latin typeface="Montserrat Bold"/>
                <a:ea typeface="Montserrat Bold"/>
                <a:cs typeface="Montserrat Bold"/>
                <a:sym typeface="Montserrat Bold"/>
              </a:rPr>
              <a:t>Target Group</a:t>
            </a:r>
          </a:p>
        </p:txBody>
      </p:sp>
      <p:sp>
        <p:nvSpPr>
          <p:cNvPr id="86" name="TextBox 86"/>
          <p:cNvSpPr txBox="1"/>
          <p:nvPr/>
        </p:nvSpPr>
        <p:spPr>
          <a:xfrm>
            <a:off x="15571428" y="1884262"/>
            <a:ext cx="2171938" cy="1231166"/>
          </a:xfrm>
          <a:prstGeom prst="rect">
            <a:avLst/>
          </a:prstGeom>
        </p:spPr>
        <p:txBody>
          <a:bodyPr lIns="0" tIns="0" rIns="0" bIns="0" rtlCol="0" anchor="t">
            <a:spAutoFit/>
          </a:bodyPr>
          <a:lstStyle/>
          <a:p>
            <a:pPr algn="just">
              <a:lnSpc>
                <a:spcPts val="1965"/>
              </a:lnSpc>
              <a:spcBef>
                <a:spcPct val="0"/>
              </a:spcBef>
            </a:pPr>
            <a:r>
              <a:rPr lang="en-US" sz="1403">
                <a:solidFill>
                  <a:srgbClr val="000000"/>
                </a:solidFill>
                <a:latin typeface="Montserrat"/>
                <a:ea typeface="Montserrat"/>
                <a:cs typeface="Montserrat"/>
                <a:sym typeface="Montserrat"/>
              </a:rPr>
              <a:t>707 customers (77.0% of December customers), prioritizing the 687 who spent more than their income in December.</a:t>
            </a:r>
          </a:p>
        </p:txBody>
      </p:sp>
      <p:sp>
        <p:nvSpPr>
          <p:cNvPr id="87" name="TextBox 87"/>
          <p:cNvSpPr txBox="1"/>
          <p:nvPr/>
        </p:nvSpPr>
        <p:spPr>
          <a:xfrm>
            <a:off x="13418574" y="2009466"/>
            <a:ext cx="2000454"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grpSp>
        <p:nvGrpSpPr>
          <p:cNvPr id="88" name="Group 88"/>
          <p:cNvGrpSpPr/>
          <p:nvPr/>
        </p:nvGrpSpPr>
        <p:grpSpPr>
          <a:xfrm>
            <a:off x="-991687" y="1581000"/>
            <a:ext cx="5096795" cy="933132"/>
            <a:chOff x="0" y="0"/>
            <a:chExt cx="6771630" cy="1239765"/>
          </a:xfrm>
        </p:grpSpPr>
        <p:sp>
          <p:nvSpPr>
            <p:cNvPr id="89" name="Freeform 89"/>
            <p:cNvSpPr/>
            <p:nvPr/>
          </p:nvSpPr>
          <p:spPr>
            <a:xfrm>
              <a:off x="0" y="0"/>
              <a:ext cx="6771629" cy="1239762"/>
            </a:xfrm>
            <a:custGeom>
              <a:avLst/>
              <a:gdLst/>
              <a:ahLst/>
              <a:cxnLst/>
              <a:rect l="l" t="t" r="r" b="b"/>
              <a:pathLst>
                <a:path w="6771629" h="1239762">
                  <a:moveTo>
                    <a:pt x="0" y="0"/>
                  </a:moveTo>
                  <a:lnTo>
                    <a:pt x="6771629" y="0"/>
                  </a:lnTo>
                  <a:lnTo>
                    <a:pt x="6771629" y="1239762"/>
                  </a:lnTo>
                  <a:lnTo>
                    <a:pt x="0" y="1239762"/>
                  </a:lnTo>
                  <a:close/>
                </a:path>
              </a:pathLst>
            </a:custGeom>
            <a:blipFill>
              <a:blip r:embed="rId2">
                <a:alphaModFix amt="0"/>
              </a:blip>
              <a:stretch>
                <a:fillRect t="-295046" r="-222211" b="-290801"/>
              </a:stretch>
            </a:blipFill>
          </p:spPr>
          <p:txBody>
            <a:bodyPr/>
            <a:lstStyle/>
            <a:p>
              <a:endParaRPr lang="en-US"/>
            </a:p>
          </p:txBody>
        </p:sp>
        <p:sp>
          <p:nvSpPr>
            <p:cNvPr id="90" name="TextBox 90"/>
            <p:cNvSpPr txBox="1"/>
            <p:nvPr/>
          </p:nvSpPr>
          <p:spPr>
            <a:xfrm>
              <a:off x="0" y="-38100"/>
              <a:ext cx="6771630" cy="1277865"/>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Spending </a:t>
              </a:r>
            </a:p>
            <a:p>
              <a:pPr algn="ctr">
                <a:lnSpc>
                  <a:spcPts val="3499"/>
                </a:lnSpc>
              </a:pPr>
              <a:r>
                <a:rPr lang="en-US" sz="2499" b="1">
                  <a:solidFill>
                    <a:srgbClr val="DF1A34"/>
                  </a:solidFill>
                  <a:latin typeface="Montserrat Ultra-Bold"/>
                  <a:ea typeface="Montserrat Ultra-Bold"/>
                  <a:cs typeface="Montserrat Ultra-Bold"/>
                  <a:sym typeface="Montserrat Ultra-Bold"/>
                </a:rPr>
                <a:t>Alerts</a:t>
              </a:r>
            </a:p>
          </p:txBody>
        </p:sp>
      </p:grpSp>
      <p:grpSp>
        <p:nvGrpSpPr>
          <p:cNvPr id="91" name="Group 91"/>
          <p:cNvGrpSpPr/>
          <p:nvPr/>
        </p:nvGrpSpPr>
        <p:grpSpPr>
          <a:xfrm>
            <a:off x="3" y="5828839"/>
            <a:ext cx="5096795" cy="496744"/>
            <a:chOff x="0" y="0"/>
            <a:chExt cx="6771630" cy="659977"/>
          </a:xfrm>
        </p:grpSpPr>
        <p:sp>
          <p:nvSpPr>
            <p:cNvPr id="92" name="Freeform 92"/>
            <p:cNvSpPr/>
            <p:nvPr/>
          </p:nvSpPr>
          <p:spPr>
            <a:xfrm>
              <a:off x="0" y="0"/>
              <a:ext cx="6771629" cy="659975"/>
            </a:xfrm>
            <a:custGeom>
              <a:avLst/>
              <a:gdLst/>
              <a:ahLst/>
              <a:cxnLst/>
              <a:rect l="l" t="t" r="r" b="b"/>
              <a:pathLst>
                <a:path w="6771629" h="659975">
                  <a:moveTo>
                    <a:pt x="0" y="0"/>
                  </a:moveTo>
                  <a:lnTo>
                    <a:pt x="6771629" y="0"/>
                  </a:lnTo>
                  <a:lnTo>
                    <a:pt x="6771629" y="659975"/>
                  </a:lnTo>
                  <a:lnTo>
                    <a:pt x="0" y="659975"/>
                  </a:lnTo>
                  <a:close/>
                </a:path>
              </a:pathLst>
            </a:custGeom>
            <a:blipFill>
              <a:blip r:embed="rId2">
                <a:alphaModFix amt="0"/>
              </a:blip>
              <a:stretch>
                <a:fillRect t="-554243" r="-222211" b="-634119"/>
              </a:stretch>
            </a:blipFill>
          </p:spPr>
          <p:txBody>
            <a:bodyPr/>
            <a:lstStyle/>
            <a:p>
              <a:endParaRPr lang="en-US"/>
            </a:p>
          </p:txBody>
        </p:sp>
        <p:sp>
          <p:nvSpPr>
            <p:cNvPr id="93" name="TextBox 93"/>
            <p:cNvSpPr txBox="1"/>
            <p:nvPr/>
          </p:nvSpPr>
          <p:spPr>
            <a:xfrm>
              <a:off x="0" y="-38100"/>
              <a:ext cx="6771630"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Digital-channel nudges</a:t>
              </a:r>
            </a:p>
          </p:txBody>
        </p:sp>
      </p:grpSp>
      <p:sp>
        <p:nvSpPr>
          <p:cNvPr id="94" name="Freeform 94"/>
          <p:cNvSpPr/>
          <p:nvPr/>
        </p:nvSpPr>
        <p:spPr>
          <a:xfrm>
            <a:off x="10253175" y="5814069"/>
            <a:ext cx="4090151" cy="3830083"/>
          </a:xfrm>
          <a:custGeom>
            <a:avLst/>
            <a:gdLst/>
            <a:ahLst/>
            <a:cxnLst/>
            <a:rect l="l" t="t" r="r" b="b"/>
            <a:pathLst>
              <a:path w="4090151" h="3830083">
                <a:moveTo>
                  <a:pt x="0" y="0"/>
                </a:moveTo>
                <a:lnTo>
                  <a:pt x="4090151" y="0"/>
                </a:lnTo>
                <a:lnTo>
                  <a:pt x="4090151" y="3830084"/>
                </a:lnTo>
                <a:lnTo>
                  <a:pt x="0" y="3830084"/>
                </a:lnTo>
                <a:lnTo>
                  <a:pt x="0" y="0"/>
                </a:lnTo>
                <a:close/>
              </a:path>
            </a:pathLst>
          </a:custGeom>
          <a:blipFill>
            <a:blip r:embed="rId4"/>
            <a:stretch>
              <a:fillRect/>
            </a:stretch>
          </a:blipFill>
        </p:spPr>
        <p:txBody>
          <a:bodyPr/>
          <a:lstStyle/>
          <a:p>
            <a:endParaRPr lang="en-US"/>
          </a:p>
        </p:txBody>
      </p:sp>
      <p:sp>
        <p:nvSpPr>
          <p:cNvPr id="95" name="Freeform 95"/>
          <p:cNvSpPr/>
          <p:nvPr/>
        </p:nvSpPr>
        <p:spPr>
          <a:xfrm>
            <a:off x="14501729" y="5814069"/>
            <a:ext cx="3508927" cy="3830083"/>
          </a:xfrm>
          <a:custGeom>
            <a:avLst/>
            <a:gdLst/>
            <a:ahLst/>
            <a:cxnLst/>
            <a:rect l="l" t="t" r="r" b="b"/>
            <a:pathLst>
              <a:path w="3508927" h="3830083">
                <a:moveTo>
                  <a:pt x="0" y="0"/>
                </a:moveTo>
                <a:lnTo>
                  <a:pt x="3508927" y="0"/>
                </a:lnTo>
                <a:lnTo>
                  <a:pt x="3508927" y="3830084"/>
                </a:lnTo>
                <a:lnTo>
                  <a:pt x="0" y="3830084"/>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79" y="9785101"/>
            <a:ext cx="18288357" cy="0"/>
          </a:xfrm>
          <a:prstGeom prst="line">
            <a:avLst/>
          </a:prstGeom>
          <a:ln w="1905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3" name="Group 3"/>
          <p:cNvGrpSpPr/>
          <p:nvPr/>
        </p:nvGrpSpPr>
        <p:grpSpPr>
          <a:xfrm>
            <a:off x="7723138" y="9842251"/>
            <a:ext cx="3111697" cy="388319"/>
            <a:chOff x="0" y="0"/>
            <a:chExt cx="819542" cy="102273"/>
          </a:xfrm>
        </p:grpSpPr>
        <p:sp>
          <p:nvSpPr>
            <p:cNvPr id="4" name="Freeform 4"/>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FFFF"/>
            </a:solidFill>
          </p:spPr>
          <p:txBody>
            <a:bodyPr/>
            <a:lstStyle/>
            <a:p>
              <a:endParaRPr lang="en-US"/>
            </a:p>
          </p:txBody>
        </p:sp>
        <p:sp>
          <p:nvSpPr>
            <p:cNvPr id="5" name="TextBox 5"/>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grpSp>
        <p:nvGrpSpPr>
          <p:cNvPr id="6" name="Group 6"/>
          <p:cNvGrpSpPr/>
          <p:nvPr/>
        </p:nvGrpSpPr>
        <p:grpSpPr>
          <a:xfrm>
            <a:off x="14557794" y="9842251"/>
            <a:ext cx="3111697" cy="388319"/>
            <a:chOff x="0" y="0"/>
            <a:chExt cx="819542" cy="102273"/>
          </a:xfrm>
        </p:grpSpPr>
        <p:sp>
          <p:nvSpPr>
            <p:cNvPr id="7" name="Freeform 7"/>
            <p:cNvSpPr/>
            <p:nvPr/>
          </p:nvSpPr>
          <p:spPr>
            <a:xfrm>
              <a:off x="0" y="0"/>
              <a:ext cx="819542" cy="102273"/>
            </a:xfrm>
            <a:custGeom>
              <a:avLst/>
              <a:gdLst/>
              <a:ahLst/>
              <a:cxnLst/>
              <a:rect l="l" t="t" r="r" b="b"/>
              <a:pathLst>
                <a:path w="819542" h="102273">
                  <a:moveTo>
                    <a:pt x="0" y="0"/>
                  </a:moveTo>
                  <a:lnTo>
                    <a:pt x="819542" y="0"/>
                  </a:lnTo>
                  <a:lnTo>
                    <a:pt x="819542" y="102273"/>
                  </a:lnTo>
                  <a:lnTo>
                    <a:pt x="0" y="102273"/>
                  </a:lnTo>
                  <a:close/>
                </a:path>
              </a:pathLst>
            </a:custGeom>
            <a:solidFill>
              <a:srgbClr val="FFEAB1"/>
            </a:solidFill>
          </p:spPr>
          <p:txBody>
            <a:bodyPr/>
            <a:lstStyle/>
            <a:p>
              <a:endParaRPr lang="en-US"/>
            </a:p>
          </p:txBody>
        </p:sp>
        <p:sp>
          <p:nvSpPr>
            <p:cNvPr id="8" name="TextBox 8"/>
            <p:cNvSpPr txBox="1"/>
            <p:nvPr/>
          </p:nvSpPr>
          <p:spPr>
            <a:xfrm>
              <a:off x="0" y="-38100"/>
              <a:ext cx="819542" cy="140373"/>
            </a:xfrm>
            <a:prstGeom prst="rect">
              <a:avLst/>
            </a:prstGeom>
          </p:spPr>
          <p:txBody>
            <a:bodyPr lIns="76200" tIns="76200" rIns="76200" bIns="76200" rtlCol="0" anchor="ctr"/>
            <a:lstStyle/>
            <a:p>
              <a:pPr algn="ctr">
                <a:lnSpc>
                  <a:spcPts val="2800"/>
                </a:lnSpc>
              </a:pPr>
              <a:endParaRPr/>
            </a:p>
          </p:txBody>
        </p:sp>
      </p:grpSp>
      <p:sp>
        <p:nvSpPr>
          <p:cNvPr id="9" name="AutoShape 9"/>
          <p:cNvSpPr/>
          <p:nvPr/>
        </p:nvSpPr>
        <p:spPr>
          <a:xfrm>
            <a:off x="923268" y="1369317"/>
            <a:ext cx="16408126" cy="0"/>
          </a:xfrm>
          <a:prstGeom prst="line">
            <a:avLst/>
          </a:prstGeom>
          <a:ln w="38100" cap="flat">
            <a:gradFill>
              <a:gsLst>
                <a:gs pos="0">
                  <a:srgbClr val="FFD862">
                    <a:alpha val="50000"/>
                  </a:srgbClr>
                </a:gs>
                <a:gs pos="50000">
                  <a:srgbClr val="E15F4B">
                    <a:alpha val="50000"/>
                  </a:srgbClr>
                </a:gs>
                <a:gs pos="100000">
                  <a:srgbClr val="733045">
                    <a:alpha val="50000"/>
                  </a:srgbClr>
                </a:gs>
              </a:gsLst>
              <a:lin ang="2700000"/>
            </a:gradFill>
            <a:prstDash val="solid"/>
            <a:headEnd type="none" w="sm" len="sm"/>
            <a:tailEnd type="none" w="sm" len="sm"/>
          </a:ln>
        </p:spPr>
        <p:txBody>
          <a:bodyPr/>
          <a:lstStyle/>
          <a:p>
            <a:endParaRPr lang="en-US"/>
          </a:p>
        </p:txBody>
      </p:sp>
      <p:grpSp>
        <p:nvGrpSpPr>
          <p:cNvPr id="10" name="Group 10"/>
          <p:cNvGrpSpPr/>
          <p:nvPr/>
        </p:nvGrpSpPr>
        <p:grpSpPr>
          <a:xfrm>
            <a:off x="967149" y="147997"/>
            <a:ext cx="16364245" cy="379415"/>
            <a:chOff x="0" y="0"/>
            <a:chExt cx="21818994" cy="505887"/>
          </a:xfrm>
        </p:grpSpPr>
        <p:sp>
          <p:nvSpPr>
            <p:cNvPr id="11" name="Freeform 11"/>
            <p:cNvSpPr/>
            <p:nvPr/>
          </p:nvSpPr>
          <p:spPr>
            <a:xfrm>
              <a:off x="0" y="0"/>
              <a:ext cx="21818991" cy="505886"/>
            </a:xfrm>
            <a:custGeom>
              <a:avLst/>
              <a:gdLst/>
              <a:ahLst/>
              <a:cxnLst/>
              <a:rect l="l" t="t" r="r" b="b"/>
              <a:pathLst>
                <a:path w="21818991" h="505886">
                  <a:moveTo>
                    <a:pt x="0" y="0"/>
                  </a:moveTo>
                  <a:lnTo>
                    <a:pt x="21818991" y="0"/>
                  </a:lnTo>
                  <a:lnTo>
                    <a:pt x="21818991" y="505886"/>
                  </a:lnTo>
                  <a:lnTo>
                    <a:pt x="0" y="505886"/>
                  </a:lnTo>
                  <a:close/>
                </a:path>
              </a:pathLst>
            </a:custGeom>
            <a:blipFill>
              <a:blip r:embed="rId2">
                <a:alphaModFix amt="0"/>
              </a:blip>
              <a:stretch>
                <a:fillRect t="-723063" b="-857727"/>
              </a:stretch>
            </a:blipFill>
          </p:spPr>
          <p:txBody>
            <a:bodyPr/>
            <a:lstStyle/>
            <a:p>
              <a:endParaRPr lang="en-US"/>
            </a:p>
          </p:txBody>
        </p:sp>
        <p:sp>
          <p:nvSpPr>
            <p:cNvPr id="12" name="TextBox 12"/>
            <p:cNvSpPr txBox="1"/>
            <p:nvPr/>
          </p:nvSpPr>
          <p:spPr>
            <a:xfrm>
              <a:off x="0" y="0"/>
              <a:ext cx="21818994" cy="505887"/>
            </a:xfrm>
            <a:prstGeom prst="rect">
              <a:avLst/>
            </a:prstGeom>
          </p:spPr>
          <p:txBody>
            <a:bodyPr lIns="0" tIns="0" rIns="0" bIns="0" rtlCol="0" anchor="b"/>
            <a:lstStyle/>
            <a:p>
              <a:pPr algn="l">
                <a:lnSpc>
                  <a:spcPts val="3600"/>
                </a:lnSpc>
              </a:pPr>
              <a:endParaRPr/>
            </a:p>
          </p:txBody>
        </p:sp>
      </p:grpSp>
      <p:grpSp>
        <p:nvGrpSpPr>
          <p:cNvPr id="13" name="Group 13"/>
          <p:cNvGrpSpPr/>
          <p:nvPr/>
        </p:nvGrpSpPr>
        <p:grpSpPr>
          <a:xfrm>
            <a:off x="923268" y="147997"/>
            <a:ext cx="16364245" cy="1034066"/>
            <a:chOff x="0" y="0"/>
            <a:chExt cx="21818994" cy="1378755"/>
          </a:xfrm>
        </p:grpSpPr>
        <p:sp>
          <p:nvSpPr>
            <p:cNvPr id="14" name="Freeform 14"/>
            <p:cNvSpPr/>
            <p:nvPr/>
          </p:nvSpPr>
          <p:spPr>
            <a:xfrm>
              <a:off x="0" y="0"/>
              <a:ext cx="21818991" cy="1378752"/>
            </a:xfrm>
            <a:custGeom>
              <a:avLst/>
              <a:gdLst/>
              <a:ahLst/>
              <a:cxnLst/>
              <a:rect l="l" t="t" r="r" b="b"/>
              <a:pathLst>
                <a:path w="21818991" h="1378752">
                  <a:moveTo>
                    <a:pt x="0" y="0"/>
                  </a:moveTo>
                  <a:lnTo>
                    <a:pt x="21818991" y="0"/>
                  </a:lnTo>
                  <a:lnTo>
                    <a:pt x="21818991" y="1378752"/>
                  </a:lnTo>
                  <a:lnTo>
                    <a:pt x="0" y="1378752"/>
                  </a:lnTo>
                  <a:close/>
                </a:path>
              </a:pathLst>
            </a:custGeom>
            <a:blipFill>
              <a:blip r:embed="rId2">
                <a:alphaModFix amt="0"/>
              </a:blip>
              <a:stretch>
                <a:fillRect t="-265303" b="-251405"/>
              </a:stretch>
            </a:blipFill>
          </p:spPr>
          <p:txBody>
            <a:bodyPr/>
            <a:lstStyle/>
            <a:p>
              <a:endParaRPr lang="en-US"/>
            </a:p>
          </p:txBody>
        </p:sp>
        <p:sp>
          <p:nvSpPr>
            <p:cNvPr id="15" name="TextBox 15"/>
            <p:cNvSpPr txBox="1"/>
            <p:nvPr/>
          </p:nvSpPr>
          <p:spPr>
            <a:xfrm>
              <a:off x="0" y="-57150"/>
              <a:ext cx="21818994" cy="1435905"/>
            </a:xfrm>
            <a:prstGeom prst="rect">
              <a:avLst/>
            </a:prstGeom>
          </p:spPr>
          <p:txBody>
            <a:bodyPr lIns="0" tIns="0" rIns="0" bIns="0" rtlCol="0" anchor="b"/>
            <a:lstStyle/>
            <a:p>
              <a:pPr algn="l">
                <a:lnSpc>
                  <a:spcPts val="4200"/>
                </a:lnSpc>
              </a:pPr>
              <a:r>
                <a:rPr lang="en-US" sz="3000" b="1">
                  <a:solidFill>
                    <a:srgbClr val="CD4E4F"/>
                  </a:solidFill>
                  <a:latin typeface="Montserrat Bold"/>
                  <a:ea typeface="Montserrat Bold"/>
                  <a:cs typeface="Montserrat Bold"/>
                  <a:sym typeface="Montserrat Bold"/>
                </a:rPr>
                <a:t>Recommendation</a:t>
              </a:r>
            </a:p>
            <a:p>
              <a:pPr algn="l">
                <a:lnSpc>
                  <a:spcPts val="3500"/>
                </a:lnSpc>
              </a:pPr>
              <a:r>
                <a:rPr lang="en-US" sz="2500">
                  <a:solidFill>
                    <a:srgbClr val="000000"/>
                  </a:solidFill>
                  <a:latin typeface="Montserrat"/>
                  <a:ea typeface="Montserrat"/>
                  <a:cs typeface="Montserrat"/>
                  <a:sym typeface="Montserrat"/>
                </a:rPr>
                <a:t>Six non-punitive interventions</a:t>
              </a:r>
            </a:p>
          </p:txBody>
        </p:sp>
      </p:grpSp>
      <p:grpSp>
        <p:nvGrpSpPr>
          <p:cNvPr id="16" name="Group 16"/>
          <p:cNvGrpSpPr/>
          <p:nvPr/>
        </p:nvGrpSpPr>
        <p:grpSpPr>
          <a:xfrm>
            <a:off x="3" y="234756"/>
            <a:ext cx="734804" cy="442640"/>
            <a:chOff x="0" y="0"/>
            <a:chExt cx="626275" cy="377263"/>
          </a:xfrm>
        </p:grpSpPr>
        <p:sp>
          <p:nvSpPr>
            <p:cNvPr id="17" name="Freeform 17"/>
            <p:cNvSpPr/>
            <p:nvPr/>
          </p:nvSpPr>
          <p:spPr>
            <a:xfrm>
              <a:off x="0" y="0"/>
              <a:ext cx="626275" cy="377263"/>
            </a:xfrm>
            <a:custGeom>
              <a:avLst/>
              <a:gdLst/>
              <a:ahLst/>
              <a:cxnLst/>
              <a:rect l="l" t="t" r="r" b="b"/>
              <a:pathLst>
                <a:path w="626275" h="377263">
                  <a:moveTo>
                    <a:pt x="0" y="0"/>
                  </a:moveTo>
                  <a:lnTo>
                    <a:pt x="626275" y="0"/>
                  </a:lnTo>
                  <a:lnTo>
                    <a:pt x="626275" y="377263"/>
                  </a:lnTo>
                  <a:lnTo>
                    <a:pt x="0" y="377263"/>
                  </a:lnTo>
                  <a:close/>
                </a:path>
              </a:pathLst>
            </a:custGeom>
            <a:solidFill>
              <a:srgbClr val="FF751F"/>
            </a:solidFill>
          </p:spPr>
          <p:txBody>
            <a:bodyPr/>
            <a:lstStyle/>
            <a:p>
              <a:endParaRPr lang="en-US"/>
            </a:p>
          </p:txBody>
        </p:sp>
      </p:grpSp>
      <p:grpSp>
        <p:nvGrpSpPr>
          <p:cNvPr id="18" name="Group 18"/>
          <p:cNvGrpSpPr/>
          <p:nvPr/>
        </p:nvGrpSpPr>
        <p:grpSpPr>
          <a:xfrm>
            <a:off x="3" y="1544637"/>
            <a:ext cx="5982764" cy="1371282"/>
            <a:chOff x="0" y="0"/>
            <a:chExt cx="7977018" cy="1828377"/>
          </a:xfrm>
        </p:grpSpPr>
        <p:sp>
          <p:nvSpPr>
            <p:cNvPr id="19" name="Freeform 19"/>
            <p:cNvSpPr/>
            <p:nvPr/>
          </p:nvSpPr>
          <p:spPr>
            <a:xfrm>
              <a:off x="0" y="0"/>
              <a:ext cx="7977017" cy="1828373"/>
            </a:xfrm>
            <a:custGeom>
              <a:avLst/>
              <a:gdLst/>
              <a:ahLst/>
              <a:cxnLst/>
              <a:rect l="l" t="t" r="r" b="b"/>
              <a:pathLst>
                <a:path w="7977017" h="1828373">
                  <a:moveTo>
                    <a:pt x="0" y="0"/>
                  </a:moveTo>
                  <a:lnTo>
                    <a:pt x="7977017" y="0"/>
                  </a:lnTo>
                  <a:lnTo>
                    <a:pt x="7977017" y="1828373"/>
                  </a:lnTo>
                  <a:lnTo>
                    <a:pt x="0" y="1828373"/>
                  </a:lnTo>
                  <a:close/>
                </a:path>
              </a:pathLst>
            </a:custGeom>
            <a:blipFill>
              <a:blip r:embed="rId2">
                <a:alphaModFix amt="0"/>
              </a:blip>
              <a:stretch>
                <a:fillRect t="-200061" r="-173523" b="-164990"/>
              </a:stretch>
            </a:blipFill>
          </p:spPr>
          <p:txBody>
            <a:bodyPr/>
            <a:lstStyle/>
            <a:p>
              <a:endParaRPr lang="en-US"/>
            </a:p>
          </p:txBody>
        </p:sp>
        <p:sp>
          <p:nvSpPr>
            <p:cNvPr id="20" name="TextBox 20"/>
            <p:cNvSpPr txBox="1"/>
            <p:nvPr/>
          </p:nvSpPr>
          <p:spPr>
            <a:xfrm>
              <a:off x="0" y="-38100"/>
              <a:ext cx="7977018" cy="18664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Financial-planning reminders</a:t>
              </a:r>
            </a:p>
            <a:p>
              <a:pPr algn="ctr">
                <a:lnSpc>
                  <a:spcPts val="3499"/>
                </a:lnSpc>
              </a:pPr>
              <a:endParaRPr lang="en-US" sz="2499" b="1">
                <a:solidFill>
                  <a:srgbClr val="DF1A34"/>
                </a:solidFill>
                <a:latin typeface="Montserrat Ultra-Bold"/>
                <a:ea typeface="Montserrat Ultra-Bold"/>
                <a:cs typeface="Montserrat Ultra-Bold"/>
                <a:sym typeface="Montserrat Ultra-Bold"/>
              </a:endParaRPr>
            </a:p>
            <a:p>
              <a:pPr algn="ctr">
                <a:lnSpc>
                  <a:spcPts val="3499"/>
                </a:lnSpc>
              </a:pPr>
              <a:endParaRPr lang="en-US" sz="2499" b="1">
                <a:solidFill>
                  <a:srgbClr val="DF1A34"/>
                </a:solidFill>
                <a:latin typeface="Montserrat Ultra-Bold"/>
                <a:ea typeface="Montserrat Ultra-Bold"/>
                <a:cs typeface="Montserrat Ultra-Bold"/>
                <a:sym typeface="Montserrat Ultra-Bold"/>
              </a:endParaRPr>
            </a:p>
          </p:txBody>
        </p:sp>
      </p:grpSp>
      <p:grpSp>
        <p:nvGrpSpPr>
          <p:cNvPr id="21" name="Group 21"/>
          <p:cNvGrpSpPr/>
          <p:nvPr/>
        </p:nvGrpSpPr>
        <p:grpSpPr>
          <a:xfrm>
            <a:off x="2155156" y="2115819"/>
            <a:ext cx="6950235" cy="1194438"/>
            <a:chOff x="0" y="0"/>
            <a:chExt cx="1830515" cy="314585"/>
          </a:xfrm>
        </p:grpSpPr>
        <p:sp>
          <p:nvSpPr>
            <p:cNvPr id="22" name="Freeform 22"/>
            <p:cNvSpPr/>
            <p:nvPr/>
          </p:nvSpPr>
          <p:spPr>
            <a:xfrm>
              <a:off x="0" y="0"/>
              <a:ext cx="1830514" cy="314585"/>
            </a:xfrm>
            <a:custGeom>
              <a:avLst/>
              <a:gdLst/>
              <a:ahLst/>
              <a:cxnLst/>
              <a:rect l="l" t="t" r="r" b="b"/>
              <a:pathLst>
                <a:path w="1830514" h="314585">
                  <a:moveTo>
                    <a:pt x="22278" y="0"/>
                  </a:moveTo>
                  <a:lnTo>
                    <a:pt x="1808236" y="0"/>
                  </a:lnTo>
                  <a:cubicBezTo>
                    <a:pt x="1814145" y="0"/>
                    <a:pt x="1819811" y="2347"/>
                    <a:pt x="1823989" y="6525"/>
                  </a:cubicBezTo>
                  <a:cubicBezTo>
                    <a:pt x="1828167" y="10703"/>
                    <a:pt x="1830514" y="16370"/>
                    <a:pt x="1830514" y="22278"/>
                  </a:cubicBezTo>
                  <a:lnTo>
                    <a:pt x="1830514" y="292306"/>
                  </a:lnTo>
                  <a:cubicBezTo>
                    <a:pt x="1830514" y="298215"/>
                    <a:pt x="1828167" y="303881"/>
                    <a:pt x="1823989" y="308059"/>
                  </a:cubicBezTo>
                  <a:cubicBezTo>
                    <a:pt x="1819811" y="312237"/>
                    <a:pt x="1814145" y="314585"/>
                    <a:pt x="1808236" y="314585"/>
                  </a:cubicBezTo>
                  <a:lnTo>
                    <a:pt x="22278" y="314585"/>
                  </a:lnTo>
                  <a:cubicBezTo>
                    <a:pt x="9974" y="314585"/>
                    <a:pt x="0" y="304610"/>
                    <a:pt x="0" y="292306"/>
                  </a:cubicBezTo>
                  <a:lnTo>
                    <a:pt x="0" y="22278"/>
                  </a:lnTo>
                  <a:cubicBezTo>
                    <a:pt x="0" y="16370"/>
                    <a:pt x="2347" y="10703"/>
                    <a:pt x="6525" y="6525"/>
                  </a:cubicBezTo>
                  <a:cubicBezTo>
                    <a:pt x="10703" y="2347"/>
                    <a:pt x="16370" y="0"/>
                    <a:pt x="22278" y="0"/>
                  </a:cubicBezTo>
                  <a:close/>
                </a:path>
              </a:pathLst>
            </a:custGeom>
            <a:ln w="9525" cap="sq">
              <a:solidFill>
                <a:srgbClr val="E15F4B"/>
              </a:solidFill>
              <a:prstDash val="lgDash"/>
              <a:miter/>
            </a:ln>
          </p:spPr>
          <p:txBody>
            <a:bodyPr/>
            <a:lstStyle/>
            <a:p>
              <a:endParaRPr lang="en-US"/>
            </a:p>
          </p:txBody>
        </p:sp>
        <p:sp>
          <p:nvSpPr>
            <p:cNvPr id="23" name="TextBox 23"/>
            <p:cNvSpPr txBox="1"/>
            <p:nvPr/>
          </p:nvSpPr>
          <p:spPr>
            <a:xfrm>
              <a:off x="0" y="-38100"/>
              <a:ext cx="1830515" cy="352685"/>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506621" y="2115819"/>
            <a:ext cx="1542015" cy="1025844"/>
            <a:chOff x="0" y="0"/>
            <a:chExt cx="406128" cy="270181"/>
          </a:xfrm>
        </p:grpSpPr>
        <p:sp>
          <p:nvSpPr>
            <p:cNvPr id="25" name="Freeform 25"/>
            <p:cNvSpPr/>
            <p:nvPr/>
          </p:nvSpPr>
          <p:spPr>
            <a:xfrm>
              <a:off x="0" y="0"/>
              <a:ext cx="406128" cy="270181"/>
            </a:xfrm>
            <a:custGeom>
              <a:avLst/>
              <a:gdLst/>
              <a:ahLst/>
              <a:cxnLst/>
              <a:rect l="l" t="t" r="r" b="b"/>
              <a:pathLst>
                <a:path w="406128" h="270181">
                  <a:moveTo>
                    <a:pt x="100413" y="0"/>
                  </a:moveTo>
                  <a:lnTo>
                    <a:pt x="305715" y="0"/>
                  </a:lnTo>
                  <a:cubicBezTo>
                    <a:pt x="332346" y="0"/>
                    <a:pt x="357886" y="10579"/>
                    <a:pt x="376717" y="29410"/>
                  </a:cubicBezTo>
                  <a:cubicBezTo>
                    <a:pt x="395548" y="48241"/>
                    <a:pt x="406128" y="73782"/>
                    <a:pt x="406128" y="100413"/>
                  </a:cubicBezTo>
                  <a:lnTo>
                    <a:pt x="406128" y="169768"/>
                  </a:lnTo>
                  <a:cubicBezTo>
                    <a:pt x="406128" y="196399"/>
                    <a:pt x="395548" y="221940"/>
                    <a:pt x="376717" y="240771"/>
                  </a:cubicBezTo>
                  <a:cubicBezTo>
                    <a:pt x="357886" y="259602"/>
                    <a:pt x="332346" y="270181"/>
                    <a:pt x="305715" y="270181"/>
                  </a:cubicBezTo>
                  <a:lnTo>
                    <a:pt x="100413" y="270181"/>
                  </a:lnTo>
                  <a:cubicBezTo>
                    <a:pt x="44956" y="270181"/>
                    <a:pt x="0" y="225225"/>
                    <a:pt x="0" y="169768"/>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26" name="TextBox 26"/>
            <p:cNvSpPr txBox="1"/>
            <p:nvPr/>
          </p:nvSpPr>
          <p:spPr>
            <a:xfrm>
              <a:off x="0" y="-28575"/>
              <a:ext cx="406128" cy="298756"/>
            </a:xfrm>
            <a:prstGeom prst="rect">
              <a:avLst/>
            </a:prstGeom>
          </p:spPr>
          <p:txBody>
            <a:bodyPr lIns="50800" tIns="50800" rIns="50800" bIns="50800" rtlCol="0" anchor="ctr"/>
            <a:lstStyle/>
            <a:p>
              <a:pPr algn="ctr">
                <a:lnSpc>
                  <a:spcPts val="1960"/>
                </a:lnSpc>
              </a:pPr>
              <a:endParaRPr/>
            </a:p>
          </p:txBody>
        </p:sp>
      </p:grpSp>
      <p:grpSp>
        <p:nvGrpSpPr>
          <p:cNvPr id="27" name="Group 27"/>
          <p:cNvGrpSpPr/>
          <p:nvPr/>
        </p:nvGrpSpPr>
        <p:grpSpPr>
          <a:xfrm>
            <a:off x="2167223" y="3386457"/>
            <a:ext cx="6938169" cy="810133"/>
            <a:chOff x="0" y="0"/>
            <a:chExt cx="1827337" cy="213368"/>
          </a:xfrm>
        </p:grpSpPr>
        <p:sp>
          <p:nvSpPr>
            <p:cNvPr id="28" name="Freeform 28"/>
            <p:cNvSpPr/>
            <p:nvPr/>
          </p:nvSpPr>
          <p:spPr>
            <a:xfrm>
              <a:off x="0" y="0"/>
              <a:ext cx="1827337" cy="213368"/>
            </a:xfrm>
            <a:custGeom>
              <a:avLst/>
              <a:gdLst/>
              <a:ahLst/>
              <a:cxnLst/>
              <a:rect l="l" t="t" r="r" b="b"/>
              <a:pathLst>
                <a:path w="1827337" h="213368">
                  <a:moveTo>
                    <a:pt x="22317" y="0"/>
                  </a:moveTo>
                  <a:lnTo>
                    <a:pt x="1805020" y="0"/>
                  </a:lnTo>
                  <a:cubicBezTo>
                    <a:pt x="1810938" y="0"/>
                    <a:pt x="1816615" y="2351"/>
                    <a:pt x="1820800" y="6536"/>
                  </a:cubicBezTo>
                  <a:cubicBezTo>
                    <a:pt x="1824985" y="10722"/>
                    <a:pt x="1827337" y="16398"/>
                    <a:pt x="1827337" y="22317"/>
                  </a:cubicBezTo>
                  <a:lnTo>
                    <a:pt x="1827337" y="191051"/>
                  </a:lnTo>
                  <a:cubicBezTo>
                    <a:pt x="1827337" y="203377"/>
                    <a:pt x="1817345" y="213368"/>
                    <a:pt x="1805020" y="213368"/>
                  </a:cubicBezTo>
                  <a:lnTo>
                    <a:pt x="22317" y="213368"/>
                  </a:lnTo>
                  <a:cubicBezTo>
                    <a:pt x="9992" y="213368"/>
                    <a:pt x="0" y="203377"/>
                    <a:pt x="0" y="191051"/>
                  </a:cubicBezTo>
                  <a:lnTo>
                    <a:pt x="0" y="22317"/>
                  </a:lnTo>
                  <a:cubicBezTo>
                    <a:pt x="0" y="9992"/>
                    <a:pt x="9992" y="0"/>
                    <a:pt x="22317" y="0"/>
                  </a:cubicBezTo>
                  <a:close/>
                </a:path>
              </a:pathLst>
            </a:custGeom>
            <a:ln w="9525" cap="sq">
              <a:solidFill>
                <a:srgbClr val="E15F4B"/>
              </a:solidFill>
              <a:prstDash val="lgDash"/>
              <a:miter/>
            </a:ln>
          </p:spPr>
          <p:txBody>
            <a:bodyPr/>
            <a:lstStyle/>
            <a:p>
              <a:endParaRPr lang="en-US"/>
            </a:p>
          </p:txBody>
        </p:sp>
        <p:sp>
          <p:nvSpPr>
            <p:cNvPr id="29" name="TextBox 29"/>
            <p:cNvSpPr txBox="1"/>
            <p:nvPr/>
          </p:nvSpPr>
          <p:spPr>
            <a:xfrm>
              <a:off x="0" y="-38100"/>
              <a:ext cx="1827337" cy="251468"/>
            </a:xfrm>
            <a:prstGeom prst="rect">
              <a:avLst/>
            </a:prstGeom>
          </p:spPr>
          <p:txBody>
            <a:bodyPr lIns="50800" tIns="50800" rIns="50800" bIns="50800" rtlCol="0" anchor="ctr"/>
            <a:lstStyle/>
            <a:p>
              <a:pPr algn="ctr">
                <a:lnSpc>
                  <a:spcPts val="2800"/>
                </a:lnSpc>
              </a:pPr>
              <a:endParaRPr/>
            </a:p>
          </p:txBody>
        </p:sp>
      </p:grpSp>
      <p:grpSp>
        <p:nvGrpSpPr>
          <p:cNvPr id="30" name="Group 30"/>
          <p:cNvGrpSpPr/>
          <p:nvPr/>
        </p:nvGrpSpPr>
        <p:grpSpPr>
          <a:xfrm>
            <a:off x="518687" y="3265488"/>
            <a:ext cx="1542015" cy="1007302"/>
            <a:chOff x="0" y="0"/>
            <a:chExt cx="406128" cy="265298"/>
          </a:xfrm>
        </p:grpSpPr>
        <p:sp>
          <p:nvSpPr>
            <p:cNvPr id="31" name="Freeform 31"/>
            <p:cNvSpPr/>
            <p:nvPr/>
          </p:nvSpPr>
          <p:spPr>
            <a:xfrm>
              <a:off x="0" y="0"/>
              <a:ext cx="406128" cy="265298"/>
            </a:xfrm>
            <a:custGeom>
              <a:avLst/>
              <a:gdLst/>
              <a:ahLst/>
              <a:cxnLst/>
              <a:rect l="l" t="t" r="r" b="b"/>
              <a:pathLst>
                <a:path w="406128" h="265298">
                  <a:moveTo>
                    <a:pt x="100413" y="0"/>
                  </a:moveTo>
                  <a:lnTo>
                    <a:pt x="305715" y="0"/>
                  </a:lnTo>
                  <a:cubicBezTo>
                    <a:pt x="332346" y="0"/>
                    <a:pt x="357886" y="10579"/>
                    <a:pt x="376717" y="29410"/>
                  </a:cubicBezTo>
                  <a:cubicBezTo>
                    <a:pt x="395548" y="48241"/>
                    <a:pt x="406128" y="73782"/>
                    <a:pt x="406128" y="100413"/>
                  </a:cubicBezTo>
                  <a:lnTo>
                    <a:pt x="406128" y="164885"/>
                  </a:lnTo>
                  <a:cubicBezTo>
                    <a:pt x="406128" y="191516"/>
                    <a:pt x="395548" y="217056"/>
                    <a:pt x="376717" y="235887"/>
                  </a:cubicBezTo>
                  <a:cubicBezTo>
                    <a:pt x="357886" y="254718"/>
                    <a:pt x="332346" y="265298"/>
                    <a:pt x="305715" y="265298"/>
                  </a:cubicBezTo>
                  <a:lnTo>
                    <a:pt x="100413" y="265298"/>
                  </a:lnTo>
                  <a:cubicBezTo>
                    <a:pt x="73782" y="265298"/>
                    <a:pt x="48241" y="254718"/>
                    <a:pt x="29410" y="235887"/>
                  </a:cubicBezTo>
                  <a:cubicBezTo>
                    <a:pt x="10579" y="217056"/>
                    <a:pt x="0" y="191516"/>
                    <a:pt x="0" y="164885"/>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32" name="TextBox 32"/>
            <p:cNvSpPr txBox="1"/>
            <p:nvPr/>
          </p:nvSpPr>
          <p:spPr>
            <a:xfrm>
              <a:off x="0" y="-28575"/>
              <a:ext cx="406128" cy="293873"/>
            </a:xfrm>
            <a:prstGeom prst="rect">
              <a:avLst/>
            </a:prstGeom>
          </p:spPr>
          <p:txBody>
            <a:bodyPr lIns="50800" tIns="50800" rIns="50800" bIns="50800" rtlCol="0" anchor="ctr"/>
            <a:lstStyle/>
            <a:p>
              <a:pPr algn="ctr">
                <a:lnSpc>
                  <a:spcPts val="1960"/>
                </a:lnSpc>
              </a:pPr>
              <a:endParaRPr/>
            </a:p>
          </p:txBody>
        </p:sp>
      </p:grpSp>
      <p:grpSp>
        <p:nvGrpSpPr>
          <p:cNvPr id="33" name="Group 33"/>
          <p:cNvGrpSpPr/>
          <p:nvPr/>
        </p:nvGrpSpPr>
        <p:grpSpPr>
          <a:xfrm>
            <a:off x="2192242" y="4406140"/>
            <a:ext cx="3479137" cy="1018374"/>
            <a:chOff x="0" y="0"/>
            <a:chExt cx="916316" cy="268214"/>
          </a:xfrm>
        </p:grpSpPr>
        <p:sp>
          <p:nvSpPr>
            <p:cNvPr id="34" name="Freeform 34"/>
            <p:cNvSpPr/>
            <p:nvPr/>
          </p:nvSpPr>
          <p:spPr>
            <a:xfrm>
              <a:off x="0" y="0"/>
              <a:ext cx="916316" cy="268214"/>
            </a:xfrm>
            <a:custGeom>
              <a:avLst/>
              <a:gdLst/>
              <a:ahLst/>
              <a:cxnLst/>
              <a:rect l="l" t="t" r="r" b="b"/>
              <a:pathLst>
                <a:path w="916316" h="268214">
                  <a:moveTo>
                    <a:pt x="44505" y="0"/>
                  </a:moveTo>
                  <a:lnTo>
                    <a:pt x="871811" y="0"/>
                  </a:lnTo>
                  <a:cubicBezTo>
                    <a:pt x="883614" y="0"/>
                    <a:pt x="894934" y="4689"/>
                    <a:pt x="903281" y="13035"/>
                  </a:cubicBezTo>
                  <a:cubicBezTo>
                    <a:pt x="911627" y="21381"/>
                    <a:pt x="916316" y="32701"/>
                    <a:pt x="916316" y="44505"/>
                  </a:cubicBezTo>
                  <a:lnTo>
                    <a:pt x="916316" y="223709"/>
                  </a:lnTo>
                  <a:cubicBezTo>
                    <a:pt x="916316" y="248288"/>
                    <a:pt x="896390" y="268214"/>
                    <a:pt x="871811" y="268214"/>
                  </a:cubicBezTo>
                  <a:lnTo>
                    <a:pt x="44505" y="268214"/>
                  </a:lnTo>
                  <a:cubicBezTo>
                    <a:pt x="32701" y="268214"/>
                    <a:pt x="21381" y="263525"/>
                    <a:pt x="13035" y="255179"/>
                  </a:cubicBezTo>
                  <a:cubicBezTo>
                    <a:pt x="4689" y="246832"/>
                    <a:pt x="0" y="235512"/>
                    <a:pt x="0" y="223709"/>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35" name="TextBox 35"/>
            <p:cNvSpPr txBox="1"/>
            <p:nvPr/>
          </p:nvSpPr>
          <p:spPr>
            <a:xfrm>
              <a:off x="0" y="-38100"/>
              <a:ext cx="916316" cy="306314"/>
            </a:xfrm>
            <a:prstGeom prst="rect">
              <a:avLst/>
            </a:prstGeom>
          </p:spPr>
          <p:txBody>
            <a:bodyPr lIns="50800" tIns="50800" rIns="50800" bIns="50800" rtlCol="0" anchor="ctr"/>
            <a:lstStyle/>
            <a:p>
              <a:pPr algn="ctr">
                <a:lnSpc>
                  <a:spcPts val="2800"/>
                </a:lnSpc>
              </a:pPr>
              <a:endParaRPr/>
            </a:p>
          </p:txBody>
        </p:sp>
      </p:grpSp>
      <p:grpSp>
        <p:nvGrpSpPr>
          <p:cNvPr id="36" name="Group 36"/>
          <p:cNvGrpSpPr/>
          <p:nvPr/>
        </p:nvGrpSpPr>
        <p:grpSpPr>
          <a:xfrm>
            <a:off x="516681" y="4396615"/>
            <a:ext cx="1570786" cy="1027899"/>
            <a:chOff x="0" y="0"/>
            <a:chExt cx="413705" cy="270722"/>
          </a:xfrm>
        </p:grpSpPr>
        <p:sp>
          <p:nvSpPr>
            <p:cNvPr id="37" name="Freeform 37"/>
            <p:cNvSpPr/>
            <p:nvPr/>
          </p:nvSpPr>
          <p:spPr>
            <a:xfrm>
              <a:off x="0" y="0"/>
              <a:ext cx="413705" cy="270722"/>
            </a:xfrm>
            <a:custGeom>
              <a:avLst/>
              <a:gdLst/>
              <a:ahLst/>
              <a:cxnLst/>
              <a:rect l="l" t="t" r="r" b="b"/>
              <a:pathLst>
                <a:path w="413705" h="270722">
                  <a:moveTo>
                    <a:pt x="98574" y="0"/>
                  </a:moveTo>
                  <a:lnTo>
                    <a:pt x="315131" y="0"/>
                  </a:lnTo>
                  <a:cubicBezTo>
                    <a:pt x="341274" y="0"/>
                    <a:pt x="366347" y="10385"/>
                    <a:pt x="384833" y="28872"/>
                  </a:cubicBezTo>
                  <a:cubicBezTo>
                    <a:pt x="403319" y="47358"/>
                    <a:pt x="413705" y="72430"/>
                    <a:pt x="413705" y="98574"/>
                  </a:cubicBezTo>
                  <a:lnTo>
                    <a:pt x="413705" y="172149"/>
                  </a:lnTo>
                  <a:cubicBezTo>
                    <a:pt x="413705" y="198292"/>
                    <a:pt x="403319" y="223365"/>
                    <a:pt x="384833" y="241851"/>
                  </a:cubicBezTo>
                  <a:cubicBezTo>
                    <a:pt x="366347" y="260337"/>
                    <a:pt x="341274" y="270722"/>
                    <a:pt x="315131" y="270722"/>
                  </a:cubicBezTo>
                  <a:lnTo>
                    <a:pt x="98574" y="270722"/>
                  </a:lnTo>
                  <a:cubicBezTo>
                    <a:pt x="44133" y="270722"/>
                    <a:pt x="0" y="226589"/>
                    <a:pt x="0" y="172149"/>
                  </a:cubicBezTo>
                  <a:lnTo>
                    <a:pt x="0" y="98574"/>
                  </a:lnTo>
                  <a:cubicBezTo>
                    <a:pt x="0" y="44133"/>
                    <a:pt x="44133" y="0"/>
                    <a:pt x="98574" y="0"/>
                  </a:cubicBezTo>
                  <a:close/>
                </a:path>
              </a:pathLst>
            </a:custGeom>
            <a:solidFill>
              <a:srgbClr val="FFEAB1">
                <a:alpha val="69804"/>
              </a:srgbClr>
            </a:solidFill>
          </p:spPr>
          <p:txBody>
            <a:bodyPr/>
            <a:lstStyle/>
            <a:p>
              <a:endParaRPr lang="en-US"/>
            </a:p>
          </p:txBody>
        </p:sp>
        <p:sp>
          <p:nvSpPr>
            <p:cNvPr id="38" name="TextBox 38"/>
            <p:cNvSpPr txBox="1"/>
            <p:nvPr/>
          </p:nvSpPr>
          <p:spPr>
            <a:xfrm>
              <a:off x="0" y="-28575"/>
              <a:ext cx="413705" cy="299297"/>
            </a:xfrm>
            <a:prstGeom prst="rect">
              <a:avLst/>
            </a:prstGeom>
          </p:spPr>
          <p:txBody>
            <a:bodyPr lIns="50800" tIns="50800" rIns="50800" bIns="50800" rtlCol="0" anchor="ctr"/>
            <a:lstStyle/>
            <a:p>
              <a:pPr algn="ctr">
                <a:lnSpc>
                  <a:spcPts val="1960"/>
                </a:lnSpc>
              </a:pPr>
              <a:endParaRPr/>
            </a:p>
          </p:txBody>
        </p:sp>
      </p:grpSp>
      <p:grpSp>
        <p:nvGrpSpPr>
          <p:cNvPr id="39" name="Group 39"/>
          <p:cNvGrpSpPr/>
          <p:nvPr/>
        </p:nvGrpSpPr>
        <p:grpSpPr>
          <a:xfrm>
            <a:off x="7783273" y="4396615"/>
            <a:ext cx="1322118" cy="1010413"/>
            <a:chOff x="0" y="0"/>
            <a:chExt cx="348212" cy="266117"/>
          </a:xfrm>
        </p:grpSpPr>
        <p:sp>
          <p:nvSpPr>
            <p:cNvPr id="40" name="Freeform 40"/>
            <p:cNvSpPr/>
            <p:nvPr/>
          </p:nvSpPr>
          <p:spPr>
            <a:xfrm>
              <a:off x="0" y="0"/>
              <a:ext cx="348212" cy="266117"/>
            </a:xfrm>
            <a:custGeom>
              <a:avLst/>
              <a:gdLst/>
              <a:ahLst/>
              <a:cxnLst/>
              <a:rect l="l" t="t" r="r" b="b"/>
              <a:pathLst>
                <a:path w="348212" h="266117">
                  <a:moveTo>
                    <a:pt x="117114" y="0"/>
                  </a:moveTo>
                  <a:lnTo>
                    <a:pt x="231098" y="0"/>
                  </a:lnTo>
                  <a:cubicBezTo>
                    <a:pt x="262159" y="0"/>
                    <a:pt x="291947" y="12339"/>
                    <a:pt x="313910" y="34302"/>
                  </a:cubicBezTo>
                  <a:cubicBezTo>
                    <a:pt x="335873" y="56265"/>
                    <a:pt x="348212" y="86053"/>
                    <a:pt x="348212" y="117114"/>
                  </a:cubicBezTo>
                  <a:lnTo>
                    <a:pt x="348212" y="149003"/>
                  </a:lnTo>
                  <a:cubicBezTo>
                    <a:pt x="348212" y="180064"/>
                    <a:pt x="335873" y="209852"/>
                    <a:pt x="313910" y="231815"/>
                  </a:cubicBezTo>
                  <a:cubicBezTo>
                    <a:pt x="291947" y="253778"/>
                    <a:pt x="262159" y="266117"/>
                    <a:pt x="231098" y="266117"/>
                  </a:cubicBezTo>
                  <a:lnTo>
                    <a:pt x="117114" y="266117"/>
                  </a:lnTo>
                  <a:cubicBezTo>
                    <a:pt x="52434" y="266117"/>
                    <a:pt x="0" y="213683"/>
                    <a:pt x="0" y="149003"/>
                  </a:cubicBezTo>
                  <a:lnTo>
                    <a:pt x="0" y="117114"/>
                  </a:lnTo>
                  <a:cubicBezTo>
                    <a:pt x="0" y="52434"/>
                    <a:pt x="52434" y="0"/>
                    <a:pt x="117114" y="0"/>
                  </a:cubicBezTo>
                  <a:close/>
                </a:path>
              </a:pathLst>
            </a:custGeom>
            <a:ln w="9525" cap="sq">
              <a:solidFill>
                <a:srgbClr val="E15F4B"/>
              </a:solidFill>
              <a:prstDash val="lgDash"/>
              <a:miter/>
            </a:ln>
          </p:spPr>
          <p:txBody>
            <a:bodyPr/>
            <a:lstStyle/>
            <a:p>
              <a:endParaRPr lang="en-US"/>
            </a:p>
          </p:txBody>
        </p:sp>
        <p:sp>
          <p:nvSpPr>
            <p:cNvPr id="41" name="TextBox 41"/>
            <p:cNvSpPr txBox="1"/>
            <p:nvPr/>
          </p:nvSpPr>
          <p:spPr>
            <a:xfrm>
              <a:off x="0" y="-38100"/>
              <a:ext cx="348212" cy="304217"/>
            </a:xfrm>
            <a:prstGeom prst="rect">
              <a:avLst/>
            </a:prstGeom>
          </p:spPr>
          <p:txBody>
            <a:bodyPr lIns="50800" tIns="50800" rIns="50800" bIns="50800" rtlCol="0" anchor="ctr"/>
            <a:lstStyle/>
            <a:p>
              <a:pPr algn="ctr">
                <a:lnSpc>
                  <a:spcPts val="2800"/>
                </a:lnSpc>
              </a:pPr>
              <a:endParaRPr/>
            </a:p>
          </p:txBody>
        </p:sp>
      </p:grpSp>
      <p:grpSp>
        <p:nvGrpSpPr>
          <p:cNvPr id="42" name="Group 42"/>
          <p:cNvGrpSpPr/>
          <p:nvPr/>
        </p:nvGrpSpPr>
        <p:grpSpPr>
          <a:xfrm>
            <a:off x="5774474" y="4396615"/>
            <a:ext cx="1899954" cy="1027899"/>
            <a:chOff x="0" y="0"/>
            <a:chExt cx="500399" cy="270722"/>
          </a:xfrm>
        </p:grpSpPr>
        <p:sp>
          <p:nvSpPr>
            <p:cNvPr id="43" name="Freeform 43"/>
            <p:cNvSpPr/>
            <p:nvPr/>
          </p:nvSpPr>
          <p:spPr>
            <a:xfrm>
              <a:off x="0" y="0"/>
              <a:ext cx="500399" cy="270722"/>
            </a:xfrm>
            <a:custGeom>
              <a:avLst/>
              <a:gdLst/>
              <a:ahLst/>
              <a:cxnLst/>
              <a:rect l="l" t="t" r="r" b="b"/>
              <a:pathLst>
                <a:path w="500399" h="270722">
                  <a:moveTo>
                    <a:pt x="81496" y="0"/>
                  </a:moveTo>
                  <a:lnTo>
                    <a:pt x="418904" y="0"/>
                  </a:lnTo>
                  <a:cubicBezTo>
                    <a:pt x="440518" y="0"/>
                    <a:pt x="461246" y="8586"/>
                    <a:pt x="476530" y="23870"/>
                  </a:cubicBezTo>
                  <a:cubicBezTo>
                    <a:pt x="491813" y="39153"/>
                    <a:pt x="500399" y="59882"/>
                    <a:pt x="500399" y="81496"/>
                  </a:cubicBezTo>
                  <a:lnTo>
                    <a:pt x="500399" y="189227"/>
                  </a:lnTo>
                  <a:cubicBezTo>
                    <a:pt x="500399" y="210841"/>
                    <a:pt x="491813" y="231569"/>
                    <a:pt x="476530" y="246853"/>
                  </a:cubicBezTo>
                  <a:cubicBezTo>
                    <a:pt x="461246" y="262136"/>
                    <a:pt x="440518" y="270722"/>
                    <a:pt x="418904" y="270722"/>
                  </a:cubicBezTo>
                  <a:lnTo>
                    <a:pt x="81496" y="270722"/>
                  </a:lnTo>
                  <a:cubicBezTo>
                    <a:pt x="59882" y="270722"/>
                    <a:pt x="39153" y="262136"/>
                    <a:pt x="23870" y="246853"/>
                  </a:cubicBezTo>
                  <a:cubicBezTo>
                    <a:pt x="8586" y="231569"/>
                    <a:pt x="0" y="210841"/>
                    <a:pt x="0" y="189227"/>
                  </a:cubicBezTo>
                  <a:lnTo>
                    <a:pt x="0" y="81496"/>
                  </a:lnTo>
                  <a:cubicBezTo>
                    <a:pt x="0" y="59882"/>
                    <a:pt x="8586" y="39153"/>
                    <a:pt x="23870" y="23870"/>
                  </a:cubicBezTo>
                  <a:cubicBezTo>
                    <a:pt x="39153" y="8586"/>
                    <a:pt x="59882" y="0"/>
                    <a:pt x="81496" y="0"/>
                  </a:cubicBezTo>
                  <a:close/>
                </a:path>
              </a:pathLst>
            </a:custGeom>
            <a:solidFill>
              <a:srgbClr val="FFEAB1">
                <a:alpha val="69804"/>
              </a:srgbClr>
            </a:solidFill>
          </p:spPr>
          <p:txBody>
            <a:bodyPr/>
            <a:lstStyle/>
            <a:p>
              <a:endParaRPr lang="en-US"/>
            </a:p>
          </p:txBody>
        </p:sp>
        <p:sp>
          <p:nvSpPr>
            <p:cNvPr id="44" name="TextBox 44"/>
            <p:cNvSpPr txBox="1"/>
            <p:nvPr/>
          </p:nvSpPr>
          <p:spPr>
            <a:xfrm>
              <a:off x="0" y="-38100"/>
              <a:ext cx="500399" cy="308822"/>
            </a:xfrm>
            <a:prstGeom prst="rect">
              <a:avLst/>
            </a:prstGeom>
          </p:spPr>
          <p:txBody>
            <a:bodyPr lIns="50800" tIns="50800" rIns="50800" bIns="50800" rtlCol="0" anchor="ctr"/>
            <a:lstStyle/>
            <a:p>
              <a:pPr algn="ctr">
                <a:lnSpc>
                  <a:spcPts val="2800"/>
                </a:lnSpc>
              </a:pPr>
              <a:endParaRPr/>
            </a:p>
          </p:txBody>
        </p:sp>
      </p:grpSp>
      <p:grpSp>
        <p:nvGrpSpPr>
          <p:cNvPr id="45" name="Group 45"/>
          <p:cNvGrpSpPr/>
          <p:nvPr/>
        </p:nvGrpSpPr>
        <p:grpSpPr>
          <a:xfrm>
            <a:off x="9149272" y="1592262"/>
            <a:ext cx="5078722" cy="494982"/>
            <a:chOff x="0" y="0"/>
            <a:chExt cx="6771630" cy="659977"/>
          </a:xfrm>
        </p:grpSpPr>
        <p:sp>
          <p:nvSpPr>
            <p:cNvPr id="46" name="Freeform 46"/>
            <p:cNvSpPr/>
            <p:nvPr/>
          </p:nvSpPr>
          <p:spPr>
            <a:xfrm>
              <a:off x="0" y="0"/>
              <a:ext cx="6771629" cy="659975"/>
            </a:xfrm>
            <a:custGeom>
              <a:avLst/>
              <a:gdLst/>
              <a:ahLst/>
              <a:cxnLst/>
              <a:rect l="l" t="t" r="r" b="b"/>
              <a:pathLst>
                <a:path w="6771629" h="659975">
                  <a:moveTo>
                    <a:pt x="0" y="0"/>
                  </a:moveTo>
                  <a:lnTo>
                    <a:pt x="6771629" y="0"/>
                  </a:lnTo>
                  <a:lnTo>
                    <a:pt x="6771629" y="659975"/>
                  </a:lnTo>
                  <a:lnTo>
                    <a:pt x="0" y="659975"/>
                  </a:lnTo>
                  <a:close/>
                </a:path>
              </a:pathLst>
            </a:custGeom>
            <a:blipFill>
              <a:blip r:embed="rId2">
                <a:alphaModFix amt="0"/>
              </a:blip>
              <a:stretch>
                <a:fillRect t="-554243" r="-222211" b="-634119"/>
              </a:stretch>
            </a:blipFill>
          </p:spPr>
          <p:txBody>
            <a:bodyPr/>
            <a:lstStyle/>
            <a:p>
              <a:endParaRPr lang="en-US"/>
            </a:p>
          </p:txBody>
        </p:sp>
        <p:sp>
          <p:nvSpPr>
            <p:cNvPr id="47" name="TextBox 47"/>
            <p:cNvSpPr txBox="1"/>
            <p:nvPr/>
          </p:nvSpPr>
          <p:spPr>
            <a:xfrm>
              <a:off x="0" y="-38100"/>
              <a:ext cx="6771630" cy="698077"/>
            </a:xfrm>
            <a:prstGeom prst="rect">
              <a:avLst/>
            </a:prstGeom>
          </p:spPr>
          <p:txBody>
            <a:bodyPr lIns="0" tIns="0" rIns="0" bIns="0" rtlCol="0" anchor="b"/>
            <a:lstStyle/>
            <a:p>
              <a:pPr algn="ctr">
                <a:lnSpc>
                  <a:spcPts val="3499"/>
                </a:lnSpc>
              </a:pPr>
              <a:r>
                <a:rPr lang="en-US" sz="2499" b="1">
                  <a:solidFill>
                    <a:srgbClr val="DF1A34"/>
                  </a:solidFill>
                  <a:latin typeface="Montserrat Ultra-Bold"/>
                  <a:ea typeface="Montserrat Ultra-Bold"/>
                  <a:cs typeface="Montserrat Ultra-Bold"/>
                  <a:sym typeface="Montserrat Ultra-Bold"/>
                </a:rPr>
                <a:t>Product suggestions</a:t>
              </a:r>
            </a:p>
          </p:txBody>
        </p:sp>
      </p:grpSp>
      <p:grpSp>
        <p:nvGrpSpPr>
          <p:cNvPr id="48" name="Group 48"/>
          <p:cNvGrpSpPr/>
          <p:nvPr/>
        </p:nvGrpSpPr>
        <p:grpSpPr>
          <a:xfrm>
            <a:off x="11510708" y="2287269"/>
            <a:ext cx="6595538" cy="1787844"/>
            <a:chOff x="0" y="0"/>
            <a:chExt cx="1737096" cy="470873"/>
          </a:xfrm>
        </p:grpSpPr>
        <p:sp>
          <p:nvSpPr>
            <p:cNvPr id="49" name="Freeform 49"/>
            <p:cNvSpPr/>
            <p:nvPr/>
          </p:nvSpPr>
          <p:spPr>
            <a:xfrm>
              <a:off x="0" y="0"/>
              <a:ext cx="1737096" cy="470873"/>
            </a:xfrm>
            <a:custGeom>
              <a:avLst/>
              <a:gdLst/>
              <a:ahLst/>
              <a:cxnLst/>
              <a:rect l="l" t="t" r="r" b="b"/>
              <a:pathLst>
                <a:path w="1737096" h="470873">
                  <a:moveTo>
                    <a:pt x="23476" y="0"/>
                  </a:moveTo>
                  <a:lnTo>
                    <a:pt x="1713620" y="0"/>
                  </a:lnTo>
                  <a:cubicBezTo>
                    <a:pt x="1726586" y="0"/>
                    <a:pt x="1737096" y="10511"/>
                    <a:pt x="1737096" y="23476"/>
                  </a:cubicBezTo>
                  <a:lnTo>
                    <a:pt x="1737096" y="447396"/>
                  </a:lnTo>
                  <a:cubicBezTo>
                    <a:pt x="1737096" y="460362"/>
                    <a:pt x="1726586" y="470873"/>
                    <a:pt x="1713620" y="470873"/>
                  </a:cubicBezTo>
                  <a:lnTo>
                    <a:pt x="23476" y="470873"/>
                  </a:lnTo>
                  <a:cubicBezTo>
                    <a:pt x="10511" y="470873"/>
                    <a:pt x="0" y="460362"/>
                    <a:pt x="0" y="447396"/>
                  </a:cubicBezTo>
                  <a:lnTo>
                    <a:pt x="0" y="23476"/>
                  </a:lnTo>
                  <a:cubicBezTo>
                    <a:pt x="0" y="10511"/>
                    <a:pt x="10511" y="0"/>
                    <a:pt x="23476" y="0"/>
                  </a:cubicBezTo>
                  <a:close/>
                </a:path>
              </a:pathLst>
            </a:custGeom>
            <a:ln w="9525" cap="sq">
              <a:solidFill>
                <a:srgbClr val="E15F4B"/>
              </a:solidFill>
              <a:prstDash val="lgDash"/>
              <a:miter/>
            </a:ln>
          </p:spPr>
          <p:txBody>
            <a:bodyPr/>
            <a:lstStyle/>
            <a:p>
              <a:endParaRPr lang="en-US"/>
            </a:p>
          </p:txBody>
        </p:sp>
        <p:sp>
          <p:nvSpPr>
            <p:cNvPr id="50" name="TextBox 50"/>
            <p:cNvSpPr txBox="1"/>
            <p:nvPr/>
          </p:nvSpPr>
          <p:spPr>
            <a:xfrm>
              <a:off x="0" y="-38100"/>
              <a:ext cx="1737096" cy="508973"/>
            </a:xfrm>
            <a:prstGeom prst="rect">
              <a:avLst/>
            </a:prstGeom>
          </p:spPr>
          <p:txBody>
            <a:bodyPr lIns="50800" tIns="50800" rIns="50800" bIns="50800" rtlCol="0" anchor="ctr"/>
            <a:lstStyle/>
            <a:p>
              <a:pPr algn="ctr">
                <a:lnSpc>
                  <a:spcPts val="2800"/>
                </a:lnSpc>
              </a:pPr>
              <a:endParaRPr/>
            </a:p>
          </p:txBody>
        </p:sp>
      </p:grpSp>
      <p:grpSp>
        <p:nvGrpSpPr>
          <p:cNvPr id="51" name="Group 51"/>
          <p:cNvGrpSpPr/>
          <p:nvPr/>
        </p:nvGrpSpPr>
        <p:grpSpPr>
          <a:xfrm>
            <a:off x="9874552" y="2287269"/>
            <a:ext cx="1542015" cy="1787844"/>
            <a:chOff x="0" y="0"/>
            <a:chExt cx="406128" cy="470873"/>
          </a:xfrm>
        </p:grpSpPr>
        <p:sp>
          <p:nvSpPr>
            <p:cNvPr id="52" name="Freeform 52"/>
            <p:cNvSpPr/>
            <p:nvPr/>
          </p:nvSpPr>
          <p:spPr>
            <a:xfrm>
              <a:off x="0" y="0"/>
              <a:ext cx="406128" cy="470873"/>
            </a:xfrm>
            <a:custGeom>
              <a:avLst/>
              <a:gdLst/>
              <a:ahLst/>
              <a:cxnLst/>
              <a:rect l="l" t="t" r="r" b="b"/>
              <a:pathLst>
                <a:path w="406128" h="470873">
                  <a:moveTo>
                    <a:pt x="100413" y="0"/>
                  </a:moveTo>
                  <a:lnTo>
                    <a:pt x="305715" y="0"/>
                  </a:lnTo>
                  <a:cubicBezTo>
                    <a:pt x="332346" y="0"/>
                    <a:pt x="357886" y="10579"/>
                    <a:pt x="376717" y="29410"/>
                  </a:cubicBezTo>
                  <a:cubicBezTo>
                    <a:pt x="395548" y="48241"/>
                    <a:pt x="406128" y="73782"/>
                    <a:pt x="406128" y="100413"/>
                  </a:cubicBezTo>
                  <a:lnTo>
                    <a:pt x="406128" y="370460"/>
                  </a:lnTo>
                  <a:cubicBezTo>
                    <a:pt x="406128" y="397091"/>
                    <a:pt x="395548" y="422631"/>
                    <a:pt x="376717" y="441462"/>
                  </a:cubicBezTo>
                  <a:cubicBezTo>
                    <a:pt x="357886" y="460293"/>
                    <a:pt x="332346" y="470873"/>
                    <a:pt x="305715" y="470873"/>
                  </a:cubicBezTo>
                  <a:lnTo>
                    <a:pt x="100413" y="470873"/>
                  </a:lnTo>
                  <a:cubicBezTo>
                    <a:pt x="73782" y="470873"/>
                    <a:pt x="48241" y="460293"/>
                    <a:pt x="29410" y="441462"/>
                  </a:cubicBezTo>
                  <a:cubicBezTo>
                    <a:pt x="10579" y="422631"/>
                    <a:pt x="0" y="397091"/>
                    <a:pt x="0" y="370460"/>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53" name="TextBox 53"/>
            <p:cNvSpPr txBox="1"/>
            <p:nvPr/>
          </p:nvSpPr>
          <p:spPr>
            <a:xfrm>
              <a:off x="0" y="-28575"/>
              <a:ext cx="406128" cy="499448"/>
            </a:xfrm>
            <a:prstGeom prst="rect">
              <a:avLst/>
            </a:prstGeom>
          </p:spPr>
          <p:txBody>
            <a:bodyPr lIns="50800" tIns="50800" rIns="50800" bIns="50800" rtlCol="0" anchor="ctr"/>
            <a:lstStyle/>
            <a:p>
              <a:pPr algn="ctr">
                <a:lnSpc>
                  <a:spcPts val="1960"/>
                </a:lnSpc>
              </a:pPr>
              <a:endParaRPr/>
            </a:p>
          </p:txBody>
        </p:sp>
      </p:grpSp>
      <p:grpSp>
        <p:nvGrpSpPr>
          <p:cNvPr id="54" name="Group 54"/>
          <p:cNvGrpSpPr/>
          <p:nvPr/>
        </p:nvGrpSpPr>
        <p:grpSpPr>
          <a:xfrm>
            <a:off x="11522774" y="4196590"/>
            <a:ext cx="6583472" cy="946910"/>
            <a:chOff x="0" y="0"/>
            <a:chExt cx="1733918" cy="249392"/>
          </a:xfrm>
        </p:grpSpPr>
        <p:sp>
          <p:nvSpPr>
            <p:cNvPr id="55" name="Freeform 55"/>
            <p:cNvSpPr/>
            <p:nvPr/>
          </p:nvSpPr>
          <p:spPr>
            <a:xfrm>
              <a:off x="0" y="0"/>
              <a:ext cx="1733918" cy="249392"/>
            </a:xfrm>
            <a:custGeom>
              <a:avLst/>
              <a:gdLst/>
              <a:ahLst/>
              <a:cxnLst/>
              <a:rect l="l" t="t" r="r" b="b"/>
              <a:pathLst>
                <a:path w="1733918" h="249392">
                  <a:moveTo>
                    <a:pt x="23519" y="0"/>
                  </a:moveTo>
                  <a:lnTo>
                    <a:pt x="1710399" y="0"/>
                  </a:lnTo>
                  <a:cubicBezTo>
                    <a:pt x="1723388" y="0"/>
                    <a:pt x="1733918" y="10530"/>
                    <a:pt x="1733918" y="23519"/>
                  </a:cubicBezTo>
                  <a:lnTo>
                    <a:pt x="1733918" y="225873"/>
                  </a:lnTo>
                  <a:cubicBezTo>
                    <a:pt x="1733918" y="238862"/>
                    <a:pt x="1723388" y="249392"/>
                    <a:pt x="1710399" y="249392"/>
                  </a:cubicBezTo>
                  <a:lnTo>
                    <a:pt x="23519" y="249392"/>
                  </a:lnTo>
                  <a:cubicBezTo>
                    <a:pt x="10530" y="249392"/>
                    <a:pt x="0" y="238862"/>
                    <a:pt x="0" y="225873"/>
                  </a:cubicBezTo>
                  <a:lnTo>
                    <a:pt x="0" y="23519"/>
                  </a:lnTo>
                  <a:cubicBezTo>
                    <a:pt x="0" y="10530"/>
                    <a:pt x="10530" y="0"/>
                    <a:pt x="23519" y="0"/>
                  </a:cubicBezTo>
                  <a:close/>
                </a:path>
              </a:pathLst>
            </a:custGeom>
            <a:ln w="9525" cap="sq">
              <a:solidFill>
                <a:srgbClr val="E15F4B"/>
              </a:solidFill>
              <a:prstDash val="lgDash"/>
              <a:miter/>
            </a:ln>
          </p:spPr>
          <p:txBody>
            <a:bodyPr/>
            <a:lstStyle/>
            <a:p>
              <a:endParaRPr lang="en-US"/>
            </a:p>
          </p:txBody>
        </p:sp>
        <p:sp>
          <p:nvSpPr>
            <p:cNvPr id="56" name="TextBox 56"/>
            <p:cNvSpPr txBox="1"/>
            <p:nvPr/>
          </p:nvSpPr>
          <p:spPr>
            <a:xfrm>
              <a:off x="0" y="-38100"/>
              <a:ext cx="1733918" cy="287492"/>
            </a:xfrm>
            <a:prstGeom prst="rect">
              <a:avLst/>
            </a:prstGeom>
          </p:spPr>
          <p:txBody>
            <a:bodyPr lIns="50800" tIns="50800" rIns="50800" bIns="50800" rtlCol="0" anchor="ctr"/>
            <a:lstStyle/>
            <a:p>
              <a:pPr algn="ctr">
                <a:lnSpc>
                  <a:spcPts val="2800"/>
                </a:lnSpc>
              </a:pPr>
              <a:endParaRPr/>
            </a:p>
          </p:txBody>
        </p:sp>
      </p:grpSp>
      <p:grpSp>
        <p:nvGrpSpPr>
          <p:cNvPr id="57" name="Group 57"/>
          <p:cNvGrpSpPr/>
          <p:nvPr/>
        </p:nvGrpSpPr>
        <p:grpSpPr>
          <a:xfrm>
            <a:off x="9874239" y="4170363"/>
            <a:ext cx="1542015" cy="1007302"/>
            <a:chOff x="0" y="0"/>
            <a:chExt cx="406128" cy="265298"/>
          </a:xfrm>
        </p:grpSpPr>
        <p:sp>
          <p:nvSpPr>
            <p:cNvPr id="58" name="Freeform 58"/>
            <p:cNvSpPr/>
            <p:nvPr/>
          </p:nvSpPr>
          <p:spPr>
            <a:xfrm>
              <a:off x="0" y="0"/>
              <a:ext cx="406128" cy="265298"/>
            </a:xfrm>
            <a:custGeom>
              <a:avLst/>
              <a:gdLst/>
              <a:ahLst/>
              <a:cxnLst/>
              <a:rect l="l" t="t" r="r" b="b"/>
              <a:pathLst>
                <a:path w="406128" h="265298">
                  <a:moveTo>
                    <a:pt x="100413" y="0"/>
                  </a:moveTo>
                  <a:lnTo>
                    <a:pt x="305715" y="0"/>
                  </a:lnTo>
                  <a:cubicBezTo>
                    <a:pt x="332346" y="0"/>
                    <a:pt x="357886" y="10579"/>
                    <a:pt x="376717" y="29410"/>
                  </a:cubicBezTo>
                  <a:cubicBezTo>
                    <a:pt x="395548" y="48241"/>
                    <a:pt x="406128" y="73782"/>
                    <a:pt x="406128" y="100413"/>
                  </a:cubicBezTo>
                  <a:lnTo>
                    <a:pt x="406128" y="164885"/>
                  </a:lnTo>
                  <a:cubicBezTo>
                    <a:pt x="406128" y="191516"/>
                    <a:pt x="395548" y="217056"/>
                    <a:pt x="376717" y="235887"/>
                  </a:cubicBezTo>
                  <a:cubicBezTo>
                    <a:pt x="357886" y="254718"/>
                    <a:pt x="332346" y="265298"/>
                    <a:pt x="305715" y="265298"/>
                  </a:cubicBezTo>
                  <a:lnTo>
                    <a:pt x="100413" y="265298"/>
                  </a:lnTo>
                  <a:cubicBezTo>
                    <a:pt x="73782" y="265298"/>
                    <a:pt x="48241" y="254718"/>
                    <a:pt x="29410" y="235887"/>
                  </a:cubicBezTo>
                  <a:cubicBezTo>
                    <a:pt x="10579" y="217056"/>
                    <a:pt x="0" y="191516"/>
                    <a:pt x="0" y="164885"/>
                  </a:cubicBezTo>
                  <a:lnTo>
                    <a:pt x="0" y="100413"/>
                  </a:lnTo>
                  <a:cubicBezTo>
                    <a:pt x="0" y="73782"/>
                    <a:pt x="10579" y="48241"/>
                    <a:pt x="29410" y="29410"/>
                  </a:cubicBezTo>
                  <a:cubicBezTo>
                    <a:pt x="48241" y="10579"/>
                    <a:pt x="73782" y="0"/>
                    <a:pt x="100413" y="0"/>
                  </a:cubicBezTo>
                  <a:close/>
                </a:path>
              </a:pathLst>
            </a:custGeom>
            <a:solidFill>
              <a:srgbClr val="FFEAB1">
                <a:alpha val="69804"/>
              </a:srgbClr>
            </a:solidFill>
          </p:spPr>
          <p:txBody>
            <a:bodyPr/>
            <a:lstStyle/>
            <a:p>
              <a:endParaRPr lang="en-US"/>
            </a:p>
          </p:txBody>
        </p:sp>
        <p:sp>
          <p:nvSpPr>
            <p:cNvPr id="59" name="TextBox 59"/>
            <p:cNvSpPr txBox="1"/>
            <p:nvPr/>
          </p:nvSpPr>
          <p:spPr>
            <a:xfrm>
              <a:off x="0" y="-28575"/>
              <a:ext cx="406128" cy="293873"/>
            </a:xfrm>
            <a:prstGeom prst="rect">
              <a:avLst/>
            </a:prstGeom>
          </p:spPr>
          <p:txBody>
            <a:bodyPr lIns="50800" tIns="50800" rIns="50800" bIns="50800" rtlCol="0" anchor="ctr"/>
            <a:lstStyle/>
            <a:p>
              <a:pPr algn="ctr">
                <a:lnSpc>
                  <a:spcPts val="1960"/>
                </a:lnSpc>
              </a:pPr>
              <a:endParaRPr/>
            </a:p>
          </p:txBody>
        </p:sp>
      </p:grpSp>
      <p:grpSp>
        <p:nvGrpSpPr>
          <p:cNvPr id="60" name="Group 60"/>
          <p:cNvGrpSpPr/>
          <p:nvPr/>
        </p:nvGrpSpPr>
        <p:grpSpPr>
          <a:xfrm>
            <a:off x="11547794" y="5311015"/>
            <a:ext cx="3479137" cy="1018374"/>
            <a:chOff x="0" y="0"/>
            <a:chExt cx="916316" cy="268214"/>
          </a:xfrm>
        </p:grpSpPr>
        <p:sp>
          <p:nvSpPr>
            <p:cNvPr id="61" name="Freeform 61"/>
            <p:cNvSpPr/>
            <p:nvPr/>
          </p:nvSpPr>
          <p:spPr>
            <a:xfrm>
              <a:off x="0" y="0"/>
              <a:ext cx="916316" cy="268214"/>
            </a:xfrm>
            <a:custGeom>
              <a:avLst/>
              <a:gdLst/>
              <a:ahLst/>
              <a:cxnLst/>
              <a:rect l="l" t="t" r="r" b="b"/>
              <a:pathLst>
                <a:path w="916316" h="268214">
                  <a:moveTo>
                    <a:pt x="44505" y="0"/>
                  </a:moveTo>
                  <a:lnTo>
                    <a:pt x="871811" y="0"/>
                  </a:lnTo>
                  <a:cubicBezTo>
                    <a:pt x="883614" y="0"/>
                    <a:pt x="894934" y="4689"/>
                    <a:pt x="903281" y="13035"/>
                  </a:cubicBezTo>
                  <a:cubicBezTo>
                    <a:pt x="911627" y="21381"/>
                    <a:pt x="916316" y="32701"/>
                    <a:pt x="916316" y="44505"/>
                  </a:cubicBezTo>
                  <a:lnTo>
                    <a:pt x="916316" y="223709"/>
                  </a:lnTo>
                  <a:cubicBezTo>
                    <a:pt x="916316" y="248288"/>
                    <a:pt x="896390" y="268214"/>
                    <a:pt x="871811" y="268214"/>
                  </a:cubicBezTo>
                  <a:lnTo>
                    <a:pt x="44505" y="268214"/>
                  </a:lnTo>
                  <a:cubicBezTo>
                    <a:pt x="32701" y="268214"/>
                    <a:pt x="21381" y="263525"/>
                    <a:pt x="13035" y="255179"/>
                  </a:cubicBezTo>
                  <a:cubicBezTo>
                    <a:pt x="4689" y="246832"/>
                    <a:pt x="0" y="235512"/>
                    <a:pt x="0" y="223709"/>
                  </a:cubicBezTo>
                  <a:lnTo>
                    <a:pt x="0" y="44505"/>
                  </a:lnTo>
                  <a:cubicBezTo>
                    <a:pt x="0" y="32701"/>
                    <a:pt x="4689" y="21381"/>
                    <a:pt x="13035" y="13035"/>
                  </a:cubicBezTo>
                  <a:cubicBezTo>
                    <a:pt x="21381" y="4689"/>
                    <a:pt x="32701" y="0"/>
                    <a:pt x="44505" y="0"/>
                  </a:cubicBezTo>
                  <a:close/>
                </a:path>
              </a:pathLst>
            </a:custGeom>
            <a:ln w="9525" cap="sq">
              <a:solidFill>
                <a:srgbClr val="E15F4B"/>
              </a:solidFill>
              <a:prstDash val="lgDash"/>
              <a:miter/>
            </a:ln>
          </p:spPr>
          <p:txBody>
            <a:bodyPr/>
            <a:lstStyle/>
            <a:p>
              <a:endParaRPr lang="en-US"/>
            </a:p>
          </p:txBody>
        </p:sp>
        <p:sp>
          <p:nvSpPr>
            <p:cNvPr id="62" name="TextBox 62"/>
            <p:cNvSpPr txBox="1"/>
            <p:nvPr/>
          </p:nvSpPr>
          <p:spPr>
            <a:xfrm>
              <a:off x="0" y="-38100"/>
              <a:ext cx="916316" cy="306314"/>
            </a:xfrm>
            <a:prstGeom prst="rect">
              <a:avLst/>
            </a:prstGeom>
          </p:spPr>
          <p:txBody>
            <a:bodyPr lIns="50800" tIns="50800" rIns="50800" bIns="50800" rtlCol="0" anchor="ctr"/>
            <a:lstStyle/>
            <a:p>
              <a:pPr algn="ctr">
                <a:lnSpc>
                  <a:spcPts val="2800"/>
                </a:lnSpc>
              </a:pPr>
              <a:endParaRPr/>
            </a:p>
          </p:txBody>
        </p:sp>
      </p:grpSp>
      <p:grpSp>
        <p:nvGrpSpPr>
          <p:cNvPr id="63" name="Group 63"/>
          <p:cNvGrpSpPr/>
          <p:nvPr/>
        </p:nvGrpSpPr>
        <p:grpSpPr>
          <a:xfrm>
            <a:off x="9872233" y="5301490"/>
            <a:ext cx="1570786" cy="1027899"/>
            <a:chOff x="0" y="0"/>
            <a:chExt cx="413705" cy="270722"/>
          </a:xfrm>
        </p:grpSpPr>
        <p:sp>
          <p:nvSpPr>
            <p:cNvPr id="64" name="Freeform 64"/>
            <p:cNvSpPr/>
            <p:nvPr/>
          </p:nvSpPr>
          <p:spPr>
            <a:xfrm>
              <a:off x="0" y="0"/>
              <a:ext cx="413705" cy="270722"/>
            </a:xfrm>
            <a:custGeom>
              <a:avLst/>
              <a:gdLst/>
              <a:ahLst/>
              <a:cxnLst/>
              <a:rect l="l" t="t" r="r" b="b"/>
              <a:pathLst>
                <a:path w="413705" h="270722">
                  <a:moveTo>
                    <a:pt x="98574" y="0"/>
                  </a:moveTo>
                  <a:lnTo>
                    <a:pt x="315131" y="0"/>
                  </a:lnTo>
                  <a:cubicBezTo>
                    <a:pt x="341274" y="0"/>
                    <a:pt x="366347" y="10385"/>
                    <a:pt x="384833" y="28872"/>
                  </a:cubicBezTo>
                  <a:cubicBezTo>
                    <a:pt x="403319" y="47358"/>
                    <a:pt x="413705" y="72430"/>
                    <a:pt x="413705" y="98574"/>
                  </a:cubicBezTo>
                  <a:lnTo>
                    <a:pt x="413705" y="172149"/>
                  </a:lnTo>
                  <a:cubicBezTo>
                    <a:pt x="413705" y="198292"/>
                    <a:pt x="403319" y="223365"/>
                    <a:pt x="384833" y="241851"/>
                  </a:cubicBezTo>
                  <a:cubicBezTo>
                    <a:pt x="366347" y="260337"/>
                    <a:pt x="341274" y="270722"/>
                    <a:pt x="315131" y="270722"/>
                  </a:cubicBezTo>
                  <a:lnTo>
                    <a:pt x="98574" y="270722"/>
                  </a:lnTo>
                  <a:cubicBezTo>
                    <a:pt x="44133" y="270722"/>
                    <a:pt x="0" y="226589"/>
                    <a:pt x="0" y="172149"/>
                  </a:cubicBezTo>
                  <a:lnTo>
                    <a:pt x="0" y="98574"/>
                  </a:lnTo>
                  <a:cubicBezTo>
                    <a:pt x="0" y="44133"/>
                    <a:pt x="44133" y="0"/>
                    <a:pt x="98574" y="0"/>
                  </a:cubicBezTo>
                  <a:close/>
                </a:path>
              </a:pathLst>
            </a:custGeom>
            <a:solidFill>
              <a:srgbClr val="FFEAB1">
                <a:alpha val="69804"/>
              </a:srgbClr>
            </a:solidFill>
          </p:spPr>
          <p:txBody>
            <a:bodyPr/>
            <a:lstStyle/>
            <a:p>
              <a:endParaRPr lang="en-US"/>
            </a:p>
          </p:txBody>
        </p:sp>
        <p:sp>
          <p:nvSpPr>
            <p:cNvPr id="65" name="TextBox 65"/>
            <p:cNvSpPr txBox="1"/>
            <p:nvPr/>
          </p:nvSpPr>
          <p:spPr>
            <a:xfrm>
              <a:off x="0" y="-28575"/>
              <a:ext cx="413705" cy="299297"/>
            </a:xfrm>
            <a:prstGeom prst="rect">
              <a:avLst/>
            </a:prstGeom>
          </p:spPr>
          <p:txBody>
            <a:bodyPr lIns="50800" tIns="50800" rIns="50800" bIns="50800" rtlCol="0" anchor="ctr"/>
            <a:lstStyle/>
            <a:p>
              <a:pPr algn="ctr">
                <a:lnSpc>
                  <a:spcPts val="1960"/>
                </a:lnSpc>
              </a:pPr>
              <a:endParaRPr/>
            </a:p>
          </p:txBody>
        </p:sp>
      </p:grpSp>
      <p:grpSp>
        <p:nvGrpSpPr>
          <p:cNvPr id="66" name="Group 66"/>
          <p:cNvGrpSpPr/>
          <p:nvPr/>
        </p:nvGrpSpPr>
        <p:grpSpPr>
          <a:xfrm>
            <a:off x="16570335" y="5301490"/>
            <a:ext cx="1535910" cy="1010413"/>
            <a:chOff x="0" y="0"/>
            <a:chExt cx="404520" cy="266117"/>
          </a:xfrm>
        </p:grpSpPr>
        <p:sp>
          <p:nvSpPr>
            <p:cNvPr id="67" name="Freeform 67"/>
            <p:cNvSpPr/>
            <p:nvPr/>
          </p:nvSpPr>
          <p:spPr>
            <a:xfrm>
              <a:off x="0" y="0"/>
              <a:ext cx="404520" cy="266117"/>
            </a:xfrm>
            <a:custGeom>
              <a:avLst/>
              <a:gdLst/>
              <a:ahLst/>
              <a:cxnLst/>
              <a:rect l="l" t="t" r="r" b="b"/>
              <a:pathLst>
                <a:path w="404520" h="266117">
                  <a:moveTo>
                    <a:pt x="100812" y="0"/>
                  </a:moveTo>
                  <a:lnTo>
                    <a:pt x="303707" y="0"/>
                  </a:lnTo>
                  <a:cubicBezTo>
                    <a:pt x="330445" y="0"/>
                    <a:pt x="356086" y="10621"/>
                    <a:pt x="374992" y="29527"/>
                  </a:cubicBezTo>
                  <a:cubicBezTo>
                    <a:pt x="393898" y="48433"/>
                    <a:pt x="404520" y="74075"/>
                    <a:pt x="404520" y="100812"/>
                  </a:cubicBezTo>
                  <a:lnTo>
                    <a:pt x="404520" y="165305"/>
                  </a:lnTo>
                  <a:cubicBezTo>
                    <a:pt x="404520" y="192042"/>
                    <a:pt x="393898" y="217684"/>
                    <a:pt x="374992" y="236590"/>
                  </a:cubicBezTo>
                  <a:cubicBezTo>
                    <a:pt x="356086" y="255496"/>
                    <a:pt x="330445" y="266117"/>
                    <a:pt x="303707" y="266117"/>
                  </a:cubicBezTo>
                  <a:lnTo>
                    <a:pt x="100812" y="266117"/>
                  </a:lnTo>
                  <a:cubicBezTo>
                    <a:pt x="74075" y="266117"/>
                    <a:pt x="48433" y="255496"/>
                    <a:pt x="29527" y="236590"/>
                  </a:cubicBezTo>
                  <a:cubicBezTo>
                    <a:pt x="10621" y="217684"/>
                    <a:pt x="0" y="192042"/>
                    <a:pt x="0" y="165305"/>
                  </a:cubicBezTo>
                  <a:lnTo>
                    <a:pt x="0" y="100812"/>
                  </a:lnTo>
                  <a:cubicBezTo>
                    <a:pt x="0" y="74075"/>
                    <a:pt x="10621" y="48433"/>
                    <a:pt x="29527" y="29527"/>
                  </a:cubicBezTo>
                  <a:cubicBezTo>
                    <a:pt x="48433" y="10621"/>
                    <a:pt x="74075" y="0"/>
                    <a:pt x="100812" y="0"/>
                  </a:cubicBezTo>
                  <a:close/>
                </a:path>
              </a:pathLst>
            </a:custGeom>
            <a:ln w="9525" cap="sq">
              <a:solidFill>
                <a:srgbClr val="E15F4B"/>
              </a:solidFill>
              <a:prstDash val="lgDash"/>
              <a:miter/>
            </a:ln>
          </p:spPr>
          <p:txBody>
            <a:bodyPr/>
            <a:lstStyle/>
            <a:p>
              <a:endParaRPr lang="en-US"/>
            </a:p>
          </p:txBody>
        </p:sp>
        <p:sp>
          <p:nvSpPr>
            <p:cNvPr id="68" name="TextBox 68"/>
            <p:cNvSpPr txBox="1"/>
            <p:nvPr/>
          </p:nvSpPr>
          <p:spPr>
            <a:xfrm>
              <a:off x="0" y="-38100"/>
              <a:ext cx="404520" cy="304217"/>
            </a:xfrm>
            <a:prstGeom prst="rect">
              <a:avLst/>
            </a:prstGeom>
          </p:spPr>
          <p:txBody>
            <a:bodyPr lIns="50800" tIns="50800" rIns="50800" bIns="50800" rtlCol="0" anchor="ctr"/>
            <a:lstStyle/>
            <a:p>
              <a:pPr algn="ctr">
                <a:lnSpc>
                  <a:spcPts val="2800"/>
                </a:lnSpc>
              </a:pPr>
              <a:endParaRPr/>
            </a:p>
          </p:txBody>
        </p:sp>
      </p:grpSp>
      <p:grpSp>
        <p:nvGrpSpPr>
          <p:cNvPr id="69" name="Group 69"/>
          <p:cNvGrpSpPr/>
          <p:nvPr/>
        </p:nvGrpSpPr>
        <p:grpSpPr>
          <a:xfrm>
            <a:off x="15116529" y="5301490"/>
            <a:ext cx="1358667" cy="1027899"/>
            <a:chOff x="0" y="0"/>
            <a:chExt cx="357838" cy="270722"/>
          </a:xfrm>
        </p:grpSpPr>
        <p:sp>
          <p:nvSpPr>
            <p:cNvPr id="70" name="Freeform 70"/>
            <p:cNvSpPr/>
            <p:nvPr/>
          </p:nvSpPr>
          <p:spPr>
            <a:xfrm>
              <a:off x="0" y="0"/>
              <a:ext cx="357838" cy="270722"/>
            </a:xfrm>
            <a:custGeom>
              <a:avLst/>
              <a:gdLst/>
              <a:ahLst/>
              <a:cxnLst/>
              <a:rect l="l" t="t" r="r" b="b"/>
              <a:pathLst>
                <a:path w="357838" h="270722">
                  <a:moveTo>
                    <a:pt x="113963" y="0"/>
                  </a:moveTo>
                  <a:lnTo>
                    <a:pt x="243875" y="0"/>
                  </a:lnTo>
                  <a:cubicBezTo>
                    <a:pt x="306815" y="0"/>
                    <a:pt x="357838" y="51023"/>
                    <a:pt x="357838" y="113963"/>
                  </a:cubicBezTo>
                  <a:lnTo>
                    <a:pt x="357838" y="156759"/>
                  </a:lnTo>
                  <a:cubicBezTo>
                    <a:pt x="357838" y="186984"/>
                    <a:pt x="345831" y="215971"/>
                    <a:pt x="324459" y="237343"/>
                  </a:cubicBezTo>
                  <a:cubicBezTo>
                    <a:pt x="303087" y="258716"/>
                    <a:pt x="274100" y="270722"/>
                    <a:pt x="243875" y="270722"/>
                  </a:cubicBezTo>
                  <a:lnTo>
                    <a:pt x="113963" y="270722"/>
                  </a:lnTo>
                  <a:cubicBezTo>
                    <a:pt x="51023" y="270722"/>
                    <a:pt x="0" y="219699"/>
                    <a:pt x="0" y="156759"/>
                  </a:cubicBezTo>
                  <a:lnTo>
                    <a:pt x="0" y="113963"/>
                  </a:lnTo>
                  <a:cubicBezTo>
                    <a:pt x="0" y="51023"/>
                    <a:pt x="51023" y="0"/>
                    <a:pt x="113963" y="0"/>
                  </a:cubicBezTo>
                  <a:close/>
                </a:path>
              </a:pathLst>
            </a:custGeom>
            <a:solidFill>
              <a:srgbClr val="FFEAB1">
                <a:alpha val="69804"/>
              </a:srgbClr>
            </a:solidFill>
          </p:spPr>
          <p:txBody>
            <a:bodyPr/>
            <a:lstStyle/>
            <a:p>
              <a:endParaRPr lang="en-US"/>
            </a:p>
          </p:txBody>
        </p:sp>
        <p:sp>
          <p:nvSpPr>
            <p:cNvPr id="71" name="TextBox 71"/>
            <p:cNvSpPr txBox="1"/>
            <p:nvPr/>
          </p:nvSpPr>
          <p:spPr>
            <a:xfrm>
              <a:off x="0" y="-38100"/>
              <a:ext cx="357838" cy="308822"/>
            </a:xfrm>
            <a:prstGeom prst="rect">
              <a:avLst/>
            </a:prstGeom>
          </p:spPr>
          <p:txBody>
            <a:bodyPr lIns="50800" tIns="50800" rIns="50800" bIns="50800" rtlCol="0" anchor="ctr"/>
            <a:lstStyle/>
            <a:p>
              <a:pPr algn="ctr">
                <a:lnSpc>
                  <a:spcPts val="2800"/>
                </a:lnSpc>
              </a:pPr>
              <a:endParaRPr/>
            </a:p>
          </p:txBody>
        </p:sp>
      </p:grpSp>
      <p:sp>
        <p:nvSpPr>
          <p:cNvPr id="72" name="Freeform 72"/>
          <p:cNvSpPr/>
          <p:nvPr/>
        </p:nvSpPr>
        <p:spPr>
          <a:xfrm>
            <a:off x="419234" y="6548464"/>
            <a:ext cx="5144302" cy="2664039"/>
          </a:xfrm>
          <a:custGeom>
            <a:avLst/>
            <a:gdLst/>
            <a:ahLst/>
            <a:cxnLst/>
            <a:rect l="l" t="t" r="r" b="b"/>
            <a:pathLst>
              <a:path w="5144302" h="2664039">
                <a:moveTo>
                  <a:pt x="0" y="0"/>
                </a:moveTo>
                <a:lnTo>
                  <a:pt x="5144301" y="0"/>
                </a:lnTo>
                <a:lnTo>
                  <a:pt x="5144301" y="2664039"/>
                </a:lnTo>
                <a:lnTo>
                  <a:pt x="0" y="2664039"/>
                </a:lnTo>
                <a:lnTo>
                  <a:pt x="0" y="0"/>
                </a:lnTo>
                <a:close/>
              </a:path>
            </a:pathLst>
          </a:custGeom>
          <a:blipFill>
            <a:blip r:embed="rId3"/>
            <a:stretch>
              <a:fillRect l="-6785" t="-18683" b="-7043"/>
            </a:stretch>
          </a:blipFill>
        </p:spPr>
        <p:txBody>
          <a:bodyPr/>
          <a:lstStyle/>
          <a:p>
            <a:endParaRPr lang="en-US"/>
          </a:p>
        </p:txBody>
      </p:sp>
      <p:sp>
        <p:nvSpPr>
          <p:cNvPr id="73" name="Freeform 73"/>
          <p:cNvSpPr/>
          <p:nvPr/>
        </p:nvSpPr>
        <p:spPr>
          <a:xfrm>
            <a:off x="5673009" y="6548464"/>
            <a:ext cx="5993325" cy="2703632"/>
          </a:xfrm>
          <a:custGeom>
            <a:avLst/>
            <a:gdLst/>
            <a:ahLst/>
            <a:cxnLst/>
            <a:rect l="l" t="t" r="r" b="b"/>
            <a:pathLst>
              <a:path w="5993325" h="2703632">
                <a:moveTo>
                  <a:pt x="0" y="0"/>
                </a:moveTo>
                <a:lnTo>
                  <a:pt x="5993325" y="0"/>
                </a:lnTo>
                <a:lnTo>
                  <a:pt x="5993325" y="2703632"/>
                </a:lnTo>
                <a:lnTo>
                  <a:pt x="0" y="2703632"/>
                </a:lnTo>
                <a:lnTo>
                  <a:pt x="0" y="0"/>
                </a:lnTo>
                <a:close/>
              </a:path>
            </a:pathLst>
          </a:custGeom>
          <a:blipFill>
            <a:blip r:embed="rId4"/>
            <a:stretch>
              <a:fillRect t="-9864" b="-5269"/>
            </a:stretch>
          </a:blipFill>
        </p:spPr>
        <p:txBody>
          <a:bodyPr/>
          <a:lstStyle/>
          <a:p>
            <a:endParaRPr lang="en-US"/>
          </a:p>
        </p:txBody>
      </p:sp>
      <p:sp>
        <p:nvSpPr>
          <p:cNvPr id="74" name="Freeform 74"/>
          <p:cNvSpPr/>
          <p:nvPr/>
        </p:nvSpPr>
        <p:spPr>
          <a:xfrm>
            <a:off x="11775807" y="6548464"/>
            <a:ext cx="6241712" cy="2701137"/>
          </a:xfrm>
          <a:custGeom>
            <a:avLst/>
            <a:gdLst/>
            <a:ahLst/>
            <a:cxnLst/>
            <a:rect l="l" t="t" r="r" b="b"/>
            <a:pathLst>
              <a:path w="6241712" h="2701137">
                <a:moveTo>
                  <a:pt x="0" y="0"/>
                </a:moveTo>
                <a:lnTo>
                  <a:pt x="6241713" y="0"/>
                </a:lnTo>
                <a:lnTo>
                  <a:pt x="6241713" y="2701137"/>
                </a:lnTo>
                <a:lnTo>
                  <a:pt x="0" y="2701137"/>
                </a:lnTo>
                <a:lnTo>
                  <a:pt x="0" y="0"/>
                </a:lnTo>
                <a:close/>
              </a:path>
            </a:pathLst>
          </a:custGeom>
          <a:blipFill>
            <a:blip r:embed="rId5"/>
            <a:stretch>
              <a:fillRect t="-13065" b="-6372"/>
            </a:stretch>
          </a:blipFill>
        </p:spPr>
        <p:txBody>
          <a:bodyPr/>
          <a:lstStyle/>
          <a:p>
            <a:endParaRPr lang="en-US"/>
          </a:p>
        </p:txBody>
      </p:sp>
      <p:sp>
        <p:nvSpPr>
          <p:cNvPr id="75" name="TextBox 75"/>
          <p:cNvSpPr txBox="1"/>
          <p:nvPr/>
        </p:nvSpPr>
        <p:spPr>
          <a:xfrm>
            <a:off x="1074047"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Project Overview</a:t>
            </a:r>
          </a:p>
        </p:txBody>
      </p:sp>
      <p:sp>
        <p:nvSpPr>
          <p:cNvPr id="76" name="TextBox 76"/>
          <p:cNvSpPr txBox="1"/>
          <p:nvPr/>
        </p:nvSpPr>
        <p:spPr>
          <a:xfrm>
            <a:off x="4381084" y="9847498"/>
            <a:ext cx="2808964"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Exploratory Analysis</a:t>
            </a:r>
          </a:p>
        </p:txBody>
      </p:sp>
      <p:sp>
        <p:nvSpPr>
          <p:cNvPr id="77" name="TextBox 77"/>
          <p:cNvSpPr txBox="1"/>
          <p:nvPr/>
        </p:nvSpPr>
        <p:spPr>
          <a:xfrm>
            <a:off x="7993112" y="9847498"/>
            <a:ext cx="2571749" cy="339725"/>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000000"/>
                </a:solidFill>
                <a:latin typeface="Montserrat"/>
                <a:ea typeface="Montserrat"/>
                <a:cs typeface="Montserrat"/>
                <a:sym typeface="Montserrat"/>
              </a:rPr>
              <a:t>Detailed Analysis</a:t>
            </a:r>
          </a:p>
        </p:txBody>
      </p:sp>
      <p:sp>
        <p:nvSpPr>
          <p:cNvPr id="78" name="TextBox 78"/>
          <p:cNvSpPr txBox="1"/>
          <p:nvPr/>
        </p:nvSpPr>
        <p:spPr>
          <a:xfrm>
            <a:off x="11452645" y="9847498"/>
            <a:ext cx="2571749" cy="339725"/>
          </a:xfrm>
          <a:prstGeom prst="rect">
            <a:avLst/>
          </a:prstGeom>
        </p:spPr>
        <p:txBody>
          <a:bodyPr lIns="0" tIns="0" rIns="0" bIns="0" rtlCol="0" anchor="t">
            <a:spAutoFit/>
          </a:bodyPr>
          <a:lstStyle/>
          <a:p>
            <a:pPr algn="ctr">
              <a:lnSpc>
                <a:spcPts val="2800"/>
              </a:lnSpc>
            </a:pPr>
            <a:r>
              <a:rPr lang="en-US" sz="2000">
                <a:solidFill>
                  <a:srgbClr val="000000"/>
                </a:solidFill>
                <a:latin typeface="Montserrat"/>
                <a:ea typeface="Montserrat"/>
                <a:cs typeface="Montserrat"/>
                <a:sym typeface="Montserrat"/>
              </a:rPr>
              <a:t>Modelling</a:t>
            </a:r>
          </a:p>
        </p:txBody>
      </p:sp>
      <p:sp>
        <p:nvSpPr>
          <p:cNvPr id="79" name="TextBox 79"/>
          <p:cNvSpPr txBox="1"/>
          <p:nvPr/>
        </p:nvSpPr>
        <p:spPr>
          <a:xfrm>
            <a:off x="14912178" y="9847498"/>
            <a:ext cx="2571749" cy="339725"/>
          </a:xfrm>
          <a:prstGeom prst="rect">
            <a:avLst/>
          </a:prstGeom>
        </p:spPr>
        <p:txBody>
          <a:bodyPr lIns="0" tIns="0" rIns="0" bIns="0" rtlCol="0" anchor="t">
            <a:spAutoFit/>
          </a:bodyPr>
          <a:lstStyle/>
          <a:p>
            <a:pPr algn="ctr">
              <a:lnSpc>
                <a:spcPts val="2800"/>
              </a:lnSpc>
            </a:pPr>
            <a:r>
              <a:rPr lang="en-US" sz="2000" b="1">
                <a:solidFill>
                  <a:srgbClr val="CD4E4F"/>
                </a:solidFill>
                <a:latin typeface="Montserrat Bold"/>
                <a:ea typeface="Montserrat Bold"/>
                <a:cs typeface="Montserrat Bold"/>
                <a:sym typeface="Montserrat Bold"/>
              </a:rPr>
              <a:t>Recommendation</a:t>
            </a:r>
          </a:p>
        </p:txBody>
      </p:sp>
      <p:sp>
        <p:nvSpPr>
          <p:cNvPr id="80" name="TextBox 80"/>
          <p:cNvSpPr txBox="1"/>
          <p:nvPr/>
        </p:nvSpPr>
        <p:spPr>
          <a:xfrm>
            <a:off x="817668" y="2444433"/>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81" name="TextBox 81"/>
          <p:cNvSpPr txBox="1"/>
          <p:nvPr/>
        </p:nvSpPr>
        <p:spPr>
          <a:xfrm>
            <a:off x="2307381" y="2198688"/>
            <a:ext cx="6619978" cy="10668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December spend-to-income reaches 1.25, versus 0.45–0.79 in other months; 84.1% of customers score below 60 in December. December also has 2.9× February’s transaction volume, while average ticket size is 2.6% lower (|ρ| = 0.82).</a:t>
            </a:r>
          </a:p>
        </p:txBody>
      </p:sp>
      <p:sp>
        <p:nvSpPr>
          <p:cNvPr id="82" name="TextBox 82"/>
          <p:cNvSpPr txBox="1"/>
          <p:nvPr/>
        </p:nvSpPr>
        <p:spPr>
          <a:xfrm>
            <a:off x="2319447" y="3348357"/>
            <a:ext cx="6409539" cy="800100"/>
          </a:xfrm>
          <a:prstGeom prst="rect">
            <a:avLst/>
          </a:prstGeom>
        </p:spPr>
        <p:txBody>
          <a:bodyPr lIns="0" tIns="0" rIns="0" bIns="0" rtlCol="0" anchor="t">
            <a:spAutoFit/>
          </a:bodyPr>
          <a:lstStyle/>
          <a:p>
            <a:pPr algn="just">
              <a:lnSpc>
                <a:spcPts val="2100"/>
              </a:lnSpc>
              <a:spcBef>
                <a:spcPct val="0"/>
              </a:spcBef>
            </a:pPr>
            <a:r>
              <a:rPr lang="en-US" sz="1500">
                <a:solidFill>
                  <a:srgbClr val="000000"/>
                </a:solidFill>
                <a:latin typeface="Montserrat"/>
                <a:ea typeface="Montserrat"/>
                <a:cs typeface="Montserrat"/>
                <a:sym typeface="Montserrat"/>
              </a:rPr>
              <a:t>Send an October–November reminder to set a year-end budget, then a mid-December check-in showing spend to date and projected month-end spending.</a:t>
            </a:r>
          </a:p>
        </p:txBody>
      </p:sp>
      <p:sp>
        <p:nvSpPr>
          <p:cNvPr id="83" name="TextBox 83"/>
          <p:cNvSpPr txBox="1"/>
          <p:nvPr/>
        </p:nvSpPr>
        <p:spPr>
          <a:xfrm>
            <a:off x="884969" y="3594102"/>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sp>
        <p:nvSpPr>
          <p:cNvPr id="84" name="TextBox 84"/>
          <p:cNvSpPr txBox="1"/>
          <p:nvPr/>
        </p:nvSpPr>
        <p:spPr>
          <a:xfrm>
            <a:off x="2378511" y="4529965"/>
            <a:ext cx="3106599" cy="650910"/>
          </a:xfrm>
          <a:prstGeom prst="rect">
            <a:avLst/>
          </a:prstGeom>
        </p:spPr>
        <p:txBody>
          <a:bodyPr lIns="0" tIns="0" rIns="0" bIns="0" rtlCol="0" anchor="t">
            <a:spAutoFit/>
          </a:bodyPr>
          <a:lstStyle/>
          <a:p>
            <a:pPr algn="l">
              <a:lnSpc>
                <a:spcPts val="1715"/>
              </a:lnSpc>
              <a:spcBef>
                <a:spcPct val="0"/>
              </a:spcBef>
            </a:pPr>
            <a:r>
              <a:rPr lang="en-US" sz="1225">
                <a:solidFill>
                  <a:srgbClr val="000000"/>
                </a:solidFill>
                <a:latin typeface="Montserrat"/>
                <a:ea typeface="Montserrat"/>
                <a:cs typeface="Montserrat"/>
                <a:sym typeface="Montserrat"/>
              </a:rPr>
              <a:t>Customers whose December spend-to-income ratio is above 1—they spent more than their income that month.</a:t>
            </a:r>
          </a:p>
        </p:txBody>
      </p:sp>
      <p:sp>
        <p:nvSpPr>
          <p:cNvPr id="85" name="TextBox 85"/>
          <p:cNvSpPr txBox="1"/>
          <p:nvPr/>
        </p:nvSpPr>
        <p:spPr>
          <a:xfrm>
            <a:off x="477904" y="4558540"/>
            <a:ext cx="1543721" cy="621030"/>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Target Group</a:t>
            </a:r>
          </a:p>
        </p:txBody>
      </p:sp>
      <p:sp>
        <p:nvSpPr>
          <p:cNvPr id="86" name="TextBox 86"/>
          <p:cNvSpPr txBox="1"/>
          <p:nvPr/>
        </p:nvSpPr>
        <p:spPr>
          <a:xfrm>
            <a:off x="7858209" y="4569653"/>
            <a:ext cx="1291063" cy="452755"/>
          </a:xfrm>
          <a:prstGeom prst="rect">
            <a:avLst/>
          </a:prstGeom>
        </p:spPr>
        <p:txBody>
          <a:bodyPr lIns="0" tIns="0" rIns="0" bIns="0" rtlCol="0" anchor="t">
            <a:spAutoFit/>
          </a:bodyPr>
          <a:lstStyle/>
          <a:p>
            <a:pPr algn="l">
              <a:lnSpc>
                <a:spcPts val="1820"/>
              </a:lnSpc>
              <a:spcBef>
                <a:spcPct val="0"/>
              </a:spcBef>
            </a:pPr>
            <a:r>
              <a:rPr lang="en-US" sz="1300">
                <a:solidFill>
                  <a:srgbClr val="000000"/>
                </a:solidFill>
                <a:latin typeface="Montserrat"/>
                <a:ea typeface="Montserrat"/>
                <a:cs typeface="Montserrat"/>
                <a:sym typeface="Montserrat"/>
              </a:rPr>
              <a:t>687 customers (68.8% of 999)</a:t>
            </a:r>
          </a:p>
        </p:txBody>
      </p:sp>
      <p:sp>
        <p:nvSpPr>
          <p:cNvPr id="87" name="TextBox 87"/>
          <p:cNvSpPr txBox="1"/>
          <p:nvPr/>
        </p:nvSpPr>
        <p:spPr>
          <a:xfrm>
            <a:off x="5727099" y="4715703"/>
            <a:ext cx="2000454"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sp>
        <p:nvSpPr>
          <p:cNvPr id="88" name="TextBox 88"/>
          <p:cNvSpPr txBox="1"/>
          <p:nvPr/>
        </p:nvSpPr>
        <p:spPr>
          <a:xfrm>
            <a:off x="10173219" y="2615883"/>
            <a:ext cx="944681" cy="306705"/>
          </a:xfrm>
          <a:prstGeom prst="rect">
            <a:avLst/>
          </a:prstGeom>
        </p:spPr>
        <p:txBody>
          <a:bodyPr lIns="0" tIns="0" rIns="0" bIns="0" rtlCol="0" anchor="t">
            <a:spAutoFit/>
          </a:bodyPr>
          <a:lstStyle/>
          <a:p>
            <a:pPr algn="just">
              <a:lnSpc>
                <a:spcPts val="2519"/>
              </a:lnSpc>
              <a:spcBef>
                <a:spcPct val="0"/>
              </a:spcBef>
            </a:pPr>
            <a:r>
              <a:rPr lang="en-US" sz="1799" b="1">
                <a:solidFill>
                  <a:srgbClr val="DF1A34"/>
                </a:solidFill>
                <a:latin typeface="Montserrat Bold"/>
                <a:ea typeface="Montserrat Bold"/>
                <a:cs typeface="Montserrat Bold"/>
                <a:sym typeface="Montserrat Bold"/>
              </a:rPr>
              <a:t>Finding</a:t>
            </a:r>
          </a:p>
        </p:txBody>
      </p:sp>
      <p:sp>
        <p:nvSpPr>
          <p:cNvPr id="89" name="TextBox 89"/>
          <p:cNvSpPr txBox="1"/>
          <p:nvPr/>
        </p:nvSpPr>
        <p:spPr>
          <a:xfrm>
            <a:off x="11661363" y="2458719"/>
            <a:ext cx="6266121" cy="1333500"/>
          </a:xfrm>
          <a:prstGeom prst="rect">
            <a:avLst/>
          </a:prstGeom>
        </p:spPr>
        <p:txBody>
          <a:bodyPr lIns="0" tIns="0" rIns="0" bIns="0" rtlCol="0" anchor="t">
            <a:spAutoFit/>
          </a:bodyPr>
          <a:lstStyle/>
          <a:p>
            <a:pPr algn="l">
              <a:lnSpc>
                <a:spcPts val="2100"/>
              </a:lnSpc>
              <a:spcBef>
                <a:spcPct val="0"/>
              </a:spcBef>
            </a:pPr>
            <a:r>
              <a:rPr lang="en-US" sz="1500">
                <a:solidFill>
                  <a:srgbClr val="000000"/>
                </a:solidFill>
                <a:latin typeface="Montserrat"/>
                <a:ea typeface="Montserrat"/>
                <a:cs typeface="Montserrat"/>
                <a:sym typeface="Montserrat"/>
              </a:rPr>
              <a:t>Task 3’s rule identifies 85 customers with mean health score ≥68.3 and mean engagement score ≤74.8. However, 32 have only 1–2 observed months; among the 53 full-year customers, transactions per month are 63% below the full-year average. This indicates an engagement and share-of-wallet opportunity, not credit risk.</a:t>
            </a:r>
          </a:p>
        </p:txBody>
      </p:sp>
      <p:sp>
        <p:nvSpPr>
          <p:cNvPr id="90" name="TextBox 90"/>
          <p:cNvSpPr txBox="1"/>
          <p:nvPr/>
        </p:nvSpPr>
        <p:spPr>
          <a:xfrm>
            <a:off x="11674999" y="4253232"/>
            <a:ext cx="6252485" cy="768658"/>
          </a:xfrm>
          <a:prstGeom prst="rect">
            <a:avLst/>
          </a:prstGeom>
        </p:spPr>
        <p:txBody>
          <a:bodyPr lIns="0" tIns="0" rIns="0" bIns="0" rtlCol="0" anchor="t">
            <a:spAutoFit/>
          </a:bodyPr>
          <a:lstStyle/>
          <a:p>
            <a:pPr algn="just">
              <a:lnSpc>
                <a:spcPts val="2013"/>
              </a:lnSpc>
              <a:spcBef>
                <a:spcPct val="0"/>
              </a:spcBef>
            </a:pPr>
            <a:r>
              <a:rPr lang="en-US" sz="1438">
                <a:solidFill>
                  <a:srgbClr val="000000"/>
                </a:solidFill>
                <a:latin typeface="Montserrat"/>
                <a:ea typeface="Montserrat"/>
                <a:cs typeface="Montserrat"/>
                <a:sym typeface="Montserrat"/>
              </a:rPr>
              <a:t>Offer optional savings goals and cashback on everyday categories. Fuel &amp; transport leads transaction frequency (188,029 transactions); supermarket &amp; grocery has the highest spend (VND 513.8bn).</a:t>
            </a:r>
          </a:p>
        </p:txBody>
      </p:sp>
      <p:sp>
        <p:nvSpPr>
          <p:cNvPr id="91" name="TextBox 91"/>
          <p:cNvSpPr txBox="1"/>
          <p:nvPr/>
        </p:nvSpPr>
        <p:spPr>
          <a:xfrm>
            <a:off x="10240520" y="4498977"/>
            <a:ext cx="809452"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Action</a:t>
            </a:r>
          </a:p>
        </p:txBody>
      </p:sp>
      <p:sp>
        <p:nvSpPr>
          <p:cNvPr id="92" name="TextBox 92"/>
          <p:cNvSpPr txBox="1"/>
          <p:nvPr/>
        </p:nvSpPr>
        <p:spPr>
          <a:xfrm>
            <a:off x="11773169" y="5343719"/>
            <a:ext cx="3139009" cy="874682"/>
          </a:xfrm>
          <a:prstGeom prst="rect">
            <a:avLst/>
          </a:prstGeom>
        </p:spPr>
        <p:txBody>
          <a:bodyPr lIns="0" tIns="0" rIns="0" bIns="0" rtlCol="0" anchor="t">
            <a:spAutoFit/>
          </a:bodyPr>
          <a:lstStyle/>
          <a:p>
            <a:pPr algn="l">
              <a:lnSpc>
                <a:spcPts val="1746"/>
              </a:lnSpc>
              <a:spcBef>
                <a:spcPct val="0"/>
              </a:spcBef>
            </a:pPr>
            <a:r>
              <a:rPr lang="en-US" sz="1247">
                <a:solidFill>
                  <a:srgbClr val="000000"/>
                </a:solidFill>
                <a:latin typeface="Montserrat"/>
                <a:ea typeface="Montserrat"/>
                <a:cs typeface="Montserrat"/>
                <a:sym typeface="Montserrat"/>
              </a:rPr>
              <a:t>For a sustained low-use product offer, target full-year customers meeting Task 3’s rule: mean health score ≥68.3 and mean engagement score ≤74.8.</a:t>
            </a:r>
          </a:p>
        </p:txBody>
      </p:sp>
      <p:sp>
        <p:nvSpPr>
          <p:cNvPr id="93" name="TextBox 93"/>
          <p:cNvSpPr txBox="1"/>
          <p:nvPr/>
        </p:nvSpPr>
        <p:spPr>
          <a:xfrm>
            <a:off x="9833455" y="5463415"/>
            <a:ext cx="1543721" cy="621030"/>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Target Group</a:t>
            </a:r>
          </a:p>
        </p:txBody>
      </p:sp>
      <p:sp>
        <p:nvSpPr>
          <p:cNvPr id="94" name="TextBox 94"/>
          <p:cNvSpPr txBox="1"/>
          <p:nvPr/>
        </p:nvSpPr>
        <p:spPr>
          <a:xfrm>
            <a:off x="16697635" y="5552315"/>
            <a:ext cx="1281311" cy="452755"/>
          </a:xfrm>
          <a:prstGeom prst="rect">
            <a:avLst/>
          </a:prstGeom>
        </p:spPr>
        <p:txBody>
          <a:bodyPr lIns="0" tIns="0" rIns="0" bIns="0" rtlCol="0" anchor="t">
            <a:spAutoFit/>
          </a:bodyPr>
          <a:lstStyle/>
          <a:p>
            <a:pPr algn="l">
              <a:lnSpc>
                <a:spcPts val="1820"/>
              </a:lnSpc>
              <a:spcBef>
                <a:spcPct val="0"/>
              </a:spcBef>
            </a:pPr>
            <a:r>
              <a:rPr lang="en-US" sz="1300">
                <a:solidFill>
                  <a:srgbClr val="000000"/>
                </a:solidFill>
                <a:latin typeface="Montserrat"/>
                <a:ea typeface="Montserrat"/>
                <a:cs typeface="Montserrat"/>
                <a:sym typeface="Montserrat"/>
              </a:rPr>
              <a:t>53 customers (5.3% of 999)</a:t>
            </a:r>
          </a:p>
        </p:txBody>
      </p:sp>
      <p:sp>
        <p:nvSpPr>
          <p:cNvPr id="95" name="TextBox 95"/>
          <p:cNvSpPr txBox="1"/>
          <p:nvPr/>
        </p:nvSpPr>
        <p:spPr>
          <a:xfrm>
            <a:off x="15082650" y="5620578"/>
            <a:ext cx="1430535" cy="306705"/>
          </a:xfrm>
          <a:prstGeom prst="rect">
            <a:avLst/>
          </a:prstGeom>
        </p:spPr>
        <p:txBody>
          <a:bodyPr lIns="0" tIns="0" rIns="0" bIns="0" rtlCol="0" anchor="t">
            <a:spAutoFit/>
          </a:bodyPr>
          <a:lstStyle/>
          <a:p>
            <a:pPr algn="ctr">
              <a:lnSpc>
                <a:spcPts val="2519"/>
              </a:lnSpc>
              <a:spcBef>
                <a:spcPct val="0"/>
              </a:spcBef>
            </a:pPr>
            <a:r>
              <a:rPr lang="en-US" sz="1799" b="1">
                <a:solidFill>
                  <a:srgbClr val="DF1A34"/>
                </a:solidFill>
                <a:latin typeface="Montserrat Bold"/>
                <a:ea typeface="Montserrat Bold"/>
                <a:cs typeface="Montserrat Bold"/>
                <a:sym typeface="Montserrat Bold"/>
              </a:rPr>
              <a:t>Reach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121194" y="1121194"/>
            <a:ext cx="10287000" cy="8044613"/>
            <a:chOff x="0" y="0"/>
            <a:chExt cx="2709333" cy="2118746"/>
          </a:xfrm>
        </p:grpSpPr>
        <p:sp>
          <p:nvSpPr>
            <p:cNvPr id="3" name="Freeform 3"/>
            <p:cNvSpPr/>
            <p:nvPr/>
          </p:nvSpPr>
          <p:spPr>
            <a:xfrm>
              <a:off x="0" y="0"/>
              <a:ext cx="2709333" cy="2118746"/>
            </a:xfrm>
            <a:custGeom>
              <a:avLst/>
              <a:gdLst/>
              <a:ahLst/>
              <a:cxnLst/>
              <a:rect l="l" t="t" r="r" b="b"/>
              <a:pathLst>
                <a:path w="2709333" h="2118746">
                  <a:moveTo>
                    <a:pt x="0" y="0"/>
                  </a:moveTo>
                  <a:lnTo>
                    <a:pt x="2709333" y="0"/>
                  </a:lnTo>
                  <a:lnTo>
                    <a:pt x="2709333" y="2118746"/>
                  </a:lnTo>
                  <a:lnTo>
                    <a:pt x="0" y="2118746"/>
                  </a:lnTo>
                  <a:close/>
                </a:path>
              </a:pathLst>
            </a:custGeom>
            <a:gradFill rotWithShape="1">
              <a:gsLst>
                <a:gs pos="0">
                  <a:srgbClr val="FFD862">
                    <a:alpha val="100000"/>
                  </a:srgbClr>
                </a:gs>
                <a:gs pos="50000">
                  <a:srgbClr val="E15F4B">
                    <a:alpha val="100000"/>
                  </a:srgbClr>
                </a:gs>
                <a:gs pos="100000">
                  <a:srgbClr val="733045">
                    <a:alpha val="100000"/>
                  </a:srgbClr>
                </a:gs>
              </a:gsLst>
              <a:lin ang="2700000"/>
            </a:gradFill>
          </p:spPr>
          <p:txBody>
            <a:bodyPr/>
            <a:lstStyle/>
            <a:p>
              <a:endParaRPr lang="en-US"/>
            </a:p>
          </p:txBody>
        </p:sp>
        <p:sp>
          <p:nvSpPr>
            <p:cNvPr id="4" name="TextBox 4"/>
            <p:cNvSpPr txBox="1"/>
            <p:nvPr/>
          </p:nvSpPr>
          <p:spPr>
            <a:xfrm>
              <a:off x="0" y="-38100"/>
              <a:ext cx="2709333" cy="2156846"/>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39659" y="7447234"/>
            <a:ext cx="8791458" cy="3340754"/>
          </a:xfrm>
          <a:custGeom>
            <a:avLst/>
            <a:gdLst/>
            <a:ahLst/>
            <a:cxnLst/>
            <a:rect l="l" t="t" r="r" b="b"/>
            <a:pathLst>
              <a:path w="8791458" h="3340754">
                <a:moveTo>
                  <a:pt x="0" y="0"/>
                </a:moveTo>
                <a:lnTo>
                  <a:pt x="8791458" y="0"/>
                </a:lnTo>
                <a:lnTo>
                  <a:pt x="8791458" y="3340754"/>
                </a:lnTo>
                <a:lnTo>
                  <a:pt x="0" y="3340754"/>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TextBox 6"/>
          <p:cNvSpPr txBox="1"/>
          <p:nvPr/>
        </p:nvSpPr>
        <p:spPr>
          <a:xfrm>
            <a:off x="-1757720" y="-1080765"/>
            <a:ext cx="7827432" cy="10338948"/>
          </a:xfrm>
          <a:prstGeom prst="rect">
            <a:avLst/>
          </a:prstGeom>
        </p:spPr>
        <p:txBody>
          <a:bodyPr lIns="0" tIns="0" rIns="0" bIns="0" rtlCol="0" anchor="t">
            <a:spAutoFit/>
          </a:bodyPr>
          <a:lstStyle/>
          <a:p>
            <a:pPr algn="ctr">
              <a:lnSpc>
                <a:spcPts val="37486"/>
              </a:lnSpc>
            </a:pPr>
            <a:r>
              <a:rPr lang="en-US" sz="52798" spc="-6758">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20</a:t>
            </a:r>
          </a:p>
          <a:p>
            <a:pPr algn="ctr">
              <a:lnSpc>
                <a:spcPts val="37486"/>
              </a:lnSpc>
            </a:pPr>
            <a:r>
              <a:rPr lang="en-US" sz="52798" spc="-6758">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26</a:t>
            </a:r>
          </a:p>
        </p:txBody>
      </p:sp>
      <p:sp>
        <p:nvSpPr>
          <p:cNvPr id="7" name="AutoShape 7"/>
          <p:cNvSpPr/>
          <p:nvPr/>
        </p:nvSpPr>
        <p:spPr>
          <a:xfrm flipH="1">
            <a:off x="17278350" y="0"/>
            <a:ext cx="0" cy="8099425"/>
          </a:xfrm>
          <a:prstGeom prst="line">
            <a:avLst/>
          </a:prstGeom>
          <a:ln w="38100" cap="flat">
            <a:gradFill>
              <a:gsLst>
                <a:gs pos="0">
                  <a:srgbClr val="FFD862">
                    <a:alpha val="100000"/>
                  </a:srgbClr>
                </a:gs>
                <a:gs pos="50000">
                  <a:srgbClr val="E15F4B">
                    <a:alpha val="100000"/>
                  </a:srgbClr>
                </a:gs>
                <a:gs pos="100000">
                  <a:srgbClr val="733045">
                    <a:alpha val="100000"/>
                  </a:srgbClr>
                </a:gs>
              </a:gsLst>
              <a:lin ang="2700000"/>
            </a:gradFill>
            <a:prstDash val="solid"/>
            <a:headEnd type="none" w="sm" len="sm"/>
            <a:tailEnd type="none" w="sm" len="sm"/>
          </a:ln>
        </p:spPr>
        <p:txBody>
          <a:bodyPr/>
          <a:lstStyle/>
          <a:p>
            <a:endParaRPr lang="en-US"/>
          </a:p>
        </p:txBody>
      </p:sp>
      <p:sp>
        <p:nvSpPr>
          <p:cNvPr id="8" name="TextBox 8"/>
          <p:cNvSpPr txBox="1"/>
          <p:nvPr/>
        </p:nvSpPr>
        <p:spPr>
          <a:xfrm>
            <a:off x="8938575" y="4498975"/>
            <a:ext cx="7426763" cy="1479551"/>
          </a:xfrm>
          <a:prstGeom prst="rect">
            <a:avLst/>
          </a:prstGeom>
        </p:spPr>
        <p:txBody>
          <a:bodyPr lIns="0" tIns="0" rIns="0" bIns="0" rtlCol="0" anchor="t">
            <a:spAutoFit/>
          </a:bodyPr>
          <a:lstStyle/>
          <a:p>
            <a:pPr algn="l">
              <a:lnSpc>
                <a:spcPts val="11000"/>
              </a:lnSpc>
            </a:pPr>
            <a:r>
              <a:rPr lang="en-US" sz="11000" spc="-660">
                <a:gradFill>
                  <a:gsLst>
                    <a:gs pos="0">
                      <a:srgbClr val="FFD862">
                        <a:alpha val="100000"/>
                      </a:srgbClr>
                    </a:gs>
                    <a:gs pos="50000">
                      <a:srgbClr val="E15F4B">
                        <a:alpha val="100000"/>
                      </a:srgbClr>
                    </a:gs>
                    <a:gs pos="100000">
                      <a:srgbClr val="733045">
                        <a:alpha val="100000"/>
                      </a:srgbClr>
                    </a:gs>
                  </a:gsLst>
                  <a:lin ang="2700000"/>
                </a:gradFill>
                <a:latin typeface="Cy Grotesk V3 Key"/>
                <a:ea typeface="Cy Grotesk V3 Key"/>
                <a:cs typeface="Cy Grotesk V3 Key"/>
                <a:sym typeface="Cy Grotesk V3 Key"/>
              </a:rPr>
              <a:t>Thank You</a:t>
            </a:r>
          </a:p>
        </p:txBody>
      </p:sp>
      <p:grpSp>
        <p:nvGrpSpPr>
          <p:cNvPr id="9" name="Group 9"/>
          <p:cNvGrpSpPr/>
          <p:nvPr/>
        </p:nvGrpSpPr>
        <p:grpSpPr>
          <a:xfrm>
            <a:off x="1028700" y="1028700"/>
            <a:ext cx="5987213" cy="8229600"/>
            <a:chOff x="0" y="0"/>
            <a:chExt cx="591330" cy="812800"/>
          </a:xfrm>
        </p:grpSpPr>
        <p:sp>
          <p:nvSpPr>
            <p:cNvPr id="10" name="Freeform 10"/>
            <p:cNvSpPr/>
            <p:nvPr/>
          </p:nvSpPr>
          <p:spPr>
            <a:xfrm>
              <a:off x="0" y="0"/>
              <a:ext cx="591330" cy="812800"/>
            </a:xfrm>
            <a:custGeom>
              <a:avLst/>
              <a:gdLst/>
              <a:ahLst/>
              <a:cxnLst/>
              <a:rect l="l" t="t" r="r" b="b"/>
              <a:pathLst>
                <a:path w="591330" h="812800">
                  <a:moveTo>
                    <a:pt x="129308" y="0"/>
                  </a:moveTo>
                  <a:lnTo>
                    <a:pt x="462022" y="0"/>
                  </a:lnTo>
                  <a:cubicBezTo>
                    <a:pt x="533437" y="0"/>
                    <a:pt x="591330" y="57893"/>
                    <a:pt x="591330" y="129308"/>
                  </a:cubicBezTo>
                  <a:lnTo>
                    <a:pt x="591330" y="683492"/>
                  </a:lnTo>
                  <a:cubicBezTo>
                    <a:pt x="591330" y="717787"/>
                    <a:pt x="577706" y="750677"/>
                    <a:pt x="553456" y="774927"/>
                  </a:cubicBezTo>
                  <a:cubicBezTo>
                    <a:pt x="529206" y="799177"/>
                    <a:pt x="496317" y="812800"/>
                    <a:pt x="462022" y="812800"/>
                  </a:cubicBezTo>
                  <a:lnTo>
                    <a:pt x="129308" y="812800"/>
                  </a:lnTo>
                  <a:cubicBezTo>
                    <a:pt x="57893" y="812800"/>
                    <a:pt x="0" y="754907"/>
                    <a:pt x="0" y="683492"/>
                  </a:cubicBezTo>
                  <a:lnTo>
                    <a:pt x="0" y="129308"/>
                  </a:lnTo>
                  <a:cubicBezTo>
                    <a:pt x="0" y="57893"/>
                    <a:pt x="57893" y="0"/>
                    <a:pt x="129308" y="0"/>
                  </a:cubicBezTo>
                  <a:close/>
                </a:path>
              </a:pathLst>
            </a:custGeom>
            <a:blipFill>
              <a:blip r:embed="rId3"/>
              <a:stretch>
                <a:fillRect l="-66239" r="-66239"/>
              </a:stretch>
            </a:blipFill>
          </p:spPr>
          <p:txBody>
            <a:bodyPr/>
            <a:lstStyle/>
            <a:p>
              <a:endParaRPr lang="en-US"/>
            </a:p>
          </p:txBody>
        </p:sp>
      </p:grpSp>
      <p:sp>
        <p:nvSpPr>
          <p:cNvPr id="11" name="Freeform 11"/>
          <p:cNvSpPr/>
          <p:nvPr/>
        </p:nvSpPr>
        <p:spPr>
          <a:xfrm>
            <a:off x="14218953" y="6217953"/>
            <a:ext cx="6080694" cy="6080694"/>
          </a:xfrm>
          <a:custGeom>
            <a:avLst/>
            <a:gdLst/>
            <a:ahLst/>
            <a:cxnLst/>
            <a:rect l="l" t="t" r="r" b="b"/>
            <a:pathLst>
              <a:path w="6080694" h="6080694">
                <a:moveTo>
                  <a:pt x="0" y="0"/>
                </a:moveTo>
                <a:lnTo>
                  <a:pt x="6080694" y="0"/>
                </a:lnTo>
                <a:lnTo>
                  <a:pt x="6080694" y="6080694"/>
                </a:lnTo>
                <a:lnTo>
                  <a:pt x="0" y="60806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TotalTime>
  <Words>4128</Words>
  <Application>Microsoft Office PowerPoint</Application>
  <PresentationFormat>Custom</PresentationFormat>
  <Paragraphs>445</Paragraphs>
  <Slides>22</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5" baseType="lpstr">
      <vt:lpstr>Montserrat Bold</vt:lpstr>
      <vt:lpstr>Montserrat Ultra-Bold</vt:lpstr>
      <vt:lpstr>Anton</vt:lpstr>
      <vt:lpstr>Cy Grotesk V3 Key</vt:lpstr>
      <vt:lpstr>Calibri</vt:lpstr>
      <vt:lpstr>Cy Grotesk V3 Key Semi-Bold</vt:lpstr>
      <vt:lpstr>Montserrat</vt:lpstr>
      <vt:lpstr>Arial</vt:lpstr>
      <vt:lpstr>Paytone One</vt:lpstr>
      <vt:lpstr>Cy Grotesk V3 Key Bold</vt:lpstr>
      <vt:lpstr>Aptos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Đường sắt Bắc - Nam_Ngô Thanh Tâm_BI10_R01</dc:title>
  <cp:lastModifiedBy>Kubo Nagisa</cp:lastModifiedBy>
  <cp:revision>2</cp:revision>
  <dcterms:created xsi:type="dcterms:W3CDTF">2006-08-16T00:00:00Z</dcterms:created>
  <dcterms:modified xsi:type="dcterms:W3CDTF">2026-10-01T04:47:30Z</dcterms:modified>
  <dc:identifier>DAHWOS_aAMg</dc:identifier>
</cp:coreProperties>
</file>